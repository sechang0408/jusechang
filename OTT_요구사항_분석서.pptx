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58368" y="-475488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5285232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36808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92256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47704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36808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92256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47704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81360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36808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92256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47704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81360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36808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92256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47704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84048"/>
            <a:ext cx="10241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REQUIREMENTS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OTT Retention Analytics 요구사항 분석서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7899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프로젝트 배경, 사용자 요구, 데이터 구조, 시스템 설계를 정리한 분석서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1828800"/>
            <a:ext cx="256032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6112" y="1993392"/>
            <a:ext cx="438912" cy="438912"/>
          </a:xfrm>
          <a:prstGeom prst="ellipse">
            <a:avLst/>
          </a:prstGeom>
          <a:solidFill>
            <a:srgbClr val="2F6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2523744"/>
            <a:ext cx="2240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F66E2"/>
                </a:solidFill>
                <a:latin typeface="Malgun Gothic"/>
              </a:rPr>
              <a:t>프로젝트 배경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" y="2907791"/>
            <a:ext cx="822960" cy="27432"/>
          </a:xfrm>
          <a:prstGeom prst="rect">
            <a:avLst/>
          </a:prstGeom>
          <a:solidFill>
            <a:srgbClr val="2F6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3090672"/>
            <a:ext cx="2212848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OTT 이용자 이탈 예측의 필요성과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문제 정의를 정리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11880" y="1828800"/>
            <a:ext cx="256032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776472" y="1993392"/>
            <a:ext cx="438912" cy="438912"/>
          </a:xfrm>
          <a:prstGeom prst="ellipse">
            <a:avLst/>
          </a:prstGeom>
          <a:solidFill>
            <a:srgbClr val="E6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76472" y="2523744"/>
            <a:ext cx="2240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3D55"/>
                </a:solidFill>
                <a:latin typeface="Malgun Gothic"/>
              </a:rPr>
              <a:t>사용자 요구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76472" y="2907791"/>
            <a:ext cx="822960" cy="27432"/>
          </a:xfrm>
          <a:prstGeom prst="rect">
            <a:avLst/>
          </a:prstGeom>
          <a:solidFill>
            <a:srgbClr val="E6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76472" y="3090672"/>
            <a:ext cx="2212848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일반 사용자 · 운영자 · 개발자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관점의 요구를 분석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92240" y="1828800"/>
            <a:ext cx="256032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B4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56831" y="1993392"/>
            <a:ext cx="438912" cy="438912"/>
          </a:xfrm>
          <a:prstGeom prst="ellipse">
            <a:avLst/>
          </a:prstGeom>
          <a:solidFill>
            <a:srgbClr val="7B4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56831" y="2523744"/>
            <a:ext cx="2240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B48EA"/>
                </a:solidFill>
                <a:latin typeface="Malgun Gothic"/>
              </a:rPr>
              <a:t>데이터/구조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56831" y="2907791"/>
            <a:ext cx="822960" cy="27432"/>
          </a:xfrm>
          <a:prstGeom prst="rect">
            <a:avLst/>
          </a:prstGeom>
          <a:solidFill>
            <a:srgbClr val="7B4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56831" y="3090672"/>
            <a:ext cx="2212848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ERD, 아키텍처, 파이프라인으로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전체 구조를 설명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372600" y="1828800"/>
            <a:ext cx="210312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37192" y="1993392"/>
            <a:ext cx="438912" cy="438912"/>
          </a:xfrm>
          <a:prstGeom prst="ellipse">
            <a:avLst/>
          </a:prstGeom>
          <a:solidFill>
            <a:srgbClr val="1C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37192" y="2523744"/>
            <a:ext cx="17830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CA35A"/>
                </a:solidFill>
                <a:latin typeface="Malgun Gothic"/>
              </a:rPr>
              <a:t>결론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37192" y="2907791"/>
            <a:ext cx="822960" cy="27432"/>
          </a:xfrm>
          <a:prstGeom prst="rect">
            <a:avLst/>
          </a:prstGeom>
          <a:solidFill>
            <a:srgbClr val="1C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37192" y="3090672"/>
            <a:ext cx="1755648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기대 효과와 향후 개선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방향을 정리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58368" y="-475488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5285232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36808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92256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47704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36808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92256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47704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81360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36808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92256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47704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81360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36808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92256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47704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84048"/>
            <a:ext cx="10241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DOCUMENT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문서 목적 및 범위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7899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프로젝트 요구를 이해하기 위한 분석 중심 문서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1810512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66E2"/>
                </a:solidFill>
                <a:latin typeface="Malgun Gothic"/>
              </a:rPr>
              <a:t>문서 목적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" y="2212848"/>
            <a:ext cx="4681727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OTT 이용자 이탈 위험 예측 서비스의 개발 배경과 해결하고자 하는 문제를 명확히 정리한다.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데이터 적재, 모델 학습, 웹 서비스, 챗봇까지 전체 흐름을 분석 관점에서 설명한다.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프로젝트의 구조와 기대 효과를 한 눈에 이해할 수 있도록 시각 자료를 중심으로 구성한다.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B4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B48EA"/>
                </a:solidFill>
                <a:latin typeface="Malgun Gothic"/>
              </a:rPr>
              <a:t>문서 범위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7376" y="2212848"/>
            <a:ext cx="4773168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프로젝트 개요 및 기획 의도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이해관계자와 핵심 요구 분석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데이터 구조 및 시스템 설계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모델 분석 지표와 향후 개선 방향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58368" y="-475488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5285232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36808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92256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47704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36808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92256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47704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81360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36808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92256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47704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81360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36808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92256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47704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84048"/>
            <a:ext cx="10241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BACKGROUND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프로젝트 배경 및 문제 정의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7899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데이터 기반으로 OTT 사용자 이탈 가능성을 조기에 파악하는 것이 목표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1737360"/>
            <a:ext cx="352044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41832" y="1901952"/>
            <a:ext cx="438912" cy="438912"/>
          </a:xfrm>
          <a:prstGeom prst="ellipse">
            <a:avLst/>
          </a:prstGeom>
          <a:solidFill>
            <a:srgbClr val="2F6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" y="2432304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F66E2"/>
                </a:solidFill>
                <a:latin typeface="Malgun Gothic"/>
              </a:rPr>
              <a:t>문제 인식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" y="2816352"/>
            <a:ext cx="822960" cy="27432"/>
          </a:xfrm>
          <a:prstGeom prst="rect">
            <a:avLst/>
          </a:prstGeom>
          <a:solidFill>
            <a:srgbClr val="2F6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832" y="2999232"/>
            <a:ext cx="3172968" cy="2642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• OTT 사용자의 이탈은 서비스 운영에 직접적인 영향을 준다.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• 하지만 실제 이탈 가능성을 사용 패턴만으로 직관적으로 판단하기 어렵다.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• 따라서 사용자별 예측 모델과 설명 가능한 결과 화면이 필요하다.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1737360"/>
            <a:ext cx="352044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07992" y="1901952"/>
            <a:ext cx="438912" cy="438912"/>
          </a:xfrm>
          <a:prstGeom prst="ellipse">
            <a:avLst/>
          </a:prstGeom>
          <a:solidFill>
            <a:srgbClr val="E6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07992" y="2432304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3D55"/>
                </a:solidFill>
                <a:latin typeface="Malgun Gothic"/>
              </a:rPr>
              <a:t>기획 의도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07992" y="2816352"/>
            <a:ext cx="822960" cy="27432"/>
          </a:xfrm>
          <a:prstGeom prst="rect">
            <a:avLst/>
          </a:prstGeom>
          <a:solidFill>
            <a:srgbClr val="E6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07992" y="2999232"/>
            <a:ext cx="3172968" cy="2642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• 설문/이용 데이터를 Oracle DB에 적재하고 구조화한다.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• CatBoost 기반 다중분류 모델로 안전·주의·위험을 예측한다.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• Flask 웹 UI를 통해 결과와 확률을 시각적으로 제공한다.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09560" y="1737360"/>
            <a:ext cx="352044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074152" y="1901952"/>
            <a:ext cx="438912" cy="438912"/>
          </a:xfrm>
          <a:prstGeom prst="ellipse">
            <a:avLst/>
          </a:prstGeom>
          <a:solidFill>
            <a:srgbClr val="1C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74152" y="2432304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CA35A"/>
                </a:solidFill>
                <a:latin typeface="Malgun Gothic"/>
              </a:rPr>
              <a:t>기대 효과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74152" y="2816352"/>
            <a:ext cx="822960" cy="27432"/>
          </a:xfrm>
          <a:prstGeom prst="rect">
            <a:avLst/>
          </a:prstGeom>
          <a:solidFill>
            <a:srgbClr val="1C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74152" y="2999232"/>
            <a:ext cx="3172968" cy="2642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• 이용자 위험도 파악 및 리텐션 전략 수립 근거 확보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• 데이터 적재부터 예측 서비스까지 End-to-End 경험 축적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300">
                <a:solidFill>
                  <a:srgbClr val="1F2937"/>
                </a:solidFill>
                <a:latin typeface="Malgun Gothic"/>
              </a:defRPr>
            </a:pPr>
            <a:r>
              <a:t>• 프로젝트 전용 챗봇을 통한 코드 이해 및 유지보수성 향상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58368" y="-475488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5285232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36808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92256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47704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36808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92256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47704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81360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36808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92256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47704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81360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36808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92256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47704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84048"/>
            <a:ext cx="10241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STAKEHOLDERS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이해관계자 및 핵심 요구 분석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7899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누가 어떤 가치를 얻는지 기준으로 사용자 요구를 정리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1554480"/>
            <a:ext cx="3520440" cy="4480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171907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66E2"/>
                </a:solidFill>
                <a:latin typeface="Malgun Gothic"/>
              </a:rPr>
              <a:t>일반 사용자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" y="2121408"/>
            <a:ext cx="3081528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간단한 입력만으로 자신의 위험군을 알고 싶다.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예측 결과뿐 아니라 확률과 요약 정보를 보고 싶다.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어려운 분석 용어보다 직관적인 UI를 선호한다.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1554480"/>
            <a:ext cx="3520440" cy="4480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6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171907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63D55"/>
                </a:solidFill>
                <a:latin typeface="Malgun Gothic"/>
              </a:rPr>
              <a:t>운영자 / 분석자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6" y="2121408"/>
            <a:ext cx="3081528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어떤 특징이 위험도에 영향을 미쳤는지 설명 가능한 결과가 필요하다.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데이터 구조와 모델 입력 요소를 명확히 파악하고 싶다.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추후 리텐션 전략 제안 기능으로의 확장을 고려한다.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79" y="1554480"/>
            <a:ext cx="3520440" cy="4480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B4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59" y="171907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B48EA"/>
                </a:solidFill>
                <a:latin typeface="Malgun Gothic"/>
              </a:rPr>
              <a:t>개발자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4736" y="2121408"/>
            <a:ext cx="3081528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DB-모델-웹-챗봇의 역할 분리가 명확해야 한다.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학습 코드와 서비스 코드의 흐름을 빠르게 파악할 수 있어야 한다.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오류 해결과 유지보수에 필요한 구조적 정보가 필요하다.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58368" y="-475488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5285232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36808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92256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47704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36808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92256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47704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81360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36808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92256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47704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81360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36808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92256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47704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84048"/>
            <a:ext cx="10241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DATA OVERVIEW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데이터 구조 및 주요 변수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7899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원천 설문 데이터를 단일 응답과 복수응답 테이블로 분리하고 집계 변수를 생성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1645920"/>
            <a:ext cx="3657600" cy="4389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18105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66E2"/>
                </a:solidFill>
                <a:latin typeface="Malgun Gothic"/>
              </a:rPr>
              <a:t>원천 데이터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" y="2212848"/>
            <a:ext cx="3218688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파일명: 오티티_1차프로젝트.csv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유료 OTT 이용자 중심 설문 데이터 사용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유료 OTT 미이용자(98)와 일부 무응답 제거 후 적재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26280" y="1645920"/>
            <a:ext cx="3566160" cy="4389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C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9160" y="181051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CA35A"/>
                </a:solidFill>
                <a:latin typeface="Malgun Gothic"/>
              </a:rPr>
              <a:t>핵심 테이블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45736" y="2212848"/>
            <a:ext cx="3127248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USERS / ECONOMY / SUBSCRIPTION / USAGE_BEHAVIOR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USER_OTT_SERVICE / USER_DEVICE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USER_CONTENT_TYPE / USER_BROADCAST_TYPE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1645920"/>
            <a:ext cx="3246120" cy="4389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181051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F6C00"/>
                </a:solidFill>
                <a:latin typeface="Malgun Gothic"/>
              </a:rPr>
              <a:t>주요 파생변수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9056" y="2212848"/>
            <a:ext cx="2807208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WEEKLY_TOTAL_MIN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WEEKEND_RATIO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ENGAGEMENT_SCORE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ACTIVE_DAYS_SCORE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58368" y="-475488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5285232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36808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92256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47704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36808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92256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47704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81360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36808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92256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47704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81360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36808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92256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47704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84048"/>
            <a:ext cx="10241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ERD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ERD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7899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USERS 중심 1:1 / 1:N 관계를 기준으로 테이블 구조를 분석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1874519"/>
            <a:ext cx="23317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63440" y="1874519"/>
            <a:ext cx="2331720" cy="411480"/>
          </a:xfrm>
          <a:prstGeom prst="roundRect">
            <a:avLst/>
          </a:prstGeom>
          <a:solidFill>
            <a:srgbClr val="2F66E2"/>
          </a:solidFill>
          <a:ln w="1524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63440" y="2212848"/>
            <a:ext cx="2331720" cy="91440"/>
          </a:xfrm>
          <a:prstGeom prst="rect">
            <a:avLst/>
          </a:prstGeom>
          <a:solidFill>
            <a:srgbClr val="2F6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73168" y="1956815"/>
            <a:ext cx="21122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80" b="1">
                <a:solidFill>
                  <a:srgbClr val="FFFFFF"/>
                </a:solidFill>
                <a:latin typeface="Malgun Gothic"/>
              </a:rPr>
              <a:t>USERS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9744" y="2377440"/>
            <a:ext cx="2057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120">
                <a:solidFill>
                  <a:srgbClr val="475569"/>
                </a:solidFill>
                <a:latin typeface="Malgun Gothic"/>
              </a:defRPr>
            </a:pPr>
            <a:r>
              <a:t>PK  USER_SEQ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1120">
                <a:solidFill>
                  <a:srgbClr val="475569"/>
                </a:solidFill>
                <a:latin typeface="Malgun Gothic"/>
              </a:defRPr>
            </a:pPr>
            <a:r>
              <a:t>GENDER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1120">
                <a:solidFill>
                  <a:srgbClr val="475569"/>
                </a:solidFill>
                <a:latin typeface="Malgun Gothic"/>
              </a:defRPr>
            </a:pPr>
            <a:r>
              <a:t>AGE_GROUP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1627632"/>
            <a:ext cx="23317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9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77240" y="1627632"/>
            <a:ext cx="2331720" cy="411480"/>
          </a:xfrm>
          <a:prstGeom prst="roundRect">
            <a:avLst/>
          </a:prstGeom>
          <a:solidFill>
            <a:srgbClr val="149CD8"/>
          </a:solidFill>
          <a:ln w="15240">
            <a:solidFill>
              <a:srgbClr val="149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1965960"/>
            <a:ext cx="2331720" cy="91440"/>
          </a:xfrm>
          <a:prstGeom prst="rect">
            <a:avLst/>
          </a:prstGeom>
          <a:solidFill>
            <a:srgbClr val="149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" y="1709928"/>
            <a:ext cx="21122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80" b="1">
                <a:solidFill>
                  <a:srgbClr val="FFFFFF"/>
                </a:solidFill>
                <a:latin typeface="Malgun Gothic"/>
              </a:rPr>
              <a:t>ECONOMY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" y="2130552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PK/FK  USER_SEQ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INCOME_GROUP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FAMILY_TYPE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2944368"/>
            <a:ext cx="23317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77240" y="2944368"/>
            <a:ext cx="2331720" cy="411480"/>
          </a:xfrm>
          <a:prstGeom prst="roundRect">
            <a:avLst/>
          </a:prstGeom>
          <a:solidFill>
            <a:srgbClr val="E63D55"/>
          </a:solidFill>
          <a:ln w="15240">
            <a:solidFill>
              <a:srgbClr val="E6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" y="3282696"/>
            <a:ext cx="2331720" cy="91440"/>
          </a:xfrm>
          <a:prstGeom prst="rect">
            <a:avLst/>
          </a:prstGeom>
          <a:solidFill>
            <a:srgbClr val="E6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" y="3026664"/>
            <a:ext cx="21122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80" b="1">
                <a:solidFill>
                  <a:srgbClr val="FFFFFF"/>
                </a:solidFill>
                <a:latin typeface="Malgun Gothic"/>
              </a:rPr>
              <a:t>SUBSCRIPTION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" y="3447288"/>
            <a:ext cx="20574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>
                <a:solidFill>
                  <a:srgbClr val="475569"/>
                </a:solidFill>
                <a:latin typeface="Malgun Gothic"/>
              </a:defRPr>
            </a:pPr>
            <a:r>
              <a:t>PK/FK  USER_SEQ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1000">
                <a:solidFill>
                  <a:srgbClr val="475569"/>
                </a:solidFill>
                <a:latin typeface="Malgun Gothic"/>
              </a:defRPr>
            </a:pPr>
            <a:r>
              <a:t>MONTHLY_FEE_CODE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1000">
                <a:solidFill>
                  <a:srgbClr val="475569"/>
                </a:solidFill>
                <a:latin typeface="Malgun Gothic"/>
              </a:defRPr>
            </a:pPr>
            <a:r>
              <a:t>HAS_AD_PLAN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1000">
                <a:solidFill>
                  <a:srgbClr val="475569"/>
                </a:solidFill>
                <a:latin typeface="Malgun Gothic"/>
              </a:defRPr>
            </a:pPr>
            <a:r>
              <a:t>AD_INTENT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" y="4443984"/>
            <a:ext cx="25146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77240" y="4443984"/>
            <a:ext cx="2514600" cy="411480"/>
          </a:xfrm>
          <a:prstGeom prst="roundRect">
            <a:avLst/>
          </a:prstGeom>
          <a:solidFill>
            <a:srgbClr val="EF6C00"/>
          </a:solidFill>
          <a:ln w="1524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4782312"/>
            <a:ext cx="2514600" cy="9144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" y="4526280"/>
            <a:ext cx="22951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80" b="1">
                <a:solidFill>
                  <a:srgbClr val="FFFFFF"/>
                </a:solidFill>
                <a:latin typeface="Malgun Gothic"/>
              </a:rPr>
              <a:t>USAGE_BEHAVIOR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" y="4946904"/>
            <a:ext cx="224028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69">
                <a:solidFill>
                  <a:srgbClr val="475569"/>
                </a:solidFill>
                <a:latin typeface="Malgun Gothic"/>
              </a:defRPr>
            </a:pPr>
            <a:r>
              <a:t>PK/FK  USER_SEQ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69">
                <a:solidFill>
                  <a:srgbClr val="475569"/>
                </a:solidFill>
                <a:latin typeface="Malgun Gothic"/>
              </a:defRPr>
            </a:pPr>
            <a:r>
              <a:t>USE_FREQUENCY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69">
                <a:solidFill>
                  <a:srgbClr val="475569"/>
                </a:solidFill>
                <a:latin typeface="Malgun Gothic"/>
              </a:defRPr>
            </a:pPr>
            <a:r>
              <a:t>WEEKDAY_TIME_CODE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69">
                <a:solidFill>
                  <a:srgbClr val="475569"/>
                </a:solidFill>
                <a:latin typeface="Malgun Gothic"/>
              </a:defRPr>
            </a:pPr>
            <a:r>
              <a:t>WEEKEND_TIME_CODE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69">
                <a:solidFill>
                  <a:srgbClr val="475569"/>
                </a:solidFill>
                <a:latin typeface="Malgun Gothic"/>
              </a:defRPr>
            </a:pPr>
            <a:r>
              <a:t>USED_LAST_WEEK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69">
                <a:solidFill>
                  <a:srgbClr val="475569"/>
                </a:solidFill>
                <a:latin typeface="Malgun Gothic"/>
              </a:defRPr>
            </a:pPr>
            <a:r>
              <a:t>AVG_MIN_WEEKDAY / WEEKEND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69">
                <a:solidFill>
                  <a:srgbClr val="475569"/>
                </a:solidFill>
                <a:latin typeface="Malgun Gothic"/>
              </a:defRPr>
            </a:pPr>
            <a:r>
              <a:t>SEARCH_VIEW / RECOMMEND_VIEW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75320" y="1627632"/>
            <a:ext cx="25146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B4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275320" y="1627632"/>
            <a:ext cx="2514600" cy="411480"/>
          </a:xfrm>
          <a:prstGeom prst="roundRect">
            <a:avLst/>
          </a:prstGeom>
          <a:solidFill>
            <a:srgbClr val="7B48EA"/>
          </a:solidFill>
          <a:ln w="15240">
            <a:solidFill>
              <a:srgbClr val="7B4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75320" y="1965960"/>
            <a:ext cx="2514600" cy="91440"/>
          </a:xfrm>
          <a:prstGeom prst="rect">
            <a:avLst/>
          </a:prstGeom>
          <a:solidFill>
            <a:srgbClr val="7B4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85048" y="1709928"/>
            <a:ext cx="22951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80" b="1">
                <a:solidFill>
                  <a:srgbClr val="FFFFFF"/>
                </a:solidFill>
                <a:latin typeface="Malgun Gothic"/>
              </a:rPr>
              <a:t>USER_OTT_SERVICE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21624" y="2130552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PK/FK  USER_SEQ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PK  SERVICE_CODE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75320" y="2944368"/>
            <a:ext cx="25146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275320" y="2944368"/>
            <a:ext cx="2514600" cy="411480"/>
          </a:xfrm>
          <a:prstGeom prst="roundRect">
            <a:avLst/>
          </a:prstGeom>
          <a:solidFill>
            <a:srgbClr val="1CA35A"/>
          </a:solidFill>
          <a:ln w="15240">
            <a:solidFill>
              <a:srgbClr val="1C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75320" y="3282696"/>
            <a:ext cx="2514600" cy="91440"/>
          </a:xfrm>
          <a:prstGeom prst="rect">
            <a:avLst/>
          </a:prstGeom>
          <a:solidFill>
            <a:srgbClr val="1C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85048" y="3026664"/>
            <a:ext cx="22951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80" b="1">
                <a:solidFill>
                  <a:srgbClr val="FFFFFF"/>
                </a:solidFill>
                <a:latin typeface="Malgun Gothic"/>
              </a:rPr>
              <a:t>USER_DEVICE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21624" y="3447288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PK/FK  USER_SEQ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PK  DEVICE_CODE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75320" y="4261104"/>
            <a:ext cx="25146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275320" y="4261104"/>
            <a:ext cx="2514600" cy="411480"/>
          </a:xfrm>
          <a:prstGeom prst="roundRect">
            <a:avLst/>
          </a:prstGeom>
          <a:solidFill>
            <a:srgbClr val="17807A"/>
          </a:solidFill>
          <a:ln w="15240">
            <a:solidFill>
              <a:srgbClr val="178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75320" y="4599432"/>
            <a:ext cx="2514600" cy="91440"/>
          </a:xfrm>
          <a:prstGeom prst="rect">
            <a:avLst/>
          </a:prstGeom>
          <a:solidFill>
            <a:srgbClr val="17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85048" y="4343400"/>
            <a:ext cx="22951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80" b="1">
                <a:solidFill>
                  <a:srgbClr val="FFFFFF"/>
                </a:solidFill>
                <a:latin typeface="Malgun Gothic"/>
              </a:rPr>
              <a:t>USER_CONTENT_TYPE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21624" y="4764024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PK/FK  USER_SEQ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1050">
                <a:solidFill>
                  <a:srgbClr val="475569"/>
                </a:solidFill>
                <a:latin typeface="Malgun Gothic"/>
              </a:defRPr>
            </a:pPr>
            <a:r>
              <a:t>PK  CONTENT_CODE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275320" y="5522976"/>
            <a:ext cx="25146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275320" y="5522976"/>
            <a:ext cx="2514600" cy="411480"/>
          </a:xfrm>
          <a:prstGeom prst="roundRect">
            <a:avLst/>
          </a:prstGeom>
          <a:solidFill>
            <a:srgbClr val="DB2777"/>
          </a:solidFill>
          <a:ln w="1524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275320" y="5861304"/>
            <a:ext cx="2514600" cy="9144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85048" y="5605272"/>
            <a:ext cx="22951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80" b="1">
                <a:solidFill>
                  <a:srgbClr val="FFFFFF"/>
                </a:solidFill>
                <a:latin typeface="Malgun Gothic"/>
              </a:rPr>
              <a:t>USER_BROADCAST_TYPE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21624" y="6025896"/>
            <a:ext cx="2240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>
                <a:solidFill>
                  <a:srgbClr val="475569"/>
                </a:solidFill>
                <a:latin typeface="Malgun Gothic"/>
              </a:defRPr>
            </a:pPr>
            <a:r>
              <a:t>PK/FK  USER_SEQ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1000">
                <a:solidFill>
                  <a:srgbClr val="475569"/>
                </a:solidFill>
                <a:latin typeface="Malgun Gothic"/>
              </a:defRPr>
            </a:pPr>
            <a:r>
              <a:t>PK  BROADCAST_CODE</a:t>
            </a:r>
          </a:p>
        </p:txBody>
      </p:sp>
      <p:cxnSp>
        <p:nvCxnSpPr>
          <p:cNvPr id="79" name="Connector 78"/>
          <p:cNvCxnSpPr/>
          <p:nvPr/>
        </p:nvCxnSpPr>
        <p:spPr>
          <a:xfrm flipH="1" flipV="1">
            <a:off x="3108960" y="2194560"/>
            <a:ext cx="1554480" cy="22860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3776472" y="2130552"/>
            <a:ext cx="384048" cy="164592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76472" y="2116836"/>
            <a:ext cx="384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70">
                <a:solidFill>
                  <a:srgbClr val="6B7280"/>
                </a:solidFill>
                <a:latin typeface="Malgun Gothic"/>
              </a:rPr>
              <a:t>1:1</a:t>
            </a:r>
          </a:p>
        </p:txBody>
      </p:sp>
      <p:cxnSp>
        <p:nvCxnSpPr>
          <p:cNvPr id="82" name="Connector 81"/>
          <p:cNvCxnSpPr/>
          <p:nvPr/>
        </p:nvCxnSpPr>
        <p:spPr>
          <a:xfrm flipH="1">
            <a:off x="3108960" y="2606040"/>
            <a:ext cx="1554480" cy="978408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3767328" y="3017520"/>
            <a:ext cx="384048" cy="164592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767328" y="3003803"/>
            <a:ext cx="384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70">
                <a:solidFill>
                  <a:srgbClr val="6B7280"/>
                </a:solidFill>
                <a:latin typeface="Malgun Gothic"/>
              </a:rPr>
              <a:t>1:1</a:t>
            </a:r>
          </a:p>
        </p:txBody>
      </p:sp>
      <p:cxnSp>
        <p:nvCxnSpPr>
          <p:cNvPr id="85" name="Connector 84"/>
          <p:cNvCxnSpPr/>
          <p:nvPr/>
        </p:nvCxnSpPr>
        <p:spPr>
          <a:xfrm flipH="1">
            <a:off x="3291840" y="2788920"/>
            <a:ext cx="1371600" cy="242316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3822191" y="3749039"/>
            <a:ext cx="384048" cy="164592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822191" y="3735324"/>
            <a:ext cx="384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70">
                <a:solidFill>
                  <a:srgbClr val="6B7280"/>
                </a:solidFill>
                <a:latin typeface="Malgun Gothic"/>
              </a:rPr>
              <a:t>1:1</a:t>
            </a:r>
          </a:p>
        </p:txBody>
      </p:sp>
      <p:cxnSp>
        <p:nvCxnSpPr>
          <p:cNvPr id="88" name="Connector 87"/>
          <p:cNvCxnSpPr/>
          <p:nvPr/>
        </p:nvCxnSpPr>
        <p:spPr>
          <a:xfrm flipV="1">
            <a:off x="6995160" y="2194560"/>
            <a:ext cx="1280160" cy="13716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7571231" y="2084831"/>
            <a:ext cx="384048" cy="164592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571231" y="2071115"/>
            <a:ext cx="384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70">
                <a:solidFill>
                  <a:srgbClr val="6B7280"/>
                </a:solidFill>
                <a:latin typeface="Malgun Gothic"/>
              </a:rPr>
              <a:t>1:N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6995160" y="2514600"/>
            <a:ext cx="1280160" cy="100584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7616952" y="2935224"/>
            <a:ext cx="384048" cy="164592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616952" y="2921508"/>
            <a:ext cx="384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70">
                <a:solidFill>
                  <a:srgbClr val="6B7280"/>
                </a:solidFill>
                <a:latin typeface="Malgun Gothic"/>
              </a:rPr>
              <a:t>1:N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995160" y="2697480"/>
            <a:ext cx="1280160" cy="2103120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7635240" y="3730752"/>
            <a:ext cx="384048" cy="164592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635240" y="3717036"/>
            <a:ext cx="384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70">
                <a:solidFill>
                  <a:srgbClr val="6B7280"/>
                </a:solidFill>
                <a:latin typeface="Malgun Gothic"/>
              </a:rPr>
              <a:t>1:N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995160" y="2880360"/>
            <a:ext cx="1280160" cy="3081528"/>
          </a:xfrm>
          <a:prstGeom prst="line">
            <a:avLst/>
          </a:prstGeom>
          <a:ln w="1778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7644383" y="4517136"/>
            <a:ext cx="384048" cy="164592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644383" y="4503420"/>
            <a:ext cx="384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70">
                <a:solidFill>
                  <a:srgbClr val="6B7280"/>
                </a:solidFill>
                <a:latin typeface="Malgun Gothic"/>
              </a:rPr>
              <a:t>1:N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58368" y="-475488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5285232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36808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92256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47704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36808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92256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47704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81360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36808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92256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47704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81360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36808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92256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47704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84048"/>
            <a:ext cx="10241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SYSTEM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전체 시스템 아키텍처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7899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Frontend, Flask App, CatBoost 모델, Oracle DB, 챗봇 서버 간의 연결 구조</a:t>
            </a:r>
          </a:p>
        </p:txBody>
      </p:sp>
      <p:pic>
        <p:nvPicPr>
          <p:cNvPr id="39" name="Picture 38" descr="ott_architectur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61722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58368" y="-475488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5285232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36808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92256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47704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36808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92256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47704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81360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36808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92256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47704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81360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36808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92256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47704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84048"/>
            <a:ext cx="10241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데이터 처리 및 서비스 파이프라인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7899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원천 데이터에서 최종 서비스까지의 처리 순서를 분석</a:t>
            </a:r>
          </a:p>
        </p:txBody>
      </p:sp>
      <p:pic>
        <p:nvPicPr>
          <p:cNvPr id="39" name="Picture 38" descr="ott_pipelin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61722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58368" y="-475488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5285232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36808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92256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47704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36808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92256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47704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81360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36808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92256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47704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81360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36808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92256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47704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84048"/>
            <a:ext cx="10241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MODEL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모델 분석 참고 지표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7899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CatBoost 학습 결과 요약: Best Test TotalF1 ≈ 0.932 (iteration 272)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1600200"/>
            <a:ext cx="33832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1709928"/>
            <a:ext cx="3054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1">
                <a:solidFill>
                  <a:srgbClr val="2F66E2"/>
                </a:solidFill>
                <a:latin typeface="Malgun Gothic"/>
              </a:rPr>
              <a:t>위험군 분포</a:t>
            </a:r>
          </a:p>
        </p:txBody>
      </p:sp>
      <p:pic>
        <p:nvPicPr>
          <p:cNvPr id="41" name="Picture 40" descr="ri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" y="2075688"/>
            <a:ext cx="3054096" cy="2441448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297680" y="1600200"/>
            <a:ext cx="33832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4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62272" y="1709928"/>
            <a:ext cx="3054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1">
                <a:solidFill>
                  <a:srgbClr val="7B48EA"/>
                </a:solidFill>
                <a:latin typeface="Malgun Gothic"/>
              </a:rPr>
              <a:t>주요 변수 중요도</a:t>
            </a:r>
          </a:p>
        </p:txBody>
      </p:sp>
      <p:pic>
        <p:nvPicPr>
          <p:cNvPr id="44" name="Picture 43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075688"/>
            <a:ext cx="3054096" cy="2441448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7955279" y="1600200"/>
            <a:ext cx="34290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19871" y="1709928"/>
            <a:ext cx="30998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20" b="1">
                <a:solidFill>
                  <a:srgbClr val="E63D55"/>
                </a:solidFill>
                <a:latin typeface="Malgun Gothic"/>
              </a:rPr>
              <a:t>학습 곡선</a:t>
            </a:r>
          </a:p>
        </p:txBody>
      </p:sp>
      <p:pic>
        <p:nvPicPr>
          <p:cNvPr id="47" name="Picture 46" descr="training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1" y="2075688"/>
            <a:ext cx="3099816" cy="2441448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777240" y="4983480"/>
            <a:ext cx="35661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8408" y="5148072"/>
            <a:ext cx="31638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F66E2"/>
                </a:solidFill>
                <a:latin typeface="Malgun Gothic"/>
              </a:rPr>
              <a:t>분포 해석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5513832"/>
            <a:ext cx="310896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080">
                <a:solidFill>
                  <a:srgbClr val="1F2937"/>
                </a:solidFill>
                <a:latin typeface="Malgun Gothic"/>
              </a:rPr>
              <a:t>주의 클래스 비중이 가장 높아 중간 위험군 구분이 중요하다.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26280" y="4983480"/>
            <a:ext cx="35661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B4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27448" y="5148072"/>
            <a:ext cx="31638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B48EA"/>
                </a:solidFill>
                <a:latin typeface="Malgun Gothic"/>
              </a:rPr>
              <a:t>중요 변수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5513832"/>
            <a:ext cx="310896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080">
                <a:solidFill>
                  <a:srgbClr val="1F2937"/>
                </a:solidFill>
                <a:latin typeface="Malgun Gothic"/>
              </a:rPr>
              <a:t>주간 시청시간, 이용빈도, 활성점수가 주요 영향 변수로 나타났다.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75320" y="4983480"/>
            <a:ext cx="29718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76488" y="5148072"/>
            <a:ext cx="2569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63D55"/>
                </a:solidFill>
                <a:latin typeface="Malgun Gothic"/>
              </a:rPr>
              <a:t>성능 흐름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5513832"/>
            <a:ext cx="251460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080">
                <a:solidFill>
                  <a:srgbClr val="1F2937"/>
                </a:solidFill>
                <a:latin typeface="Malgun Gothic"/>
              </a:rPr>
              <a:t>학습 후반 Test TotalF1이 약 0.93 수준에서 안정화되었다.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58368" y="-475488"/>
            <a:ext cx="2194560" cy="2194560"/>
          </a:xfrm>
          <a:prstGeom prst="ellipse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5285232"/>
            <a:ext cx="2560320" cy="256032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36808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92256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47704" y="347472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36808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92256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47704" y="50292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81360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36808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92256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47704" y="65836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81360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36808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92256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47704" y="81381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1480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6035040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1480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2376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6190488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6928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6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7824" y="6345936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1480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8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2376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7824" y="6501383"/>
            <a:ext cx="23774" cy="23774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84048"/>
            <a:ext cx="10241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Malgun Gothic"/>
              </a:rPr>
              <a:t>CONCLUSION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58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937"/>
                </a:solidFill>
                <a:latin typeface="Malgun Gothic"/>
              </a:rPr>
              <a:t>분석 결론 및 향후 개선 방향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107899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7280"/>
                </a:solidFill>
                <a:latin typeface="Malgun Gothic"/>
              </a:rPr>
              <a:t>프로젝트의 구조와 요구를 분석한 결과를 요약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6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18105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66E2"/>
                </a:solidFill>
                <a:latin typeface="Malgun Gothic"/>
              </a:rPr>
              <a:t>분석 결론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" y="2212848"/>
            <a:ext cx="4773168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이 프로젝트는 Oracle DB 적재, CatBoost 기반 예측, Flask 웹 서비스, 도메인 챗봇으로 구성된 End-to-End 구조를 가진다.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사용자에게는 직관적 예측 결과를 제공하고, 개발자에게는 설명 가능한 구조를 제공한다.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ERD와 아키텍처, 파이프라인을 통해 유지보수와 확장 방향을 명확히 파악할 수 있다.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1645920"/>
            <a:ext cx="5257800" cy="4389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C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18105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CA35A"/>
                </a:solidFill>
                <a:latin typeface="Malgun Gothic"/>
              </a:rPr>
              <a:t>향후 개선 방향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656" y="2212848"/>
            <a:ext cx="4818888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리텐션 전략 추천 기능 추가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개인화 설명 UI 강화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챗봇 데이터셋 보강 및 응답 품질 향상</a:t>
            </a:r>
          </a:p>
          <a:p>
            <a:pPr>
              <a:lnSpc>
                <a:spcPct val="125000"/>
              </a:lnSpc>
              <a:spcAft>
                <a:spcPts val="500"/>
              </a:spcAft>
              <a:defRPr sz="1250">
                <a:solidFill>
                  <a:srgbClr val="1F2937"/>
                </a:solidFill>
                <a:latin typeface="Malgun Gothic"/>
              </a:defRPr>
            </a:pPr>
            <a:r>
              <a:t>• 배포 환경과 외부 접속 안정성 개선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