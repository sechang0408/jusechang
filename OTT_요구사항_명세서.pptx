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640080" y="-457200"/>
            <a:ext cx="2194560" cy="2194560"/>
          </a:xfrm>
          <a:prstGeom prst="ellipse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5303520"/>
            <a:ext cx="2560320" cy="256032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36808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92256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47704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881360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36808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92256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47704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81360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036808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92256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47704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81360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36808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92256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47704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11480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6928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22376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7824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11480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66928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22376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7824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11480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66928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22376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77824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11480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66928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22376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77824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114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Malgun Gothic"/>
              </a:rPr>
              <a:t>REQUIREMENTS SPECIFICATION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Malgun Gothic"/>
              </a:rPr>
              <a:t>OTT Retention Analytics 요구사항 명세서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607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7280"/>
                </a:solidFill>
                <a:latin typeface="Malgun Gothic"/>
              </a:rPr>
              <a:t>기능 / 비기능 요구사항과 입력·출력, 핵심 코드 및 트러블슈팅을 정리한 명세서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1828800"/>
            <a:ext cx="256032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96112" y="1993392"/>
            <a:ext cx="438912" cy="438912"/>
          </a:xfrm>
          <a:prstGeom prst="ellipse">
            <a:avLst/>
          </a:prstGeom>
          <a:solidFill>
            <a:srgbClr val="2F6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6112" y="2542032"/>
            <a:ext cx="2240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F66E2"/>
                </a:solidFill>
                <a:latin typeface="Malgun Gothic"/>
              </a:rPr>
              <a:t>기능 요구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2" y="2898648"/>
            <a:ext cx="822960" cy="27432"/>
          </a:xfrm>
          <a:prstGeom prst="rect">
            <a:avLst/>
          </a:prstGeom>
          <a:solidFill>
            <a:srgbClr val="2F6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6112" y="3090672"/>
            <a:ext cx="221284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데이터 적재, 학습, 예측,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챗봇 기능을 명세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11880" y="1828800"/>
            <a:ext cx="256032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3776472" y="1993392"/>
            <a:ext cx="438912" cy="438912"/>
          </a:xfrm>
          <a:prstGeom prst="ellipse">
            <a:avLst/>
          </a:prstGeom>
          <a:solidFill>
            <a:srgbClr val="E6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76472" y="2542032"/>
            <a:ext cx="2240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3D55"/>
                </a:solidFill>
                <a:latin typeface="Malgun Gothic"/>
              </a:rPr>
              <a:t>비기능 요구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76472" y="2898648"/>
            <a:ext cx="822960" cy="27432"/>
          </a:xfrm>
          <a:prstGeom prst="rect">
            <a:avLst/>
          </a:prstGeom>
          <a:solidFill>
            <a:srgbClr val="E6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776472" y="3090672"/>
            <a:ext cx="221284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응답성, 유지보수성, 사용성,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확장성을 정리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92240" y="1828800"/>
            <a:ext cx="256032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B4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6656831" y="1993392"/>
            <a:ext cx="438912" cy="438912"/>
          </a:xfrm>
          <a:prstGeom prst="ellipse">
            <a:avLst/>
          </a:prstGeom>
          <a:solidFill>
            <a:srgbClr val="7B4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56831" y="2542032"/>
            <a:ext cx="2240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B48EA"/>
                </a:solidFill>
                <a:latin typeface="Malgun Gothic"/>
              </a:rPr>
              <a:t>입출력/API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56831" y="2898648"/>
            <a:ext cx="822960" cy="27432"/>
          </a:xfrm>
          <a:prstGeom prst="rect">
            <a:avLst/>
          </a:prstGeom>
          <a:solidFill>
            <a:srgbClr val="7B4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56831" y="3090672"/>
            <a:ext cx="221284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입력 항목과 /predict, /chat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명세를 정리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372600" y="1828800"/>
            <a:ext cx="210312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537192" y="1993392"/>
            <a:ext cx="438912" cy="438912"/>
          </a:xfrm>
          <a:prstGeom prst="ellipse">
            <a:avLst/>
          </a:prstGeom>
          <a:solidFill>
            <a:srgbClr val="1C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537192" y="2542032"/>
            <a:ext cx="1783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CA35A"/>
                </a:solidFill>
                <a:latin typeface="Malgun Gothic"/>
              </a:rPr>
              <a:t>코드 &amp; 이슈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37192" y="2898648"/>
            <a:ext cx="822960" cy="27432"/>
          </a:xfrm>
          <a:prstGeom prst="rect">
            <a:avLst/>
          </a:prstGeom>
          <a:solidFill>
            <a:srgbClr val="1C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537192" y="3090672"/>
            <a:ext cx="175564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핵심 코드와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트러블슈팅 포함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640080" y="-457200"/>
            <a:ext cx="2194560" cy="2194560"/>
          </a:xfrm>
          <a:prstGeom prst="ellipse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5303520"/>
            <a:ext cx="2560320" cy="256032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36808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92256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47704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881360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36808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92256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47704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81360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036808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92256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47704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81360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36808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92256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47704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11480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6928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22376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7824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11480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66928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22376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7824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11480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66928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22376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77824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11480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66928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22376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77824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114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Malgun Gothic"/>
              </a:rPr>
              <a:t>DOCUMENT PURPOSE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Malgun Gothic"/>
              </a:rPr>
              <a:t>문서 목적 및 적용 범위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607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7280"/>
                </a:solidFill>
                <a:latin typeface="Malgun Gothic"/>
              </a:rPr>
              <a:t>구현과 유지보수에 필요한 수준으로 요구사항을 구조화한 명세 문서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6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1810512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66E2"/>
                </a:solidFill>
                <a:latin typeface="Malgun Gothic"/>
              </a:rPr>
              <a:t>문서 목적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" y="2212848"/>
            <a:ext cx="4681727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프로젝트의 기능과 동작 조건을 명확히 정의하여 구현 기준을 제공한다.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입력, 처리, 출력, API, 모델 아티팩트 등 개발 항목을 일관된 기준으로 정리한다.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핵심 코드 설명과 트러블슈팅을 함께 기록해 유지보수 문서 역할까지 수행한다.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B4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1810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B48EA"/>
                </a:solidFill>
                <a:latin typeface="Malgun Gothic"/>
              </a:rPr>
              <a:t>적용 범위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7376" y="2212848"/>
            <a:ext cx="477316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CSV 설문 데이터 Oracle 적재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모델 학습용 데이터 생성 및 CatBoost 학습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Flask 기반 예측 API와 화면 연동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프로젝트 전용 코드 설명 챗봇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640080" y="-457200"/>
            <a:ext cx="2194560" cy="2194560"/>
          </a:xfrm>
          <a:prstGeom prst="ellipse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5303520"/>
            <a:ext cx="2560320" cy="256032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36808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92256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47704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881360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36808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92256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47704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81360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036808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92256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47704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81360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36808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92256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47704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11480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6928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22376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7824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11480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66928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22376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7824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11480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66928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22376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77824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11480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66928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22376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77824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114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Malgun Gothic"/>
              </a:rPr>
              <a:t>FUNCTIONAL REQUIREMENTS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Malgun Gothic"/>
              </a:rPr>
              <a:t>기능 요구사항 명세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607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7280"/>
                </a:solidFill>
                <a:latin typeface="Malgun Gothic"/>
              </a:rPr>
              <a:t>핵심 기능을 FR 단위로 정의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1645920"/>
            <a:ext cx="105613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2960" y="1645920"/>
            <a:ext cx="2323490" cy="384048"/>
          </a:xfrm>
          <a:prstGeom prst="rect">
            <a:avLst/>
          </a:prstGeom>
          <a:solidFill>
            <a:srgbClr val="2F6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60" y="1696720"/>
            <a:ext cx="232349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ID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46450" y="1645920"/>
            <a:ext cx="8237829" cy="384048"/>
          </a:xfrm>
          <a:prstGeom prst="rect">
            <a:avLst/>
          </a:prstGeom>
          <a:solidFill>
            <a:srgbClr val="2F6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46450" y="1696720"/>
            <a:ext cx="823782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내용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2103120"/>
            <a:ext cx="2177186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2F66E2"/>
                </a:solidFill>
                <a:latin typeface="Malgun Gothic"/>
              </a:rPr>
              <a:t>FR-01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56178" y="2103120"/>
            <a:ext cx="8091525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20" b="0">
                <a:solidFill>
                  <a:srgbClr val="1F2937"/>
                </a:solidFill>
                <a:latin typeface="Malgun Gothic"/>
              </a:rPr>
              <a:t>CSV 설문 데이터를 전처리하여 Oracle DB에 적재할 수 있어야 한다.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" y="2621715"/>
            <a:ext cx="1052474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2688" y="2694867"/>
            <a:ext cx="2177186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2F66E2"/>
                </a:solidFill>
                <a:latin typeface="Malgun Gothic"/>
              </a:rPr>
              <a:t>FR-02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56178" y="2694867"/>
            <a:ext cx="8091525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20" b="0">
                <a:solidFill>
                  <a:srgbClr val="1F2937"/>
                </a:solidFill>
                <a:latin typeface="Malgun Gothic"/>
              </a:rPr>
              <a:t>USERS, ECONOMY, SUBSCRIPTION, USAGE_BEHAVIOR 및 복수응답 테이블을 구성해야 한다.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" y="3213462"/>
            <a:ext cx="1052474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32688" y="3286614"/>
            <a:ext cx="2177186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2F66E2"/>
                </a:solidFill>
                <a:latin typeface="Malgun Gothic"/>
              </a:rPr>
              <a:t>FR-03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56178" y="3286614"/>
            <a:ext cx="8091525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20" b="0">
                <a:solidFill>
                  <a:srgbClr val="1F2937"/>
                </a:solidFill>
                <a:latin typeface="Malgun Gothic"/>
              </a:rPr>
              <a:t>DB 데이터를 조인/집계하여 학습용 데이터셋과 파생변수를 생성해야 한다.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" y="3805210"/>
            <a:ext cx="1052474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32688" y="3878362"/>
            <a:ext cx="2177186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2F66E2"/>
                </a:solidFill>
                <a:latin typeface="Malgun Gothic"/>
              </a:rPr>
              <a:t>FR-04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56178" y="3878362"/>
            <a:ext cx="8091525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20" b="0">
                <a:solidFill>
                  <a:srgbClr val="1F2937"/>
                </a:solidFill>
                <a:latin typeface="Malgun Gothic"/>
              </a:rPr>
              <a:t>CatBoostClassifier를 이용해 안전/주의/위험 3-class 모델을 학습하고 저장해야 한다.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1248" y="4396957"/>
            <a:ext cx="1052474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32688" y="4470109"/>
            <a:ext cx="2177186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2F66E2"/>
                </a:solidFill>
                <a:latin typeface="Malgun Gothic"/>
              </a:rPr>
              <a:t>FR-05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56178" y="4470109"/>
            <a:ext cx="8091525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20" b="0">
                <a:solidFill>
                  <a:srgbClr val="1F2937"/>
                </a:solidFill>
                <a:latin typeface="Malgun Gothic"/>
              </a:rPr>
              <a:t>웹에서 사용자 입력을 받아 /predict API로 예측 결과와 클래스별 확률을 반환해야 한다.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248" y="4988705"/>
            <a:ext cx="1052474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32688" y="5061857"/>
            <a:ext cx="2177186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2F66E2"/>
                </a:solidFill>
                <a:latin typeface="Malgun Gothic"/>
              </a:rPr>
              <a:t>FR-06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56178" y="5061857"/>
            <a:ext cx="8091525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20" b="0">
                <a:solidFill>
                  <a:srgbClr val="1F2937"/>
                </a:solidFill>
                <a:latin typeface="Malgun Gothic"/>
              </a:rPr>
              <a:t>sc1 화면에서 입력, 결과 요약, 확률 정보를 사용자에게 보여주어야 한다.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1248" y="5580452"/>
            <a:ext cx="1052474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32688" y="5653604"/>
            <a:ext cx="2177186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2F66E2"/>
                </a:solidFill>
                <a:latin typeface="Malgun Gothic"/>
              </a:rPr>
              <a:t>FR-07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56178" y="5653604"/>
            <a:ext cx="8091525" cy="5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20" b="0">
                <a:solidFill>
                  <a:srgbClr val="1F2937"/>
                </a:solidFill>
                <a:latin typeface="Malgun Gothic"/>
              </a:rPr>
              <a:t>프로젝트 전용 챗봇이 코드 구조와 오류 해결 질문에 응답해야 한다.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640080" y="-457200"/>
            <a:ext cx="2194560" cy="2194560"/>
          </a:xfrm>
          <a:prstGeom prst="ellipse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5303520"/>
            <a:ext cx="2560320" cy="256032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36808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92256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47704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881360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36808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92256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47704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81360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036808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92256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47704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81360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36808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92256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47704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11480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6928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22376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7824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11480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66928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22376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7824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11480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66928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22376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77824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11480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66928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22376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77824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114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Malgun Gothic"/>
              </a:rPr>
              <a:t>NON-FUNCTIONAL REQUIREMENTS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Malgun Gothic"/>
              </a:rPr>
              <a:t>비기능 요구사항 명세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607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7280"/>
                </a:solidFill>
                <a:latin typeface="Malgun Gothic"/>
              </a:rPr>
              <a:t>성능, 사용성, 유지보수성, 확장성 관점의 요구사항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1691640"/>
            <a:ext cx="10561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2960" y="1691640"/>
            <a:ext cx="2323490" cy="384048"/>
          </a:xfrm>
          <a:prstGeom prst="rect">
            <a:avLst/>
          </a:prstGeom>
          <a:solidFill>
            <a:srgbClr val="1C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60" y="1742440"/>
            <a:ext cx="232349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ID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46450" y="1691640"/>
            <a:ext cx="8237829" cy="384048"/>
          </a:xfrm>
          <a:prstGeom prst="rect">
            <a:avLst/>
          </a:prstGeom>
          <a:solidFill>
            <a:srgbClr val="1C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46450" y="1742440"/>
            <a:ext cx="823782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내용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2148840"/>
            <a:ext cx="217718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1CA35A"/>
                </a:solidFill>
                <a:latin typeface="Malgun Gothic"/>
              </a:rPr>
              <a:t>NFR-01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56178" y="2148840"/>
            <a:ext cx="809152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20" b="0">
                <a:solidFill>
                  <a:srgbClr val="1F2937"/>
                </a:solidFill>
                <a:latin typeface="Malgun Gothic"/>
              </a:rPr>
              <a:t>응답성: 예측 요청은 사용자가 체감 가능한 시간 내에 처리되어야 한다.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" y="2743200"/>
            <a:ext cx="1052474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2688" y="2816352"/>
            <a:ext cx="217718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1CA35A"/>
                </a:solidFill>
                <a:latin typeface="Malgun Gothic"/>
              </a:rPr>
              <a:t>NFR-02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56178" y="2816352"/>
            <a:ext cx="809152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20" b="0">
                <a:solidFill>
                  <a:srgbClr val="1F2937"/>
                </a:solidFill>
                <a:latin typeface="Malgun Gothic"/>
              </a:rPr>
              <a:t>정확성: 위험군 분류가 가능한 다중분류 성능을 확보해야 한다.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" y="3410712"/>
            <a:ext cx="1052474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32688" y="3483864"/>
            <a:ext cx="217718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1CA35A"/>
                </a:solidFill>
                <a:latin typeface="Malgun Gothic"/>
              </a:rPr>
              <a:t>NFR-03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56178" y="3483864"/>
            <a:ext cx="809152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20" b="0">
                <a:solidFill>
                  <a:srgbClr val="1F2937"/>
                </a:solidFill>
                <a:latin typeface="Malgun Gothic"/>
              </a:rPr>
              <a:t>유지보수성: 데이터 적재, 학습, 서비스 코드를 분리하여 관리해야 한다.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" y="4078224"/>
            <a:ext cx="1052474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32688" y="4151376"/>
            <a:ext cx="217718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1CA35A"/>
                </a:solidFill>
                <a:latin typeface="Malgun Gothic"/>
              </a:rPr>
              <a:t>NFR-04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56178" y="4151376"/>
            <a:ext cx="809152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20" b="0">
                <a:solidFill>
                  <a:srgbClr val="1F2937"/>
                </a:solidFill>
                <a:latin typeface="Malgun Gothic"/>
              </a:rPr>
              <a:t>사용성: 가독성 높은 흰 배경 UI와 직관적인 입력 폼을 제공해야 한다.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1248" y="4745736"/>
            <a:ext cx="1052474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32688" y="4818888"/>
            <a:ext cx="217718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1CA35A"/>
                </a:solidFill>
                <a:latin typeface="Malgun Gothic"/>
              </a:rPr>
              <a:t>NFR-05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56178" y="4818888"/>
            <a:ext cx="809152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20" b="0">
                <a:solidFill>
                  <a:srgbClr val="1F2937"/>
                </a:solidFill>
                <a:latin typeface="Malgun Gothic"/>
              </a:rPr>
              <a:t>확장성: 추후 리텐션 전략 추천이나 추가 분석 기능을 연계할 수 있어야 한다.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248" y="5413248"/>
            <a:ext cx="10524744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32688" y="5486400"/>
            <a:ext cx="217718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1CA35A"/>
                </a:solidFill>
                <a:latin typeface="Malgun Gothic"/>
              </a:rPr>
              <a:t>NFR-06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56178" y="5486400"/>
            <a:ext cx="809152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20" b="0">
                <a:solidFill>
                  <a:srgbClr val="1F2937"/>
                </a:solidFill>
                <a:latin typeface="Malgun Gothic"/>
              </a:rPr>
              <a:t>재사용성: 모델 파일과 컬럼 파일, 챗봇 어댑터를 별도 아티팩트로 관리해야 한다.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640080" y="-457200"/>
            <a:ext cx="2194560" cy="2194560"/>
          </a:xfrm>
          <a:prstGeom prst="ellipse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5303520"/>
            <a:ext cx="2560320" cy="256032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36808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92256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47704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881360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36808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92256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47704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81360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036808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92256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47704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81360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36808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92256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47704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11480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6928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22376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7824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11480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66928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22376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7824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11480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66928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22376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77824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11480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66928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22376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77824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114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Malgun Gothic"/>
              </a:rPr>
              <a:t>USE CASE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Malgun Gothic"/>
              </a:rPr>
              <a:t>화면 및 사용자 동작 흐름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607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7280"/>
                </a:solidFill>
                <a:latin typeface="Malgun Gothic"/>
              </a:rPr>
              <a:t>메인 화면에서 예측 기능과 챗봇 기능으로 이동하는 사용 시나리오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2194560"/>
            <a:ext cx="192024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04671" y="2359152"/>
            <a:ext cx="438912" cy="438912"/>
          </a:xfrm>
          <a:prstGeom prst="ellipse">
            <a:avLst/>
          </a:prstGeom>
          <a:solidFill>
            <a:srgbClr val="2F6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4671" y="2907791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F66E2"/>
                </a:solidFill>
                <a:latin typeface="Malgun Gothic"/>
              </a:rPr>
              <a:t>1. 메인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1" y="3264408"/>
            <a:ext cx="822960" cy="27432"/>
          </a:xfrm>
          <a:prstGeom prst="rect">
            <a:avLst/>
          </a:prstGeom>
          <a:solidFill>
            <a:srgbClr val="2F6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4671" y="3456432"/>
            <a:ext cx="15727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index.html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26080" y="2194560"/>
            <a:ext cx="192024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3090672" y="2359152"/>
            <a:ext cx="438912" cy="438912"/>
          </a:xfrm>
          <a:prstGeom prst="ellipse">
            <a:avLst/>
          </a:prstGeom>
          <a:solidFill>
            <a:srgbClr val="E6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090672" y="2907791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3D55"/>
                </a:solidFill>
                <a:latin typeface="Malgun Gothic"/>
              </a:rPr>
              <a:t>2. 예측 입력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90672" y="3264408"/>
            <a:ext cx="822960" cy="27432"/>
          </a:xfrm>
          <a:prstGeom prst="rect">
            <a:avLst/>
          </a:prstGeom>
          <a:solidFill>
            <a:srgbClr val="E6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090672" y="3456432"/>
            <a:ext cx="15727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sc1.html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212080" y="2194560"/>
            <a:ext cx="192024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B4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376672" y="2359152"/>
            <a:ext cx="438912" cy="438912"/>
          </a:xfrm>
          <a:prstGeom prst="ellipse">
            <a:avLst/>
          </a:prstGeom>
          <a:solidFill>
            <a:srgbClr val="7B4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134356" y="2898648"/>
            <a:ext cx="2075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7B48EA"/>
                </a:solidFill>
                <a:latin typeface="Malgun Gothic"/>
              </a:rPr>
              <a:t>3. /predict </a:t>
            </a:r>
            <a:r>
              <a:rPr sz="2000" b="1" dirty="0" err="1">
                <a:solidFill>
                  <a:srgbClr val="7B48EA"/>
                </a:solidFill>
                <a:latin typeface="Malgun Gothic"/>
              </a:rPr>
              <a:t>요청</a:t>
            </a:r>
            <a:endParaRPr sz="2000" b="1" dirty="0">
              <a:solidFill>
                <a:srgbClr val="7B48EA"/>
              </a:solidFill>
              <a:latin typeface="Malgun Gothic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376672" y="3264408"/>
            <a:ext cx="822960" cy="27432"/>
          </a:xfrm>
          <a:prstGeom prst="rect">
            <a:avLst/>
          </a:prstGeom>
          <a:solidFill>
            <a:srgbClr val="7B4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376672" y="3456432"/>
            <a:ext cx="15727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Flask API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98079" y="2194560"/>
            <a:ext cx="192024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7662671" y="2359152"/>
            <a:ext cx="438912" cy="438912"/>
          </a:xfrm>
          <a:prstGeom prst="ellipse">
            <a:avLst/>
          </a:prstGeom>
          <a:solidFill>
            <a:srgbClr val="1C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662671" y="2907791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CA35A"/>
                </a:solidFill>
                <a:latin typeface="Malgun Gothic"/>
              </a:rPr>
              <a:t>4. 결과 확인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62671" y="3264408"/>
            <a:ext cx="822960" cy="27432"/>
          </a:xfrm>
          <a:prstGeom prst="rect">
            <a:avLst/>
          </a:prstGeom>
          <a:solidFill>
            <a:srgbClr val="1C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662671" y="3456432"/>
            <a:ext cx="15727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위험군 / 확률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38360" y="2194560"/>
            <a:ext cx="192024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8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902952" y="2359152"/>
            <a:ext cx="438912" cy="438912"/>
          </a:xfrm>
          <a:prstGeom prst="ellipse">
            <a:avLst/>
          </a:prstGeom>
          <a:solidFill>
            <a:srgbClr val="17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902952" y="2907791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7807A"/>
                </a:solidFill>
                <a:latin typeface="Malgun Gothic"/>
              </a:rPr>
              <a:t>5. 챗봇 질문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02952" y="3264408"/>
            <a:ext cx="822960" cy="27432"/>
          </a:xfrm>
          <a:prstGeom prst="rect">
            <a:avLst/>
          </a:prstGeom>
          <a:solidFill>
            <a:srgbClr val="17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902952" y="3456432"/>
            <a:ext cx="15727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chatbot.html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560320" y="3337560"/>
            <a:ext cx="32004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846320" y="3337560"/>
            <a:ext cx="320039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132320" y="3337560"/>
            <a:ext cx="32004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372600" y="3337560"/>
            <a:ext cx="32004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914400" y="4892040"/>
            <a:ext cx="10424160" cy="1097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B4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97280" y="5056631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B48EA"/>
                </a:solidFill>
                <a:latin typeface="Malgun Gothic"/>
              </a:rPr>
              <a:t>주요 시나리오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33856" y="5458968"/>
            <a:ext cx="9985248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사용자는 sc1 화면에서 입력값을 선택하고 예측을 실행한다. 시스템은 /predict API를 통해 위험군과 클래스별 확률을 반환하며, chatbot 화면에서는 프로젝트 관련 코드 및 오류 해결 질문을 받을 수 있다.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640080" y="-457200"/>
            <a:ext cx="2194560" cy="2194560"/>
          </a:xfrm>
          <a:prstGeom prst="ellipse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5303520"/>
            <a:ext cx="2560320" cy="256032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36808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92256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47704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881360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36808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92256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47704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81360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036808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92256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47704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81360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36808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92256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47704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11480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6928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22376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7824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11480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66928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22376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7824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11480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66928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22376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77824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11480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66928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22376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77824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114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Malgun Gothic"/>
              </a:rPr>
              <a:t>INPUT OUTPUT SPEC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Malgun Gothic"/>
              </a:rPr>
              <a:t>입력 / 출력 및 API 명세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607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7280"/>
                </a:solidFill>
                <a:latin typeface="Malgun Gothic"/>
              </a:rPr>
              <a:t>실서비스에서 사용되는 입력 데이터와 응답 형식을 중심으로 정리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1554480"/>
            <a:ext cx="3520440" cy="4389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6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171907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66E2"/>
                </a:solidFill>
                <a:latin typeface="Malgun Gothic"/>
              </a:rPr>
              <a:t>입력 데이터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" y="2121408"/>
            <a:ext cx="308152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GENDER, AGE_GROUP, INCOME_GROUP, FAMILY_TYPE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MONTHLY_FEE_CODE, HAS_AD_PLAN, AD_INTENT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USE_FREQUENCY, USED_LAST_WEEK, WEEKDAY/WEEKEND_TIME_CODE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DEVICE_COUNT, OTT_SERVICE_COUNT, CONTENT_TYPE_COUNT, BROADCAST_TYPE_COUNT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1554480"/>
            <a:ext cx="3520440" cy="4389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6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26280" y="171907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3D55"/>
                </a:solidFill>
                <a:latin typeface="Malgun Gothic"/>
              </a:rPr>
              <a:t>/predict 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6" y="2121408"/>
            <a:ext cx="308152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Method: POST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Request: JSON payload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Response: { success, risk_group, probabilities }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기능: 입력값 전처리 후 CatBoost 모델 예측 수행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55279" y="1554480"/>
            <a:ext cx="3520440" cy="4389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B4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38159" y="171907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B48EA"/>
                </a:solidFill>
                <a:latin typeface="Malgun Gothic"/>
              </a:rPr>
              <a:t>/chat 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74736" y="2121408"/>
            <a:ext cx="308152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Method: POST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Request: 사용자 질문 문자열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Response: 챗봇 답변 텍스트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기능: 프로젝트 전용 코드 설명 및 오류 해결 가이드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640080" y="-457200"/>
            <a:ext cx="2194560" cy="2194560"/>
          </a:xfrm>
          <a:prstGeom prst="ellipse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5303520"/>
            <a:ext cx="2560320" cy="256032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36808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92256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47704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881360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36808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92256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47704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81360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036808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92256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47704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81360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36808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92256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47704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11480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6928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22376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7824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11480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66928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22376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7824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11480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66928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22376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77824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11480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66928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22376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77824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114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Malgun Gothic"/>
              </a:rPr>
              <a:t>DB STRUCTURE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Malgun Gothic"/>
              </a:rPr>
              <a:t>DB 구조 명세 참고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607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7280"/>
                </a:solidFill>
                <a:latin typeface="Malgun Gothic"/>
              </a:rPr>
              <a:t>ERD를 기준으로 구현 시 참조해야 할 핵심 테이블 구조</a:t>
            </a:r>
          </a:p>
        </p:txBody>
      </p:sp>
      <p:pic>
        <p:nvPicPr>
          <p:cNvPr id="39" name="Picture 38" descr="ott_erd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7406640" cy="4166235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8183879" y="1691640"/>
            <a:ext cx="3108960" cy="4434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C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66759" y="185623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CA35A"/>
                </a:solidFill>
                <a:latin typeface="Malgun Gothic"/>
              </a:rPr>
              <a:t>핵심 규칙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3336" y="2258568"/>
            <a:ext cx="267004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USER_SEQ를 기준으로 USERS와 1:1 / 1:N 관계를 연결한다.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단일 응답 항목은 1:1 테이블에 저장한다.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복수응답 항목은 별도 테이블에 분리 저장한다.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모델 학습 시 집계 테이블을 사용해 count 변수를 생성한다.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640080" y="-457200"/>
            <a:ext cx="2194560" cy="2194560"/>
          </a:xfrm>
          <a:prstGeom prst="ellipse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5303520"/>
            <a:ext cx="2560320" cy="256032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36808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92256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47704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881360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36808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92256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47704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81360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036808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92256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47704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81360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36808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92256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47704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11480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6928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22376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7824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11480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66928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22376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7824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11480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66928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22376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77824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11480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66928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22376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77824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114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Malgun Gothic"/>
              </a:rPr>
              <a:t>KEY CODE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Malgun Gothic"/>
              </a:rPr>
              <a:t>핵심 코드 설명 (데이터 적재 / 모델 학습)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607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7280"/>
                </a:solidFill>
                <a:latin typeface="Malgun Gothic"/>
              </a:rPr>
              <a:t>명세 구현과 직접 연결되는 주요 스크립트 역할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1463040"/>
            <a:ext cx="5577840" cy="49834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6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59" y="1627632"/>
            <a:ext cx="5212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66E2"/>
                </a:solidFill>
                <a:latin typeface="Malgun Gothic"/>
              </a:rPr>
              <a:t>load_to_oracle.py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59" y="1965960"/>
            <a:ext cx="5212079" cy="264124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50976" y="2084832"/>
            <a:ext cx="4956048" cy="249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df = pd.read_csv("오티티_1차프로젝트.csv", encoding="cp949")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df = df[df[df.columns[0]] != 98].reset_index(drop=True)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df = df[df["가구소득"] != 9].reset_index(drop=True)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...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INSERT INTO USERS (USER_SEQ, GENDER, AGE_GROUP)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VALUES (SEQ_USER.NEXTVAL, :1, :2) RETURNING USER_SEQ INTO :3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...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for table, code_col, response_cols in multi_tables: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    INSERT INTO {table} (USER_SEQ, {code_col}) VALUES (:1, :2)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" y="4762652"/>
            <a:ext cx="5102352" cy="186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  <a:defRPr sz="1200">
                <a:solidFill>
                  <a:srgbClr val="1F2937"/>
                </a:solidFill>
                <a:latin typeface="Malgun Gothic"/>
              </a:defRPr>
            </a:pPr>
            <a:r>
              <a:t>• CSV 로드 후 결측/불필요 응답을 정리하고 Oracle 테이블 구조에 맞게 적재한다.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200">
                <a:solidFill>
                  <a:srgbClr val="1F2937"/>
                </a:solidFill>
                <a:latin typeface="Malgun Gothic"/>
              </a:defRPr>
            </a:pPr>
            <a:r>
              <a:t>• USER_SEQ 시퀀스를 기준으로 1:1/1:N 테이블에 데이터를 분리 저장한다.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200">
                <a:solidFill>
                  <a:srgbClr val="1F2937"/>
                </a:solidFill>
                <a:latin typeface="Malgun Gothic"/>
              </a:defRPr>
            </a:pPr>
            <a:r>
              <a:t>• 복수응답은 USER_OTT_SERVICE, USER_DEVICE 등 별도 테이블에 입력된다.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1463040"/>
            <a:ext cx="5212080" cy="49834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6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37960" y="1627632"/>
            <a:ext cx="4846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3D55"/>
                </a:solidFill>
                <a:latin typeface="Malgun Gothic"/>
              </a:rPr>
              <a:t>train_risk_model.py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37960" y="1965960"/>
            <a:ext cx="4846320" cy="264124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65976" y="2084832"/>
            <a:ext cx="4590288" cy="249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SELECT u.USER_SEQ, u.GENDER, ... FROM USERS u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JOIN ECONOMY e ON u.USER_SEQ = e.USER_SEQ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JOIN SUBSCRIPTION s ON u.USER_SEQ = s.USER_SEQ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JOIN USAGE_BEHAVIOR ub ON u.USER_SEQ = ub.USER_SEQ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...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df["WEEKLY_TOTAL_MIN"] = df["AVG_MIN_WEEKDAY"] * 5 + df["AVG_MIN_WEEKEND"] * 2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df["ENGAGEMENT_SCORE"] = df["SEARCH_VIEW"] + df["RECOMMEND_VIEW"] + df["BINGE_WATCH"]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model = CatBoostClassifier(..., eval_metric="TotalF1", auto_class_weights="Balanced")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92824" y="4762652"/>
            <a:ext cx="4736592" cy="186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  <a:defRPr sz="1200">
                <a:solidFill>
                  <a:srgbClr val="1F2937"/>
                </a:solidFill>
                <a:latin typeface="Malgun Gothic"/>
              </a:defRPr>
            </a:pPr>
            <a:r>
              <a:t>• Oracle DB에서 테이블을 조인하고 집계해 학습 데이터셋을 생성한다.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200">
                <a:solidFill>
                  <a:srgbClr val="1F2937"/>
                </a:solidFill>
                <a:latin typeface="Malgun Gothic"/>
              </a:defRPr>
            </a:pPr>
            <a:r>
              <a:t>• 주간 총 시청 시간, 참여도 점수 등 파생변수를 만든다.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200">
                <a:solidFill>
                  <a:srgbClr val="1F2937"/>
                </a:solidFill>
                <a:latin typeface="Malgun Gothic"/>
              </a:defRPr>
            </a:pPr>
            <a:r>
              <a:t>• CatBoostClassifier로 3-class 모델을 학습하고 모델/컬럼 파일을 저장한다.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640080" y="-457200"/>
            <a:ext cx="2194560" cy="2194560"/>
          </a:xfrm>
          <a:prstGeom prst="ellipse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5303520"/>
            <a:ext cx="2560320" cy="256032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36808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92256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47704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881360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36808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92256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47704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81360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036808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92256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47704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81360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36808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92256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47704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11480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6928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22376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7824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11480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66928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22376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7824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11480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66928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22376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77824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11480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66928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22376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77824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114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Malgun Gothic"/>
              </a:rPr>
              <a:t>KEY CODE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Malgun Gothic"/>
              </a:rPr>
              <a:t>핵심 코드 설명 (예측 API / 프로젝트 챗봇)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607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7280"/>
                </a:solidFill>
                <a:latin typeface="Malgun Gothic"/>
              </a:rPr>
              <a:t>서비스 단계의 실제 동작을 담당하는 핵심 코드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1463040"/>
            <a:ext cx="5577840" cy="49834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B4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59" y="1627632"/>
            <a:ext cx="5212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7B48EA"/>
                </a:solidFill>
                <a:latin typeface="Malgun Gothic"/>
              </a:rPr>
              <a:t>app.py (/predict)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59" y="1965960"/>
            <a:ext cx="5212079" cy="264124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50976" y="2084832"/>
            <a:ext cx="4956048" cy="249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required_fields = ["GENDER", "AGE_GROUP", ... , "BROADCAST_TYPE_COUNT"]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df["WEEKLY_TOTAL_MIN"] = weekday_avg_min * 5 + weekend_avg_min * 2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df["WEEKEND_RATIO"] = weekend_avg_min / (weekday_avg_min + weekend_avg_min + 1)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@app.route("/predict", methods=["POST"])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def predict():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    input_df = preprocess_input(data)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    pred = model.predict(input_df)[0]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    proba = model.predict_proba(input_df)[0]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    return jsonify({"success": True, "risk_group": str(pred), "probabilities": probabilities})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" y="4762652"/>
            <a:ext cx="5102352" cy="186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  <a:defRPr sz="1200">
                <a:solidFill>
                  <a:srgbClr val="1F2937"/>
                </a:solidFill>
                <a:latin typeface="Malgun Gothic"/>
              </a:defRPr>
            </a:pPr>
            <a:r>
              <a:t>• 웹 입력값을 모델이 기대하는 컬럼 구조로 맞춘 뒤 예측을 수행한다.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200">
                <a:solidFill>
                  <a:srgbClr val="1F2937"/>
                </a:solidFill>
                <a:latin typeface="Malgun Gothic"/>
              </a:defRPr>
            </a:pPr>
            <a:r>
              <a:t>• UI에 없는 상세 시간 정보는 보수적 규칙으로 근사한다.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200">
                <a:solidFill>
                  <a:srgbClr val="1F2937"/>
                </a:solidFill>
                <a:latin typeface="Malgun Gothic"/>
              </a:defRPr>
            </a:pPr>
            <a:r>
              <a:t>• 예측 결과는 위험군과 클래스별 확률을 포함한 JSON으로 반환한다.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1463040"/>
            <a:ext cx="5212080" cy="49834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C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37960" y="1627632"/>
            <a:ext cx="4846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CA35A"/>
                </a:solidFill>
                <a:latin typeface="Malgun Gothic"/>
              </a:rPr>
              <a:t>chatbot_server.py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37960" y="1965960"/>
            <a:ext cx="4846320" cy="264124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65976" y="2084832"/>
            <a:ext cx="4590288" cy="249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BASE_MODEL = "Qwen/Qwen2.5-0.5B-Instruct"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ADAPTER_PATH = "./outputs/ott-code-assistant-adapter"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SYSTEM_PROMPT = """OTT Retention Analytics 프로젝트 전용 코드 설명 챗봇"""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def is_project_related_question(question):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    project_keywords = ["app.py", "train_risk_model", "/predict", ... ]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    return any(keyword in q for keyword in project_keywords)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질문이 범위를 벗어나면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050">
                <a:solidFill>
                  <a:srgbClr val="1E293B"/>
                </a:solidFill>
                <a:latin typeface="Consolas"/>
              </a:defRPr>
            </a:pPr>
            <a:r>
              <a:t>프로젝트 관련 질문으로 유도하는 응답 반환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92824" y="4762652"/>
            <a:ext cx="4736592" cy="186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  <a:defRPr sz="1200">
                <a:solidFill>
                  <a:srgbClr val="1F2937"/>
                </a:solidFill>
                <a:latin typeface="Malgun Gothic"/>
              </a:defRPr>
            </a:pPr>
            <a:r>
              <a:t>• 베이스 모델에 LoRA Adapter를 결합하여 프로젝트 문맥에 맞는 답변을 생성한다.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200">
                <a:solidFill>
                  <a:srgbClr val="1F2937"/>
                </a:solidFill>
                <a:latin typeface="Malgun Gothic"/>
              </a:defRPr>
            </a:pPr>
            <a:r>
              <a:t>• 시스템 프롬프트와 키워드 필터를 사용해 프로젝트 외 질문을 제한한다.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200">
                <a:solidFill>
                  <a:srgbClr val="1F2937"/>
                </a:solidFill>
                <a:latin typeface="Malgun Gothic"/>
              </a:defRPr>
            </a:pPr>
            <a:r>
              <a:t>• 챗봇은 코드 설명 및 오류 해결 보조 도구로 활용된다.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640080" y="-457200"/>
            <a:ext cx="2194560" cy="2194560"/>
          </a:xfrm>
          <a:prstGeom prst="ellipse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5303520"/>
            <a:ext cx="2560320" cy="256032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36808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92256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47704" y="36576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881360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36808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92256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47704" y="52120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81360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036808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92256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47704" y="67665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81360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36808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92256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47704" y="832104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11480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6928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22376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7824" y="6035040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11480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66928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22376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7824" y="6190488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11480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66928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22376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77824" y="6345936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11480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66928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22376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77824" y="6501383"/>
            <a:ext cx="27432" cy="2743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114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Malgun Gothic"/>
              </a:rPr>
              <a:t>TROUBLESHOOTING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Malgun Gothic"/>
              </a:rPr>
              <a:t>트러블슈팅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607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7280"/>
                </a:solidFill>
                <a:latin typeface="Malgun Gothic"/>
              </a:rPr>
              <a:t>구현 및 운영 과정에서 자주 발생한 문제와 해결 방법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1645920"/>
            <a:ext cx="274320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50392" y="1810512"/>
            <a:ext cx="438912" cy="438912"/>
          </a:xfrm>
          <a:prstGeom prst="ellipse">
            <a:avLst/>
          </a:prstGeom>
          <a:solidFill>
            <a:srgbClr val="2F6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0392" y="235915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F66E2"/>
                </a:solidFill>
                <a:latin typeface="Malgun Gothic"/>
              </a:rPr>
              <a:t>Oracle 연결 오류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" y="2715768"/>
            <a:ext cx="822960" cy="27432"/>
          </a:xfrm>
          <a:prstGeom prst="rect">
            <a:avLst/>
          </a:prstGeom>
          <a:solidFill>
            <a:srgbClr val="2F6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0392" y="2907791"/>
            <a:ext cx="239572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원인: Oracle Client 경로 미설정, thin/thick 모드 혼동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현상: DPI-1047 / DPY-4027 오류 발생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해결: init_oracle_client 경로 지정 후 연결 정보 재확인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11880" y="1645920"/>
            <a:ext cx="274320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3776472" y="1810512"/>
            <a:ext cx="438912" cy="438912"/>
          </a:xfrm>
          <a:prstGeom prst="ellipse">
            <a:avLst/>
          </a:prstGeom>
          <a:solidFill>
            <a:srgbClr val="E6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76472" y="235915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3D55"/>
                </a:solidFill>
                <a:latin typeface="Malgun Gothic"/>
              </a:rPr>
              <a:t>모델 파일 누락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76472" y="2715768"/>
            <a:ext cx="822960" cy="27432"/>
          </a:xfrm>
          <a:prstGeom prst="rect">
            <a:avLst/>
          </a:prstGeom>
          <a:solidFill>
            <a:srgbClr val="E6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776472" y="2907791"/>
            <a:ext cx="239572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원인: risk_model.pkl 또는 model_columns.pkl 미생성 상태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현상: 서버 실행 시 파일 없음 오류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해결: train_risk_model.py 선행 실행 및 경로 확인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37960" y="1645920"/>
            <a:ext cx="274320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B4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6702552" y="1810512"/>
            <a:ext cx="438912" cy="438912"/>
          </a:xfrm>
          <a:prstGeom prst="ellipse">
            <a:avLst/>
          </a:prstGeom>
          <a:solidFill>
            <a:srgbClr val="7B4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02552" y="235915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B48EA"/>
                </a:solidFill>
                <a:latin typeface="Malgun Gothic"/>
              </a:rPr>
              <a:t>클래스 불균형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02552" y="2715768"/>
            <a:ext cx="822960" cy="27432"/>
          </a:xfrm>
          <a:prstGeom prst="rect">
            <a:avLst/>
          </a:prstGeom>
          <a:solidFill>
            <a:srgbClr val="7B4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02552" y="2907791"/>
            <a:ext cx="239572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원인: 위험군 분포 편차로 특정 클래스 예측 쏠림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해결: auto_class_weights="Balanced" 적용 및 파생변수 강화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64040" y="1645920"/>
            <a:ext cx="201168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628632" y="1810512"/>
            <a:ext cx="438912" cy="438912"/>
          </a:xfrm>
          <a:prstGeom prst="ellipse">
            <a:avLst/>
          </a:prstGeom>
          <a:solidFill>
            <a:srgbClr val="1C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28632" y="235915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CA35A"/>
                </a:solidFill>
                <a:latin typeface="Malgun Gothic"/>
              </a:rPr>
              <a:t>챗봇 응답 품질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28632" y="2715768"/>
            <a:ext cx="822960" cy="27432"/>
          </a:xfrm>
          <a:prstGeom prst="rect">
            <a:avLst/>
          </a:prstGeom>
          <a:solidFill>
            <a:srgbClr val="1C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628632" y="2907791"/>
            <a:ext cx="166420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원인: 범위 외 질문이나 짧은 질문에 어색한 응답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해결: 인사/무의미 질문 처리 및 프로젝트 키워드 필터 추가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1527</Words>
  <Application>Microsoft Office PowerPoint</Application>
  <PresentationFormat>와이드스크린</PresentationFormat>
  <Paragraphs>187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주세창</cp:lastModifiedBy>
  <cp:revision>2</cp:revision>
  <dcterms:created xsi:type="dcterms:W3CDTF">2013-01-27T09:14:16Z</dcterms:created>
  <dcterms:modified xsi:type="dcterms:W3CDTF">2026-06-17T02:41:20Z</dcterms:modified>
  <cp:category/>
</cp:coreProperties>
</file>