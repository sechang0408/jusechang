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1515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94360" y="-685800"/>
            <a:ext cx="2057400" cy="2057400"/>
          </a:xfrm>
          <a:prstGeom prst="ellipse">
            <a:avLst/>
          </a:prstGeom>
          <a:solidFill>
            <a:srgbClr val="F1F5F9">
              <a:alpha val="94000"/>
            </a:srgbClr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109728" y="-155448"/>
            <a:ext cx="960120" cy="96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0698480" y="5760720"/>
            <a:ext cx="1874520" cy="1874520"/>
          </a:xfrm>
          <a:prstGeom prst="ellipse">
            <a:avLst/>
          </a:prstGeom>
          <a:solidFill>
            <a:srgbClr val="F1F5F9">
              <a:alpha val="92000"/>
            </a:srgbClr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1173968" y="6199632"/>
            <a:ext cx="960120" cy="96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1292840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02336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1439144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48640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1585448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94944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1731752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41248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1878056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987552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1292840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02336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1439144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548640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1585448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94944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1731752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841248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11878056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87552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11292840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402336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11439144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548640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11585448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694944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1731752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841248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1878056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987552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11292840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402336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11439144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548640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11585448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694944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11731752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841248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11878056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987552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11292840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402336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11439144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548640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11585448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694944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11731752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841248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11878056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987552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11594592" y="6528816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713232" y="6400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OTT Retention Analytics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13232" y="146304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OTT 이용자 이탈 위험 예측</a:t>
            </a:r>
            <a:endParaRPr lang="en-US" sz="2900" dirty="0"/>
          </a:p>
          <a:p>
            <a:pPr marL="0" indent="0">
              <a:buNone/>
            </a:pPr>
            <a:r>
              <a:rPr lang="en-US" sz="29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및 AI 코드 챗봇 서비스</a:t>
            </a:r>
            <a:endParaRPr lang="en-US" sz="2900" dirty="0"/>
          </a:p>
        </p:txBody>
      </p:sp>
      <p:sp>
        <p:nvSpPr>
          <p:cNvPr id="59" name="Text 57"/>
          <p:cNvSpPr/>
          <p:nvPr/>
        </p:nvSpPr>
        <p:spPr>
          <a:xfrm>
            <a:off x="731520" y="30723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CatBoost 기반 위험군 예측 + 프로젝트 전용 LLM 챗봇을 결합한 최종 발표 자료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786384" y="4846320"/>
            <a:ext cx="2286000" cy="941832"/>
          </a:xfrm>
          <a:prstGeom prst="roundRect">
            <a:avLst>
              <a:gd name="adj" fmla="val 10680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/>
          <p:nvPr/>
        </p:nvSpPr>
        <p:spPr>
          <a:xfrm>
            <a:off x="987552" y="5029200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2,302</a:t>
            </a:r>
            <a:endParaRPr lang="en-US" sz="2100" dirty="0"/>
          </a:p>
        </p:txBody>
      </p:sp>
      <p:sp>
        <p:nvSpPr>
          <p:cNvPr id="62" name="Text 60"/>
          <p:cNvSpPr/>
          <p:nvPr/>
        </p:nvSpPr>
        <p:spPr>
          <a:xfrm>
            <a:off x="987552" y="5394960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전처리 후 OTT 이용자 데이터</a:t>
            </a:r>
            <a:endParaRPr lang="en-US" sz="880" dirty="0"/>
          </a:p>
        </p:txBody>
      </p:sp>
      <p:sp>
        <p:nvSpPr>
          <p:cNvPr id="63" name="Shape 61"/>
          <p:cNvSpPr/>
          <p:nvPr/>
        </p:nvSpPr>
        <p:spPr>
          <a:xfrm>
            <a:off x="3364992" y="4846320"/>
            <a:ext cx="2286000" cy="941832"/>
          </a:xfrm>
          <a:prstGeom prst="roundRect">
            <a:avLst>
              <a:gd name="adj" fmla="val 10680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2"/>
          <p:cNvSpPr/>
          <p:nvPr/>
        </p:nvSpPr>
        <p:spPr>
          <a:xfrm>
            <a:off x="3566160" y="5029200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3-class</a:t>
            </a:r>
            <a:endParaRPr lang="en-US" sz="2100" dirty="0"/>
          </a:p>
        </p:txBody>
      </p:sp>
      <p:sp>
        <p:nvSpPr>
          <p:cNvPr id="65" name="Text 63"/>
          <p:cNvSpPr/>
          <p:nvPr/>
        </p:nvSpPr>
        <p:spPr>
          <a:xfrm>
            <a:off x="3566160" y="5394960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· 주의 · 위험 예측</a:t>
            </a:r>
            <a:endParaRPr lang="en-US" sz="880" dirty="0"/>
          </a:p>
        </p:txBody>
      </p:sp>
      <p:sp>
        <p:nvSpPr>
          <p:cNvPr id="66" name="Shape 64"/>
          <p:cNvSpPr/>
          <p:nvPr/>
        </p:nvSpPr>
        <p:spPr>
          <a:xfrm>
            <a:off x="5943600" y="4846320"/>
            <a:ext cx="2286000" cy="941832"/>
          </a:xfrm>
          <a:prstGeom prst="roundRect">
            <a:avLst>
              <a:gd name="adj" fmla="val 10680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5"/>
          <p:cNvSpPr/>
          <p:nvPr/>
        </p:nvSpPr>
        <p:spPr>
          <a:xfrm>
            <a:off x="6144768" y="5029200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121 Q&amp;A</a:t>
            </a:r>
            <a:endParaRPr lang="en-US" sz="2100" dirty="0"/>
          </a:p>
        </p:txBody>
      </p:sp>
      <p:sp>
        <p:nvSpPr>
          <p:cNvPr id="68" name="Text 66"/>
          <p:cNvSpPr/>
          <p:nvPr/>
        </p:nvSpPr>
        <p:spPr>
          <a:xfrm>
            <a:off x="6144768" y="5394960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전용 챗봇 학습 데이터</a:t>
            </a:r>
            <a:endParaRPr lang="en-US" sz="880" dirty="0"/>
          </a:p>
        </p:txBody>
      </p:sp>
      <p:sp>
        <p:nvSpPr>
          <p:cNvPr id="69" name="Shape 67"/>
          <p:cNvSpPr/>
          <p:nvPr/>
        </p:nvSpPr>
        <p:spPr>
          <a:xfrm>
            <a:off x="9235440" y="1581912"/>
            <a:ext cx="2240280" cy="3090672"/>
          </a:xfrm>
          <a:prstGeom prst="roundRect">
            <a:avLst>
              <a:gd name="adj" fmla="val 4490"/>
            </a:avLst>
          </a:prstGeom>
          <a:solidFill>
            <a:srgbClr val="FFF5F6"/>
          </a:solidFill>
          <a:ln w="10160">
            <a:solidFill>
              <a:srgbClr val="E11D48">
                <a:alpha val="55000"/>
              </a:srgbClr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8"/>
          <p:cNvSpPr/>
          <p:nvPr/>
        </p:nvSpPr>
        <p:spPr>
          <a:xfrm>
            <a:off x="9482328" y="24231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Final Output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9482328" y="2816352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이탈 위험 예측 웹 서비스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코드 설명 챗봇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94360" y="-685800"/>
            <a:ext cx="2057400" cy="2057400"/>
          </a:xfrm>
          <a:prstGeom prst="ellipse">
            <a:avLst/>
          </a:prstGeom>
          <a:solidFill>
            <a:srgbClr val="F1F5F9">
              <a:alpha val="94000"/>
            </a:srgbClr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109728" y="-155448"/>
            <a:ext cx="960120" cy="96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0698480" y="5760720"/>
            <a:ext cx="1874520" cy="1874520"/>
          </a:xfrm>
          <a:prstGeom prst="ellipse">
            <a:avLst/>
          </a:prstGeom>
          <a:solidFill>
            <a:srgbClr val="F1F5F9">
              <a:alpha val="92000"/>
            </a:srgbClr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1173968" y="6199632"/>
            <a:ext cx="960120" cy="96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1292840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02336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1439144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48640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1585448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94944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1731752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41248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1878056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987552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1292840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02336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1439144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548640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1585448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94944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1731752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841248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11878056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87552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11292840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402336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11439144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548640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11585448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694944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1731752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841248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1878056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987552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11292840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402336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11439144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548640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11585448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694944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11731752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841248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11878056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987552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11292840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402336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11439144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548640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11585448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694944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11731752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841248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11878056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987552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11594592" y="6528816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713232" y="42062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Abstract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94944" y="74980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요약 Abstract</a:t>
            </a:r>
            <a:endParaRPr lang="en-US" sz="2300" dirty="0"/>
          </a:p>
        </p:txBody>
      </p:sp>
      <p:sp>
        <p:nvSpPr>
          <p:cNvPr id="59" name="Text 57"/>
          <p:cNvSpPr/>
          <p:nvPr/>
        </p:nvSpPr>
        <p:spPr>
          <a:xfrm>
            <a:off x="713232" y="1243584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 · 핵심 기술 · 주요 결과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804672" y="1874520"/>
            <a:ext cx="3246120" cy="2148840"/>
          </a:xfrm>
          <a:prstGeom prst="roundRect">
            <a:avLst>
              <a:gd name="adj" fmla="val 4681"/>
            </a:avLst>
          </a:prstGeom>
          <a:solidFill>
            <a:srgbClr val="FFFFFF"/>
          </a:solidFill>
          <a:ln w="10160">
            <a:solidFill>
              <a:srgbClr val="E11D48">
                <a:alpha val="30000"/>
              </a:srgbClr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1060704" y="1960299"/>
            <a:ext cx="502920" cy="50292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CBD5E1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0"/>
          <p:cNvSpPr/>
          <p:nvPr/>
        </p:nvSpPr>
        <p:spPr>
          <a:xfrm>
            <a:off x="1060704" y="2042595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1500" dirty="0"/>
          </a:p>
        </p:txBody>
      </p:sp>
      <p:sp>
        <p:nvSpPr>
          <p:cNvPr id="63" name="Text 61"/>
          <p:cNvSpPr/>
          <p:nvPr/>
        </p:nvSpPr>
        <p:spPr>
          <a:xfrm>
            <a:off x="1060704" y="2655243"/>
            <a:ext cx="2734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CatBoost</a:t>
            </a:r>
            <a:endParaRPr lang="en-US" sz="2200" dirty="0"/>
          </a:p>
        </p:txBody>
      </p:sp>
      <p:sp>
        <p:nvSpPr>
          <p:cNvPr id="64" name="Shape 62"/>
          <p:cNvSpPr/>
          <p:nvPr/>
        </p:nvSpPr>
        <p:spPr>
          <a:xfrm>
            <a:off x="1060704" y="3167307"/>
            <a:ext cx="841248" cy="0"/>
          </a:xfrm>
          <a:prstGeom prst="line">
            <a:avLst/>
          </a:prstGeom>
          <a:noFill/>
          <a:ln w="2286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3"/>
          <p:cNvSpPr/>
          <p:nvPr/>
        </p:nvSpPr>
        <p:spPr>
          <a:xfrm>
            <a:off x="1060704" y="3240023"/>
            <a:ext cx="2734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정형 데이터 위험군 분류</a:t>
            </a:r>
            <a:endParaRPr lang="en-US" sz="1020" dirty="0"/>
          </a:p>
        </p:txBody>
      </p:sp>
      <p:sp>
        <p:nvSpPr>
          <p:cNvPr id="66" name="Text 64"/>
          <p:cNvSpPr/>
          <p:nvPr/>
        </p:nvSpPr>
        <p:spPr>
          <a:xfrm>
            <a:off x="1060704" y="3605783"/>
            <a:ext cx="2734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 빈도·시청 시간·요금제 정보를 기반으로 안전/주의/위험을 예측</a:t>
            </a:r>
            <a:endParaRPr lang="en-US" sz="1040" dirty="0"/>
          </a:p>
        </p:txBody>
      </p:sp>
      <p:sp>
        <p:nvSpPr>
          <p:cNvPr id="67" name="Shape 65"/>
          <p:cNvSpPr/>
          <p:nvPr/>
        </p:nvSpPr>
        <p:spPr>
          <a:xfrm>
            <a:off x="4462272" y="1874520"/>
            <a:ext cx="3246120" cy="2148840"/>
          </a:xfrm>
          <a:prstGeom prst="roundRect">
            <a:avLst>
              <a:gd name="adj" fmla="val 4681"/>
            </a:avLst>
          </a:prstGeom>
          <a:solidFill>
            <a:srgbClr val="FFFFFF"/>
          </a:solidFill>
          <a:ln w="10160">
            <a:solidFill>
              <a:srgbClr val="2563EB">
                <a:alpha val="30000"/>
              </a:srgbClr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4718304" y="1960299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CBD5E1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7"/>
          <p:cNvSpPr/>
          <p:nvPr/>
        </p:nvSpPr>
        <p:spPr>
          <a:xfrm>
            <a:off x="4718304" y="2042595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</a:t>
            </a:r>
            <a:endParaRPr lang="en-US" sz="1500" dirty="0"/>
          </a:p>
        </p:txBody>
      </p:sp>
      <p:sp>
        <p:nvSpPr>
          <p:cNvPr id="70" name="Text 68"/>
          <p:cNvSpPr/>
          <p:nvPr/>
        </p:nvSpPr>
        <p:spPr>
          <a:xfrm>
            <a:off x="4718304" y="2655243"/>
            <a:ext cx="2734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Flask + Oracle</a:t>
            </a:r>
            <a:endParaRPr lang="en-US" sz="2200" dirty="0"/>
          </a:p>
        </p:txBody>
      </p:sp>
      <p:sp>
        <p:nvSpPr>
          <p:cNvPr id="71" name="Shape 69"/>
          <p:cNvSpPr/>
          <p:nvPr/>
        </p:nvSpPr>
        <p:spPr>
          <a:xfrm>
            <a:off x="4718304" y="3167307"/>
            <a:ext cx="841248" cy="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70"/>
          <p:cNvSpPr/>
          <p:nvPr/>
        </p:nvSpPr>
        <p:spPr>
          <a:xfrm>
            <a:off x="4718304" y="3240023"/>
            <a:ext cx="2734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서비스 및 DB 연동</a:t>
            </a:r>
            <a:endParaRPr lang="en-US" sz="1020" dirty="0"/>
          </a:p>
        </p:txBody>
      </p:sp>
      <p:sp>
        <p:nvSpPr>
          <p:cNvPr id="73" name="Text 71"/>
          <p:cNvSpPr/>
          <p:nvPr/>
        </p:nvSpPr>
        <p:spPr>
          <a:xfrm>
            <a:off x="4718304" y="3605783"/>
            <a:ext cx="2734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Oracle 적재 데이터와 학습 모델을 Flask API로 연결</a:t>
            </a:r>
            <a:endParaRPr lang="en-US" sz="1040" dirty="0"/>
          </a:p>
        </p:txBody>
      </p:sp>
      <p:sp>
        <p:nvSpPr>
          <p:cNvPr id="74" name="Shape 72"/>
          <p:cNvSpPr/>
          <p:nvPr/>
        </p:nvSpPr>
        <p:spPr>
          <a:xfrm>
            <a:off x="8119872" y="1874520"/>
            <a:ext cx="3246120" cy="2148840"/>
          </a:xfrm>
          <a:prstGeom prst="roundRect">
            <a:avLst>
              <a:gd name="adj" fmla="val 4681"/>
            </a:avLst>
          </a:prstGeom>
          <a:solidFill>
            <a:srgbClr val="FFFFFF"/>
          </a:solidFill>
          <a:ln w="10160">
            <a:solidFill>
              <a:srgbClr val="7C3AED">
                <a:alpha val="30000"/>
              </a:srgbClr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8375904" y="1960299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CBD5E1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6" name="Text 74"/>
          <p:cNvSpPr/>
          <p:nvPr/>
        </p:nvSpPr>
        <p:spPr>
          <a:xfrm>
            <a:off x="8375904" y="2042595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500" dirty="0"/>
          </a:p>
        </p:txBody>
      </p:sp>
      <p:sp>
        <p:nvSpPr>
          <p:cNvPr id="77" name="Text 75"/>
          <p:cNvSpPr/>
          <p:nvPr/>
        </p:nvSpPr>
        <p:spPr>
          <a:xfrm>
            <a:off x="8375904" y="2655243"/>
            <a:ext cx="2734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QLoRA Chatbot</a:t>
            </a:r>
            <a:endParaRPr lang="en-US" sz="2200" dirty="0"/>
          </a:p>
        </p:txBody>
      </p:sp>
      <p:sp>
        <p:nvSpPr>
          <p:cNvPr id="78" name="Shape 76"/>
          <p:cNvSpPr/>
          <p:nvPr/>
        </p:nvSpPr>
        <p:spPr>
          <a:xfrm>
            <a:off x="8375904" y="3167307"/>
            <a:ext cx="841248" cy="0"/>
          </a:xfrm>
          <a:prstGeom prst="line">
            <a:avLst/>
          </a:prstGeom>
          <a:noFill/>
          <a:ln w="2286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Text 77"/>
          <p:cNvSpPr/>
          <p:nvPr/>
        </p:nvSpPr>
        <p:spPr>
          <a:xfrm>
            <a:off x="8375904" y="3240023"/>
            <a:ext cx="2734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전용 코드 챗봇</a:t>
            </a:r>
            <a:endParaRPr lang="en-US" sz="1020" dirty="0"/>
          </a:p>
        </p:txBody>
      </p:sp>
      <p:sp>
        <p:nvSpPr>
          <p:cNvPr id="80" name="Text 78"/>
          <p:cNvSpPr/>
          <p:nvPr/>
        </p:nvSpPr>
        <p:spPr>
          <a:xfrm>
            <a:off x="8375904" y="3605783"/>
            <a:ext cx="2734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구조와 오류 해결 질문에 한국어 답변을 제공</a:t>
            </a:r>
            <a:endParaRPr lang="en-US" sz="1040" dirty="0"/>
          </a:p>
        </p:txBody>
      </p:sp>
      <p:sp>
        <p:nvSpPr>
          <p:cNvPr id="81" name="Shape 79"/>
          <p:cNvSpPr/>
          <p:nvPr/>
        </p:nvSpPr>
        <p:spPr>
          <a:xfrm>
            <a:off x="804672" y="4736592"/>
            <a:ext cx="10561320" cy="822960"/>
          </a:xfrm>
          <a:prstGeom prst="roundRect">
            <a:avLst>
              <a:gd name="adj" fmla="val 12222"/>
            </a:avLst>
          </a:prstGeom>
          <a:solidFill>
            <a:srgbClr val="F8FFFB"/>
          </a:solidFill>
          <a:ln w="10160">
            <a:solidFill>
              <a:srgbClr val="16A34A">
                <a:alpha val="40000"/>
              </a:srgbClr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2" name="Text 80"/>
          <p:cNvSpPr/>
          <p:nvPr/>
        </p:nvSpPr>
        <p:spPr>
          <a:xfrm>
            <a:off x="987552" y="4882896"/>
            <a:ext cx="10195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결과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987552" y="5175504"/>
            <a:ext cx="101955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입력값을 기반으로 위험군과 클래스별 확률을 출력하고, 챗봇을 통해 app.py / train_risk_model.py / load_to_oracle.py 등 프로젝트 코드 설명까지 지원하는 통합 서비스로 구현하였다.</a:t>
            </a:r>
            <a:endParaRPr lang="en-US" sz="8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94360" y="-685800"/>
            <a:ext cx="2057400" cy="2057400"/>
          </a:xfrm>
          <a:prstGeom prst="ellipse">
            <a:avLst/>
          </a:prstGeom>
          <a:solidFill>
            <a:srgbClr val="F1F5F9">
              <a:alpha val="94000"/>
            </a:srgbClr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109728" y="-155448"/>
            <a:ext cx="960120" cy="96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0698480" y="5760720"/>
            <a:ext cx="1874520" cy="1874520"/>
          </a:xfrm>
          <a:prstGeom prst="ellipse">
            <a:avLst/>
          </a:prstGeom>
          <a:solidFill>
            <a:srgbClr val="F1F5F9">
              <a:alpha val="92000"/>
            </a:srgbClr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1173968" y="6199632"/>
            <a:ext cx="960120" cy="96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1292840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02336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1439144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48640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1585448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94944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1731752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41248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1878056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987552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1292840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02336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1439144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548640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1585448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94944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1731752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841248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11878056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87552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11292840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402336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11439144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548640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11585448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694944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1731752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841248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1878056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987552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11292840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402336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11439144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548640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11585448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694944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11731752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841248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11878056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987552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11292840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402336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11439144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548640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11585448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694944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11731752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841248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11878056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987552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11594592" y="6528816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713232" y="42062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Brief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94944" y="74980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프로젝트 개요</a:t>
            </a:r>
            <a:endParaRPr lang="en-US" sz="2300" dirty="0"/>
          </a:p>
        </p:txBody>
      </p:sp>
      <p:sp>
        <p:nvSpPr>
          <p:cNvPr id="59" name="Text 57"/>
          <p:cNvSpPr/>
          <p:nvPr/>
        </p:nvSpPr>
        <p:spPr>
          <a:xfrm>
            <a:off x="713232" y="1243584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 · 기획 의도 · 개발 목표 및 기대 효과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786384" y="1874520"/>
            <a:ext cx="5257800" cy="1234440"/>
          </a:xfrm>
          <a:prstGeom prst="roundRect">
            <a:avLst>
              <a:gd name="adj" fmla="val 8148"/>
            </a:avLst>
          </a:prstGeom>
          <a:solidFill>
            <a:srgbClr val="F8FBFF"/>
          </a:solidFill>
          <a:ln w="10160">
            <a:solidFill>
              <a:srgbClr val="2563EB">
                <a:alpha val="40000"/>
              </a:srgbClr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/>
          <p:nvPr/>
        </p:nvSpPr>
        <p:spPr>
          <a:xfrm>
            <a:off x="969264" y="2020824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2.1 프로젝트의 목적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969264" y="2313432"/>
            <a:ext cx="489204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OTT 이용자의 이용 행태와 결제 성향을 분석하여 이탈 가능성이 높은 사용자를 사전에 분류하고, 운영자가 리텐션 전략을 빠르게 판단할 수 있도록 한다.</a:t>
            </a:r>
            <a:endParaRPr lang="en-US" sz="820" dirty="0"/>
          </a:p>
        </p:txBody>
      </p:sp>
      <p:sp>
        <p:nvSpPr>
          <p:cNvPr id="63" name="Shape 61"/>
          <p:cNvSpPr/>
          <p:nvPr/>
        </p:nvSpPr>
        <p:spPr>
          <a:xfrm>
            <a:off x="6236208" y="1874520"/>
            <a:ext cx="5166360" cy="1234440"/>
          </a:xfrm>
          <a:prstGeom prst="roundRect">
            <a:avLst>
              <a:gd name="adj" fmla="val 8148"/>
            </a:avLst>
          </a:prstGeom>
          <a:solidFill>
            <a:srgbClr val="FFF8F8"/>
          </a:solidFill>
          <a:ln w="10160">
            <a:solidFill>
              <a:srgbClr val="E11D48">
                <a:alpha val="40000"/>
              </a:srgbClr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2"/>
          <p:cNvSpPr/>
          <p:nvPr/>
        </p:nvSpPr>
        <p:spPr>
          <a:xfrm>
            <a:off x="6419088" y="2020824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2.2 기획 의도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419088" y="2313432"/>
            <a:ext cx="480060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예측 결과만 제공하는 것이 아니라 위험도, 확률, 요약 정보를 함께 보여 주어 예측 결과의 해석 가능성을 높인다.</a:t>
            </a:r>
            <a:endParaRPr lang="en-US" sz="820" dirty="0"/>
          </a:p>
        </p:txBody>
      </p:sp>
      <p:sp>
        <p:nvSpPr>
          <p:cNvPr id="66" name="Shape 64"/>
          <p:cNvSpPr/>
          <p:nvPr/>
        </p:nvSpPr>
        <p:spPr>
          <a:xfrm>
            <a:off x="786384" y="3529584"/>
            <a:ext cx="10616184" cy="1143000"/>
          </a:xfrm>
          <a:prstGeom prst="roundRect">
            <a:avLst>
              <a:gd name="adj" fmla="val 8800"/>
            </a:avLst>
          </a:prstGeom>
          <a:solidFill>
            <a:srgbClr val="F8FFFB"/>
          </a:solidFill>
          <a:ln w="10160">
            <a:solidFill>
              <a:srgbClr val="16A34A">
                <a:alpha val="40000"/>
              </a:srgbClr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5"/>
          <p:cNvSpPr/>
          <p:nvPr/>
        </p:nvSpPr>
        <p:spPr>
          <a:xfrm>
            <a:off x="969264" y="3675888"/>
            <a:ext cx="10250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2.3 개발 목표 및 기대 효과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969264" y="3968496"/>
            <a:ext cx="1025042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적재 → 모델 학습 → 예측 API → 웹 UI → 코드 챗봇까지 이어지는 End-to-End 구조를 구현한다. 향후에는 쿠폰, 콘텐츠 추천, 요금제 전환 등 리텐션 전략 기능으로 확장할 수 있다.</a:t>
            </a:r>
            <a:endParaRPr lang="en-US" sz="8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94360" y="-685800"/>
            <a:ext cx="2057400" cy="2057400"/>
          </a:xfrm>
          <a:prstGeom prst="ellipse">
            <a:avLst/>
          </a:prstGeom>
          <a:solidFill>
            <a:srgbClr val="F1F5F9">
              <a:alpha val="94000"/>
            </a:srgbClr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109728" y="-155448"/>
            <a:ext cx="960120" cy="96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0698480" y="5760720"/>
            <a:ext cx="1874520" cy="1874520"/>
          </a:xfrm>
          <a:prstGeom prst="ellipse">
            <a:avLst/>
          </a:prstGeom>
          <a:solidFill>
            <a:srgbClr val="F1F5F9">
              <a:alpha val="92000"/>
            </a:srgbClr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1173968" y="6199632"/>
            <a:ext cx="960120" cy="96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1292840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02336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1439144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48640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1585448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94944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1731752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41248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1878056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987552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1292840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02336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1439144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548640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1585448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94944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1731752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841248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11878056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87552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11292840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402336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11439144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548640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11585448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694944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1731752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841248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1878056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987552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11292840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402336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11439144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548640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11585448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694944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11731752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841248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11878056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987552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11292840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402336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11439144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548640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11585448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694944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11731752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841248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11878056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987552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11594592" y="6528816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713232" y="42062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Planning Intent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94944" y="74980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흐름</a:t>
            </a:r>
            <a:endParaRPr lang="en-US" sz="2300" dirty="0"/>
          </a:p>
        </p:txBody>
      </p:sp>
      <p:sp>
        <p:nvSpPr>
          <p:cNvPr id="59" name="Text 57"/>
          <p:cNvSpPr/>
          <p:nvPr/>
        </p:nvSpPr>
        <p:spPr>
          <a:xfrm>
            <a:off x="713232" y="1243584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입력부터 운영자 의사결정까지 연결되는 흐름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1097280" y="2331720"/>
            <a:ext cx="1417320" cy="640080"/>
          </a:xfrm>
          <a:prstGeom prst="roundRect">
            <a:avLst>
              <a:gd name="adj" fmla="val 15714"/>
            </a:avLst>
          </a:prstGeom>
          <a:solidFill>
            <a:srgbClr val="EFF6FF"/>
          </a:solidFill>
          <a:ln w="10160">
            <a:solidFill>
              <a:srgbClr val="2563EB">
                <a:alpha val="50000"/>
              </a:srgbClr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/>
          <p:nvPr/>
        </p:nvSpPr>
        <p:spPr>
          <a:xfrm>
            <a:off x="1170432" y="2468880"/>
            <a:ext cx="1271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</a:t>
            </a:r>
            <a:endParaRPr lang="en-US" sz="810" dirty="0"/>
          </a:p>
          <a:p>
            <a:pPr marL="0" indent="0" algn="ctr">
              <a:buNone/>
            </a:pPr>
            <a:r>
              <a:rPr lang="en-US" sz="81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 입력</a:t>
            </a:r>
            <a:endParaRPr lang="en-US" sz="810" dirty="0"/>
          </a:p>
        </p:txBody>
      </p:sp>
      <p:sp>
        <p:nvSpPr>
          <p:cNvPr id="62" name="Shape 60"/>
          <p:cNvSpPr/>
          <p:nvPr/>
        </p:nvSpPr>
        <p:spPr>
          <a:xfrm>
            <a:off x="2578608" y="2651760"/>
            <a:ext cx="100584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3657600" y="2331720"/>
            <a:ext cx="1417320" cy="640080"/>
          </a:xfrm>
          <a:prstGeom prst="roundRect">
            <a:avLst>
              <a:gd name="adj" fmla="val 15714"/>
            </a:avLst>
          </a:prstGeom>
          <a:solidFill>
            <a:srgbClr val="FFF1F2"/>
          </a:solidFill>
          <a:ln w="10160">
            <a:solidFill>
              <a:srgbClr val="E11D48">
                <a:alpha val="50000"/>
              </a:srgbClr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2"/>
          <p:cNvSpPr/>
          <p:nvPr/>
        </p:nvSpPr>
        <p:spPr>
          <a:xfrm>
            <a:off x="3730752" y="2468880"/>
            <a:ext cx="1271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</a:t>
            </a:r>
            <a:endParaRPr lang="en-US" sz="810" dirty="0"/>
          </a:p>
          <a:p>
            <a:pPr marL="0" indent="0" algn="ctr">
              <a:buNone/>
            </a:pPr>
            <a:r>
              <a:rPr lang="en-US" sz="81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</a:t>
            </a:r>
            <a:endParaRPr lang="en-US" sz="810" dirty="0"/>
          </a:p>
        </p:txBody>
      </p:sp>
      <p:sp>
        <p:nvSpPr>
          <p:cNvPr id="65" name="Shape 63"/>
          <p:cNvSpPr/>
          <p:nvPr/>
        </p:nvSpPr>
        <p:spPr>
          <a:xfrm>
            <a:off x="5138928" y="2651760"/>
            <a:ext cx="100584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6217920" y="2331720"/>
            <a:ext cx="1417320" cy="640080"/>
          </a:xfrm>
          <a:prstGeom prst="roundRect">
            <a:avLst>
              <a:gd name="adj" fmla="val 15714"/>
            </a:avLst>
          </a:prstGeom>
          <a:solidFill>
            <a:srgbClr val="F0FDF4"/>
          </a:solidFill>
          <a:ln w="10160">
            <a:solidFill>
              <a:srgbClr val="16A34A">
                <a:alpha val="50000"/>
              </a:srgbClr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5"/>
          <p:cNvSpPr/>
          <p:nvPr/>
        </p:nvSpPr>
        <p:spPr>
          <a:xfrm>
            <a:off x="6291072" y="2468880"/>
            <a:ext cx="1271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810" dirty="0"/>
          </a:p>
          <a:p>
            <a:pPr marL="0" indent="0" algn="ctr">
              <a:buNone/>
            </a:pPr>
            <a:r>
              <a:rPr lang="en-US" sz="81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시각화</a:t>
            </a:r>
            <a:endParaRPr lang="en-US" sz="810" dirty="0"/>
          </a:p>
        </p:txBody>
      </p:sp>
      <p:sp>
        <p:nvSpPr>
          <p:cNvPr id="68" name="Shape 66"/>
          <p:cNvSpPr/>
          <p:nvPr/>
        </p:nvSpPr>
        <p:spPr>
          <a:xfrm>
            <a:off x="7699248" y="2651760"/>
            <a:ext cx="100584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8778240" y="2331720"/>
            <a:ext cx="1417320" cy="640080"/>
          </a:xfrm>
          <a:prstGeom prst="roundRect">
            <a:avLst>
              <a:gd name="adj" fmla="val 15714"/>
            </a:avLst>
          </a:prstGeom>
          <a:solidFill>
            <a:srgbClr val="F5F3FF"/>
          </a:solidFill>
          <a:ln w="10160">
            <a:solidFill>
              <a:srgbClr val="7C3AED">
                <a:alpha val="50000"/>
              </a:srgbClr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8"/>
          <p:cNvSpPr/>
          <p:nvPr/>
        </p:nvSpPr>
        <p:spPr>
          <a:xfrm>
            <a:off x="8851392" y="2468880"/>
            <a:ext cx="1271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챗봇</a:t>
            </a:r>
            <a:endParaRPr lang="en-US" sz="810" dirty="0"/>
          </a:p>
          <a:p>
            <a:pPr marL="0" indent="0" algn="ctr">
              <a:buNone/>
            </a:pPr>
            <a:r>
              <a:rPr lang="en-US" sz="81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</a:t>
            </a:r>
            <a:endParaRPr lang="en-US" sz="810" dirty="0"/>
          </a:p>
        </p:txBody>
      </p:sp>
      <p:sp>
        <p:nvSpPr>
          <p:cNvPr id="71" name="Shape 69"/>
          <p:cNvSpPr/>
          <p:nvPr/>
        </p:nvSpPr>
        <p:spPr>
          <a:xfrm>
            <a:off x="1097280" y="3986784"/>
            <a:ext cx="59436" cy="59436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70"/>
          <p:cNvSpPr/>
          <p:nvPr/>
        </p:nvSpPr>
        <p:spPr>
          <a:xfrm>
            <a:off x="1252728" y="393192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설문 기반 정형 데이터를 Oracle DB에 적재하고, CatBoost 모델로 이탈 위험군을 분류한다.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1097280" y="4370832"/>
            <a:ext cx="59436" cy="59436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2"/>
          <p:cNvSpPr/>
          <p:nvPr/>
        </p:nvSpPr>
        <p:spPr>
          <a:xfrm>
            <a:off x="1252728" y="4315968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화면에서 예측 결과를 위험도·확률·요약 정보로 보여 주어 설명 가능한 UI를 구성한다.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1097280" y="4754880"/>
            <a:ext cx="59436" cy="59436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Text 74"/>
          <p:cNvSpPr/>
          <p:nvPr/>
        </p:nvSpPr>
        <p:spPr>
          <a:xfrm>
            <a:off x="1252728" y="4700016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전용 챗봇을 추가하여 코드 구조, API 흐름, 오류 해결 질문에 대응한다.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94360" y="-685800"/>
            <a:ext cx="2057400" cy="2057400"/>
          </a:xfrm>
          <a:prstGeom prst="ellipse">
            <a:avLst/>
          </a:prstGeom>
          <a:solidFill>
            <a:srgbClr val="F1F5F9">
              <a:alpha val="94000"/>
            </a:srgbClr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109728" y="-155448"/>
            <a:ext cx="960120" cy="96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0698480" y="5760720"/>
            <a:ext cx="1874520" cy="1874520"/>
          </a:xfrm>
          <a:prstGeom prst="ellipse">
            <a:avLst/>
          </a:prstGeom>
          <a:solidFill>
            <a:srgbClr val="F1F5F9">
              <a:alpha val="92000"/>
            </a:srgbClr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1173968" y="6199632"/>
            <a:ext cx="960120" cy="96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1292840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02336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1439144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48640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1585448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94944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1731752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41248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1878056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987552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1292840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02336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1439144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548640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1585448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94944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1731752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841248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11878056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87552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11292840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402336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11439144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548640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11585448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694944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1731752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841248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1878056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987552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11292840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402336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11439144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548640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11585448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694944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11731752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841248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11878056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987552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11292840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402336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11439144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548640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11585448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694944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11731752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841248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11878056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987552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11594592" y="6528816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713232" y="42062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Design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94944" y="74980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 전체 아키텍처 개요</a:t>
            </a:r>
            <a:endParaRPr lang="en-US" sz="2300" dirty="0"/>
          </a:p>
        </p:txBody>
      </p:sp>
      <p:sp>
        <p:nvSpPr>
          <p:cNvPr id="59" name="Text 57"/>
          <p:cNvSpPr/>
          <p:nvPr/>
        </p:nvSpPr>
        <p:spPr>
          <a:xfrm>
            <a:off x="713232" y="1243584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적재 → DB 조인 → 모델 학습 → 웹 API → 챗봇 연동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804672" y="2331720"/>
            <a:ext cx="1188720" cy="694944"/>
          </a:xfrm>
          <a:prstGeom prst="roundRect">
            <a:avLst>
              <a:gd name="adj" fmla="val 14474"/>
            </a:avLst>
          </a:prstGeom>
          <a:solidFill>
            <a:srgbClr val="EFF6FF"/>
          </a:solidFill>
          <a:ln w="10160">
            <a:solidFill>
              <a:srgbClr val="2563EB">
                <a:alpha val="50000"/>
              </a:srgbClr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/>
          <p:nvPr/>
        </p:nvSpPr>
        <p:spPr>
          <a:xfrm>
            <a:off x="877824" y="2468880"/>
            <a:ext cx="104241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CSV 설문</a:t>
            </a:r>
            <a:endParaRPr lang="en-US" sz="810" dirty="0"/>
          </a:p>
          <a:p>
            <a:pPr marL="0" indent="0" algn="ctr">
              <a:buNone/>
            </a:pPr>
            <a:r>
              <a:rPr lang="en-US" sz="81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810" dirty="0"/>
          </a:p>
        </p:txBody>
      </p:sp>
      <p:sp>
        <p:nvSpPr>
          <p:cNvPr id="62" name="Shape 60"/>
          <p:cNvSpPr/>
          <p:nvPr/>
        </p:nvSpPr>
        <p:spPr>
          <a:xfrm>
            <a:off x="2029968" y="2679192"/>
            <a:ext cx="41148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2514600" y="2331720"/>
            <a:ext cx="1188720" cy="694944"/>
          </a:xfrm>
          <a:prstGeom prst="roundRect">
            <a:avLst>
              <a:gd name="adj" fmla="val 14474"/>
            </a:avLst>
          </a:prstGeom>
          <a:solidFill>
            <a:srgbClr val="F0FDF4"/>
          </a:solidFill>
          <a:ln w="10160">
            <a:solidFill>
              <a:srgbClr val="16A34A">
                <a:alpha val="50000"/>
              </a:srgbClr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2"/>
          <p:cNvSpPr/>
          <p:nvPr/>
        </p:nvSpPr>
        <p:spPr>
          <a:xfrm>
            <a:off x="2587752" y="2468880"/>
            <a:ext cx="104241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Oracle DB</a:t>
            </a:r>
            <a:endParaRPr lang="en-US" sz="810" dirty="0"/>
          </a:p>
          <a:p>
            <a:pPr marL="0" indent="0" algn="ctr">
              <a:buNone/>
            </a:pPr>
            <a:r>
              <a:rPr lang="en-US" sz="81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정규화·저장</a:t>
            </a:r>
            <a:endParaRPr lang="en-US" sz="810" dirty="0"/>
          </a:p>
        </p:txBody>
      </p:sp>
      <p:sp>
        <p:nvSpPr>
          <p:cNvPr id="65" name="Shape 63"/>
          <p:cNvSpPr/>
          <p:nvPr/>
        </p:nvSpPr>
        <p:spPr>
          <a:xfrm>
            <a:off x="3739896" y="2679192"/>
            <a:ext cx="41148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4224528" y="2331720"/>
            <a:ext cx="1188720" cy="694944"/>
          </a:xfrm>
          <a:prstGeom prst="roundRect">
            <a:avLst>
              <a:gd name="adj" fmla="val 14474"/>
            </a:avLst>
          </a:prstGeom>
          <a:solidFill>
            <a:srgbClr val="FFF1F2"/>
          </a:solidFill>
          <a:ln w="10160">
            <a:solidFill>
              <a:srgbClr val="E11D48">
                <a:alpha val="50000"/>
              </a:srgbClr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5"/>
          <p:cNvSpPr/>
          <p:nvPr/>
        </p:nvSpPr>
        <p:spPr>
          <a:xfrm>
            <a:off x="4297680" y="2468880"/>
            <a:ext cx="104241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CatBoost</a:t>
            </a:r>
            <a:endParaRPr lang="en-US" sz="810" dirty="0"/>
          </a:p>
          <a:p>
            <a:pPr marL="0" indent="0" algn="ctr">
              <a:buNone/>
            </a:pPr>
            <a:r>
              <a:rPr lang="en-US" sz="81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학습</a:t>
            </a:r>
            <a:endParaRPr lang="en-US" sz="810" dirty="0"/>
          </a:p>
        </p:txBody>
      </p:sp>
      <p:sp>
        <p:nvSpPr>
          <p:cNvPr id="68" name="Shape 66"/>
          <p:cNvSpPr/>
          <p:nvPr/>
        </p:nvSpPr>
        <p:spPr>
          <a:xfrm>
            <a:off x="5449824" y="2679192"/>
            <a:ext cx="41148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5934456" y="2331720"/>
            <a:ext cx="1188720" cy="694944"/>
          </a:xfrm>
          <a:prstGeom prst="roundRect">
            <a:avLst>
              <a:gd name="adj" fmla="val 14474"/>
            </a:avLst>
          </a:prstGeom>
          <a:solidFill>
            <a:srgbClr val="F5F3FF"/>
          </a:solidFill>
          <a:ln w="10160">
            <a:solidFill>
              <a:srgbClr val="7C3AED">
                <a:alpha val="50000"/>
              </a:srgbClr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8"/>
          <p:cNvSpPr/>
          <p:nvPr/>
        </p:nvSpPr>
        <p:spPr>
          <a:xfrm>
            <a:off x="6007608" y="2468880"/>
            <a:ext cx="104241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Flask API</a:t>
            </a:r>
            <a:endParaRPr lang="en-US" sz="810" dirty="0"/>
          </a:p>
          <a:p>
            <a:pPr marL="0" indent="0" algn="ctr">
              <a:buNone/>
            </a:pPr>
            <a:r>
              <a:rPr lang="en-US" sz="81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/predict, /chat</a:t>
            </a:r>
            <a:endParaRPr lang="en-US" sz="810" dirty="0"/>
          </a:p>
        </p:txBody>
      </p:sp>
      <p:sp>
        <p:nvSpPr>
          <p:cNvPr id="71" name="Shape 69"/>
          <p:cNvSpPr/>
          <p:nvPr/>
        </p:nvSpPr>
        <p:spPr>
          <a:xfrm>
            <a:off x="7159752" y="2679192"/>
            <a:ext cx="41148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7644384" y="2331720"/>
            <a:ext cx="1188720" cy="694944"/>
          </a:xfrm>
          <a:prstGeom prst="roundRect">
            <a:avLst>
              <a:gd name="adj" fmla="val 14474"/>
            </a:avLst>
          </a:prstGeom>
          <a:solidFill>
            <a:srgbClr val="FFFBEB"/>
          </a:solidFill>
          <a:ln w="10160">
            <a:solidFill>
              <a:srgbClr val="D97706">
                <a:alpha val="50000"/>
              </a:srgbClr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3" name="Text 71"/>
          <p:cNvSpPr/>
          <p:nvPr/>
        </p:nvSpPr>
        <p:spPr>
          <a:xfrm>
            <a:off x="7717536" y="2468880"/>
            <a:ext cx="104241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서비스</a:t>
            </a:r>
            <a:endParaRPr lang="en-US" sz="810" dirty="0"/>
          </a:p>
          <a:p>
            <a:pPr marL="0" indent="0" algn="ctr">
              <a:buNone/>
            </a:pPr>
            <a:r>
              <a:rPr lang="en-US" sz="81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예측·챗봇</a:t>
            </a:r>
            <a:endParaRPr lang="en-US" sz="810" dirty="0"/>
          </a:p>
        </p:txBody>
      </p:sp>
      <p:sp>
        <p:nvSpPr>
          <p:cNvPr id="74" name="Shape 72"/>
          <p:cNvSpPr/>
          <p:nvPr/>
        </p:nvSpPr>
        <p:spPr>
          <a:xfrm>
            <a:off x="8869680" y="2679192"/>
            <a:ext cx="41148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9354312" y="2331720"/>
            <a:ext cx="1188720" cy="694944"/>
          </a:xfrm>
          <a:prstGeom prst="roundRect">
            <a:avLst>
              <a:gd name="adj" fmla="val 14474"/>
            </a:avLst>
          </a:prstGeom>
          <a:solidFill>
            <a:srgbClr val="F8FAFC"/>
          </a:solidFill>
          <a:ln w="10160">
            <a:solidFill>
              <a:srgbClr val="334155">
                <a:alpha val="50000"/>
              </a:srgbClr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6" name="Text 74"/>
          <p:cNvSpPr/>
          <p:nvPr/>
        </p:nvSpPr>
        <p:spPr>
          <a:xfrm>
            <a:off x="9427464" y="2468880"/>
            <a:ext cx="104241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</a:t>
            </a:r>
            <a:endParaRPr lang="en-US" sz="810" dirty="0"/>
          </a:p>
          <a:p>
            <a:pPr marL="0" indent="0" algn="ctr">
              <a:buNone/>
            </a:pPr>
            <a:r>
              <a:rPr lang="en-US" sz="81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결과</a:t>
            </a:r>
            <a:endParaRPr lang="en-US" sz="810" dirty="0"/>
          </a:p>
        </p:txBody>
      </p:sp>
      <p:sp>
        <p:nvSpPr>
          <p:cNvPr id="77" name="Shape 75"/>
          <p:cNvSpPr/>
          <p:nvPr/>
        </p:nvSpPr>
        <p:spPr>
          <a:xfrm>
            <a:off x="804672" y="4160520"/>
            <a:ext cx="10561320" cy="868680"/>
          </a:xfrm>
          <a:prstGeom prst="roundRect">
            <a:avLst>
              <a:gd name="adj" fmla="val 11579"/>
            </a:avLst>
          </a:prstGeom>
          <a:solidFill>
            <a:srgbClr val="FFF8F8"/>
          </a:solidFill>
          <a:ln w="10160">
            <a:solidFill>
              <a:srgbClr val="E11D48">
                <a:alpha val="40000"/>
              </a:srgbClr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8" name="Text 76"/>
          <p:cNvSpPr/>
          <p:nvPr/>
        </p:nvSpPr>
        <p:spPr>
          <a:xfrm>
            <a:off x="987552" y="4306824"/>
            <a:ext cx="10195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구조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987552" y="4599432"/>
            <a:ext cx="1019556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학습 영역은 Oracle 데이터와 CatBoost가 담당하고, 서비스 영역은 Flask API와 HTML/CSS/JavaScript 화면이 담당한다. 챗봇 서버는 별도 포트에서 실행되어 메인 Flask 서버와 API로 연결된다.</a:t>
            </a:r>
            <a:endParaRPr lang="en-US" sz="8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94360" y="-685800"/>
            <a:ext cx="2057400" cy="2057400"/>
          </a:xfrm>
          <a:prstGeom prst="ellipse">
            <a:avLst/>
          </a:prstGeom>
          <a:solidFill>
            <a:srgbClr val="F1F5F9">
              <a:alpha val="94000"/>
            </a:srgbClr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109728" y="-155448"/>
            <a:ext cx="960120" cy="96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0698480" y="5760720"/>
            <a:ext cx="1874520" cy="1874520"/>
          </a:xfrm>
          <a:prstGeom prst="ellipse">
            <a:avLst/>
          </a:prstGeom>
          <a:solidFill>
            <a:srgbClr val="F1F5F9">
              <a:alpha val="92000"/>
            </a:srgbClr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1173968" y="6199632"/>
            <a:ext cx="960120" cy="96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1292840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02336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1439144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48640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1585448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94944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1731752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41248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1878056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987552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1292840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02336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1439144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548640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1585448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94944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1731752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841248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11878056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87552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11292840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402336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11439144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548640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11585448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694944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1731752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841248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1878056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987552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11292840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402336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11439144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548640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11585448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694944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11731752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841248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11878056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987552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11292840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402336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11439144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548640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11585448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694944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11731752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841248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11878056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987552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11594592" y="6528816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713232" y="42062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Modules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94944" y="74980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3.2 주요 모듈 설명</a:t>
            </a:r>
            <a:endParaRPr lang="en-US" sz="2300" dirty="0"/>
          </a:p>
        </p:txBody>
      </p:sp>
      <p:sp>
        <p:nvSpPr>
          <p:cNvPr id="59" name="Text 57"/>
          <p:cNvSpPr/>
          <p:nvPr/>
        </p:nvSpPr>
        <p:spPr>
          <a:xfrm>
            <a:off x="713232" y="1243584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파일의 역할과 연결 흐름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749808" y="1783080"/>
            <a:ext cx="3511296" cy="1051560"/>
          </a:xfrm>
          <a:prstGeom prst="roundRect">
            <a:avLst>
              <a:gd name="adj" fmla="val 9565"/>
            </a:avLst>
          </a:prstGeom>
          <a:solidFill>
            <a:srgbClr val="F8FBFF"/>
          </a:solidFill>
          <a:ln w="10160">
            <a:solidFill>
              <a:srgbClr val="2563EB">
                <a:alpha val="40000"/>
              </a:srgbClr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/>
          <p:nvPr/>
        </p:nvSpPr>
        <p:spPr>
          <a:xfrm>
            <a:off x="932688" y="1929384"/>
            <a:ext cx="3145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load_to_oracle.py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932688" y="2221992"/>
            <a:ext cx="314553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CSV 데이터를 읽고 USERS, ECONOMY, SUBSCRIPTION, USAGE_BEHAVIOR 및 복수응답 테이블에 적재</a:t>
            </a:r>
            <a:endParaRPr lang="en-US" sz="820" dirty="0"/>
          </a:p>
        </p:txBody>
      </p:sp>
      <p:sp>
        <p:nvSpPr>
          <p:cNvPr id="63" name="Shape 61"/>
          <p:cNvSpPr/>
          <p:nvPr/>
        </p:nvSpPr>
        <p:spPr>
          <a:xfrm>
            <a:off x="4352544" y="1783080"/>
            <a:ext cx="3511296" cy="1051560"/>
          </a:xfrm>
          <a:prstGeom prst="roundRect">
            <a:avLst>
              <a:gd name="adj" fmla="val 9565"/>
            </a:avLst>
          </a:prstGeom>
          <a:solidFill>
            <a:srgbClr val="FFF8F8"/>
          </a:solidFill>
          <a:ln w="10160">
            <a:solidFill>
              <a:srgbClr val="E11D48">
                <a:alpha val="40000"/>
              </a:srgbClr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2"/>
          <p:cNvSpPr/>
          <p:nvPr/>
        </p:nvSpPr>
        <p:spPr>
          <a:xfrm>
            <a:off x="4535424" y="1929384"/>
            <a:ext cx="3145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train_risk_model.py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4535424" y="2221992"/>
            <a:ext cx="314553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Oracle DB에서 조인 데이터를 불러오고 파생변수를 생성한 뒤 CatBoost 모델을 학습</a:t>
            </a:r>
            <a:endParaRPr lang="en-US" sz="820" dirty="0"/>
          </a:p>
        </p:txBody>
      </p:sp>
      <p:sp>
        <p:nvSpPr>
          <p:cNvPr id="66" name="Shape 64"/>
          <p:cNvSpPr/>
          <p:nvPr/>
        </p:nvSpPr>
        <p:spPr>
          <a:xfrm>
            <a:off x="7955280" y="1783080"/>
            <a:ext cx="3474720" cy="1051560"/>
          </a:xfrm>
          <a:prstGeom prst="roundRect">
            <a:avLst>
              <a:gd name="adj" fmla="val 9565"/>
            </a:avLst>
          </a:prstGeom>
          <a:solidFill>
            <a:srgbClr val="F8FFFB"/>
          </a:solidFill>
          <a:ln w="10160">
            <a:solidFill>
              <a:srgbClr val="16A34A">
                <a:alpha val="40000"/>
              </a:srgbClr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5"/>
          <p:cNvSpPr/>
          <p:nvPr/>
        </p:nvSpPr>
        <p:spPr>
          <a:xfrm>
            <a:off x="8138160" y="1929384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app.py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8138160" y="2221992"/>
            <a:ext cx="310896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산출물을 로드하고 /predict API, 화면 라우팅, /chat 연동을 제공</a:t>
            </a:r>
            <a:endParaRPr lang="en-US" sz="820" dirty="0"/>
          </a:p>
        </p:txBody>
      </p:sp>
      <p:sp>
        <p:nvSpPr>
          <p:cNvPr id="69" name="Shape 67"/>
          <p:cNvSpPr/>
          <p:nvPr/>
        </p:nvSpPr>
        <p:spPr>
          <a:xfrm>
            <a:off x="749808" y="3273552"/>
            <a:ext cx="5212080" cy="960120"/>
          </a:xfrm>
          <a:prstGeom prst="roundRect">
            <a:avLst>
              <a:gd name="adj" fmla="val 10476"/>
            </a:avLst>
          </a:prstGeom>
          <a:solidFill>
            <a:srgbClr val="FAF8FF"/>
          </a:solidFill>
          <a:ln w="10160">
            <a:solidFill>
              <a:srgbClr val="7C3AED">
                <a:alpha val="40000"/>
              </a:srgbClr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8"/>
          <p:cNvSpPr/>
          <p:nvPr/>
        </p:nvSpPr>
        <p:spPr>
          <a:xfrm>
            <a:off x="932688" y="3419856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 / CSS / JavaScript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932688" y="3712464"/>
            <a:ext cx="484632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index, sc1, sc2, chatbot 화면을 구성하고 fetch 요청으로 예측 결과와 챗봇 답변을 표시</a:t>
            </a:r>
            <a:endParaRPr lang="en-US" sz="820" dirty="0"/>
          </a:p>
        </p:txBody>
      </p:sp>
      <p:sp>
        <p:nvSpPr>
          <p:cNvPr id="72" name="Shape 70"/>
          <p:cNvSpPr/>
          <p:nvPr/>
        </p:nvSpPr>
        <p:spPr>
          <a:xfrm>
            <a:off x="6236208" y="3273552"/>
            <a:ext cx="5193792" cy="960120"/>
          </a:xfrm>
          <a:prstGeom prst="roundRect">
            <a:avLst>
              <a:gd name="adj" fmla="val 10476"/>
            </a:avLst>
          </a:prstGeom>
          <a:solidFill>
            <a:srgbClr val="FFFBEB"/>
          </a:solidFill>
          <a:ln w="10160">
            <a:solidFill>
              <a:srgbClr val="D97706">
                <a:alpha val="40000"/>
              </a:srgbClr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3" name="Text 71"/>
          <p:cNvSpPr/>
          <p:nvPr/>
        </p:nvSpPr>
        <p:spPr>
          <a:xfrm>
            <a:off x="6419088" y="3419856"/>
            <a:ext cx="4828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chatbot_server.py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6419088" y="3712464"/>
            <a:ext cx="4828032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PEFT 어댑터 기반 LLM을 로드하고 질문 필터링, 후처리, 한국어 답변 규칙을 적용</a:t>
            </a:r>
            <a:endParaRPr lang="en-US" sz="8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94360" y="-685800"/>
            <a:ext cx="2057400" cy="2057400"/>
          </a:xfrm>
          <a:prstGeom prst="ellipse">
            <a:avLst/>
          </a:prstGeom>
          <a:solidFill>
            <a:srgbClr val="F1F5F9">
              <a:alpha val="94000"/>
            </a:srgbClr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109728" y="-155448"/>
            <a:ext cx="960120" cy="96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0698480" y="5760720"/>
            <a:ext cx="1874520" cy="1874520"/>
          </a:xfrm>
          <a:prstGeom prst="ellipse">
            <a:avLst/>
          </a:prstGeom>
          <a:solidFill>
            <a:srgbClr val="F1F5F9">
              <a:alpha val="92000"/>
            </a:srgbClr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1173968" y="6199632"/>
            <a:ext cx="960120" cy="96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1292840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02336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1439144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48640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1585448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94944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1731752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41248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1878056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987552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1292840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02336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1439144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548640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1585448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94944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1731752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841248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11878056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87552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11292840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402336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11439144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548640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11585448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694944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1731752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841248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1878056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987552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11292840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402336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11439144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548640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11585448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694944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11731752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841248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11878056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987552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11292840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402336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11439144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548640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11585448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694944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11731752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841248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11878056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987552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11594592" y="6528816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713232" y="42062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Pipeline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94944" y="74980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3.3 데이터 흐름도 및 파이프라인</a:t>
            </a:r>
            <a:endParaRPr lang="en-US" sz="2300" dirty="0"/>
          </a:p>
        </p:txBody>
      </p:sp>
      <p:sp>
        <p:nvSpPr>
          <p:cNvPr id="59" name="Text 57"/>
          <p:cNvSpPr/>
          <p:nvPr/>
        </p:nvSpPr>
        <p:spPr>
          <a:xfrm>
            <a:off x="713232" y="1243584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데이터 생성부터 예측 응답까지의 흐름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960120" y="2103120"/>
            <a:ext cx="1097280" cy="621792"/>
          </a:xfrm>
          <a:prstGeom prst="roundRect">
            <a:avLst>
              <a:gd name="adj" fmla="val 16176"/>
            </a:avLst>
          </a:prstGeom>
          <a:solidFill>
            <a:srgbClr val="EFF6FF"/>
          </a:solidFill>
          <a:ln w="10160">
            <a:solidFill>
              <a:srgbClr val="2563EB">
                <a:alpha val="50000"/>
              </a:srgbClr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/>
          <p:nvPr/>
        </p:nvSpPr>
        <p:spPr>
          <a:xfrm>
            <a:off x="1033272" y="2240280"/>
            <a:ext cx="9509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CSV</a:t>
            </a:r>
            <a:endParaRPr lang="en-US" sz="810" dirty="0"/>
          </a:p>
          <a:p>
            <a:pPr marL="0" indent="0" algn="ctr">
              <a:buNone/>
            </a:pPr>
            <a:r>
              <a:rPr lang="en-US" sz="81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로드</a:t>
            </a:r>
            <a:endParaRPr lang="en-US" sz="810" dirty="0"/>
          </a:p>
        </p:txBody>
      </p:sp>
      <p:sp>
        <p:nvSpPr>
          <p:cNvPr id="62" name="Shape 60"/>
          <p:cNvSpPr/>
          <p:nvPr/>
        </p:nvSpPr>
        <p:spPr>
          <a:xfrm>
            <a:off x="2103120" y="2414016"/>
            <a:ext cx="39319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2542032" y="2103120"/>
            <a:ext cx="1097280" cy="621792"/>
          </a:xfrm>
          <a:prstGeom prst="roundRect">
            <a:avLst>
              <a:gd name="adj" fmla="val 16176"/>
            </a:avLst>
          </a:prstGeom>
          <a:solidFill>
            <a:srgbClr val="F0FDF4"/>
          </a:solidFill>
          <a:ln w="10160">
            <a:solidFill>
              <a:srgbClr val="16A34A">
                <a:alpha val="50000"/>
              </a:srgbClr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2"/>
          <p:cNvSpPr/>
          <p:nvPr/>
        </p:nvSpPr>
        <p:spPr>
          <a:xfrm>
            <a:off x="2615184" y="2240280"/>
            <a:ext cx="9509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전처리</a:t>
            </a:r>
            <a:endParaRPr lang="en-US" sz="810" dirty="0"/>
          </a:p>
          <a:p>
            <a:pPr marL="0" indent="0" algn="ctr">
              <a:buNone/>
            </a:pPr>
            <a:r>
              <a:rPr lang="en-US" sz="81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필터링</a:t>
            </a:r>
            <a:endParaRPr lang="en-US" sz="810" dirty="0"/>
          </a:p>
        </p:txBody>
      </p:sp>
      <p:sp>
        <p:nvSpPr>
          <p:cNvPr id="65" name="Shape 63"/>
          <p:cNvSpPr/>
          <p:nvPr/>
        </p:nvSpPr>
        <p:spPr>
          <a:xfrm>
            <a:off x="3685032" y="2414016"/>
            <a:ext cx="39319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4123944" y="2103120"/>
            <a:ext cx="1097280" cy="621792"/>
          </a:xfrm>
          <a:prstGeom prst="roundRect">
            <a:avLst>
              <a:gd name="adj" fmla="val 16176"/>
            </a:avLst>
          </a:prstGeom>
          <a:solidFill>
            <a:srgbClr val="FFFBEB"/>
          </a:solidFill>
          <a:ln w="10160">
            <a:solidFill>
              <a:srgbClr val="D97706">
                <a:alpha val="50000"/>
              </a:srgbClr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5"/>
          <p:cNvSpPr/>
          <p:nvPr/>
        </p:nvSpPr>
        <p:spPr>
          <a:xfrm>
            <a:off x="4197096" y="2240280"/>
            <a:ext cx="9509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Oracle</a:t>
            </a:r>
            <a:endParaRPr lang="en-US" sz="810" dirty="0"/>
          </a:p>
          <a:p>
            <a:pPr marL="0" indent="0" algn="ctr">
              <a:buNone/>
            </a:pPr>
            <a:r>
              <a:rPr lang="en-US" sz="81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적재</a:t>
            </a:r>
            <a:endParaRPr lang="en-US" sz="810" dirty="0"/>
          </a:p>
        </p:txBody>
      </p:sp>
      <p:sp>
        <p:nvSpPr>
          <p:cNvPr id="68" name="Shape 66"/>
          <p:cNvSpPr/>
          <p:nvPr/>
        </p:nvSpPr>
        <p:spPr>
          <a:xfrm>
            <a:off x="5266944" y="2414016"/>
            <a:ext cx="39319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5705856" y="2103120"/>
            <a:ext cx="1097280" cy="621792"/>
          </a:xfrm>
          <a:prstGeom prst="roundRect">
            <a:avLst>
              <a:gd name="adj" fmla="val 16176"/>
            </a:avLst>
          </a:prstGeom>
          <a:solidFill>
            <a:srgbClr val="F5F3FF"/>
          </a:solidFill>
          <a:ln w="10160">
            <a:solidFill>
              <a:srgbClr val="7C3AED">
                <a:alpha val="50000"/>
              </a:srgbClr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8"/>
          <p:cNvSpPr/>
          <p:nvPr/>
        </p:nvSpPr>
        <p:spPr>
          <a:xfrm>
            <a:off x="5779008" y="2240280"/>
            <a:ext cx="9509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복수응답</a:t>
            </a:r>
            <a:endParaRPr lang="en-US" sz="810" dirty="0"/>
          </a:p>
          <a:p>
            <a:pPr marL="0" indent="0" algn="ctr">
              <a:buNone/>
            </a:pPr>
            <a:r>
              <a:rPr lang="en-US" sz="81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집계</a:t>
            </a:r>
            <a:endParaRPr lang="en-US" sz="810" dirty="0"/>
          </a:p>
        </p:txBody>
      </p:sp>
      <p:sp>
        <p:nvSpPr>
          <p:cNvPr id="71" name="Shape 69"/>
          <p:cNvSpPr/>
          <p:nvPr/>
        </p:nvSpPr>
        <p:spPr>
          <a:xfrm>
            <a:off x="6848856" y="2414016"/>
            <a:ext cx="39319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7287768" y="2103120"/>
            <a:ext cx="1097280" cy="621792"/>
          </a:xfrm>
          <a:prstGeom prst="roundRect">
            <a:avLst>
              <a:gd name="adj" fmla="val 16176"/>
            </a:avLst>
          </a:prstGeom>
          <a:solidFill>
            <a:srgbClr val="EFF6FF"/>
          </a:solidFill>
          <a:ln w="10160">
            <a:solidFill>
              <a:srgbClr val="2563EB">
                <a:alpha val="50000"/>
              </a:srgbClr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3" name="Text 71"/>
          <p:cNvSpPr/>
          <p:nvPr/>
        </p:nvSpPr>
        <p:spPr>
          <a:xfrm>
            <a:off x="7360920" y="2240280"/>
            <a:ext cx="9509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파생변수</a:t>
            </a:r>
            <a:endParaRPr lang="en-US" sz="810" dirty="0"/>
          </a:p>
          <a:p>
            <a:pPr marL="0" indent="0" algn="ctr">
              <a:buNone/>
            </a:pPr>
            <a:r>
              <a:rPr lang="en-US" sz="81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</a:t>
            </a:r>
            <a:endParaRPr lang="en-US" sz="810" dirty="0"/>
          </a:p>
        </p:txBody>
      </p:sp>
      <p:sp>
        <p:nvSpPr>
          <p:cNvPr id="74" name="Shape 72"/>
          <p:cNvSpPr/>
          <p:nvPr/>
        </p:nvSpPr>
        <p:spPr>
          <a:xfrm>
            <a:off x="8430768" y="2414016"/>
            <a:ext cx="39319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8869680" y="2103120"/>
            <a:ext cx="1097280" cy="621792"/>
          </a:xfrm>
          <a:prstGeom prst="roundRect">
            <a:avLst>
              <a:gd name="adj" fmla="val 16176"/>
            </a:avLst>
          </a:prstGeom>
          <a:solidFill>
            <a:srgbClr val="FFF1F2"/>
          </a:solidFill>
          <a:ln w="10160">
            <a:solidFill>
              <a:srgbClr val="E11D48">
                <a:alpha val="50000"/>
              </a:srgbClr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6" name="Text 74"/>
          <p:cNvSpPr/>
          <p:nvPr/>
        </p:nvSpPr>
        <p:spPr>
          <a:xfrm>
            <a:off x="8942832" y="2240280"/>
            <a:ext cx="9509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</a:t>
            </a:r>
            <a:endParaRPr lang="en-US" sz="810" dirty="0"/>
          </a:p>
          <a:p>
            <a:pPr marL="0" indent="0" algn="ctr">
              <a:buNone/>
            </a:pPr>
            <a:r>
              <a:rPr lang="en-US" sz="81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</a:t>
            </a:r>
            <a:endParaRPr lang="en-US" sz="810" dirty="0"/>
          </a:p>
        </p:txBody>
      </p:sp>
      <p:sp>
        <p:nvSpPr>
          <p:cNvPr id="77" name="Shape 75"/>
          <p:cNvSpPr/>
          <p:nvPr/>
        </p:nvSpPr>
        <p:spPr>
          <a:xfrm>
            <a:off x="896112" y="3822192"/>
            <a:ext cx="10469880" cy="877824"/>
          </a:xfrm>
          <a:prstGeom prst="roundRect">
            <a:avLst>
              <a:gd name="adj" fmla="val 11458"/>
            </a:avLst>
          </a:prstGeom>
          <a:solidFill>
            <a:srgbClr val="FFF8F8"/>
          </a:solidFill>
          <a:ln w="10160">
            <a:solidFill>
              <a:srgbClr val="E11D48">
                <a:alpha val="40000"/>
              </a:srgbClr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8" name="Text 76"/>
          <p:cNvSpPr/>
          <p:nvPr/>
        </p:nvSpPr>
        <p:spPr>
          <a:xfrm>
            <a:off x="1078992" y="3968496"/>
            <a:ext cx="10104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파이프라인 요약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1078992" y="4261104"/>
            <a:ext cx="10104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Oracle 조인 결과에 DEVICE_COUNT, OTT_SERVICE_COUNT, CONTENT_TYPE_COUNT, BROADCAST_TYPE_COUNT를 병합하고, WEEKLY_TOTAL_MIN, WEEKEND_RATIO, ENGAGEMENT_SCORE, ACTIVE_DAYS_SCORE를 파생변수로 생성한다.</a:t>
            </a:r>
            <a:endParaRPr lang="en-US" sz="8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94360" y="-685800"/>
            <a:ext cx="2057400" cy="2057400"/>
          </a:xfrm>
          <a:prstGeom prst="ellipse">
            <a:avLst/>
          </a:prstGeom>
          <a:solidFill>
            <a:srgbClr val="F1F5F9">
              <a:alpha val="94000"/>
            </a:srgbClr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109728" y="-155448"/>
            <a:ext cx="960120" cy="96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0698480" y="5760720"/>
            <a:ext cx="1874520" cy="1874520"/>
          </a:xfrm>
          <a:prstGeom prst="ellipse">
            <a:avLst/>
          </a:prstGeom>
          <a:solidFill>
            <a:srgbClr val="F1F5F9">
              <a:alpha val="92000"/>
            </a:srgbClr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1173968" y="6199632"/>
            <a:ext cx="960120" cy="96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1292840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02336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1439144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48640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1585448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94944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1731752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41248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1878056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987552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1292840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02336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1439144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548640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1585448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94944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1731752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841248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11878056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87552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11292840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402336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11439144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548640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11585448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694944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1731752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841248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1878056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987552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11292840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402336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11439144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548640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11585448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694944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11731752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841248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11878056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987552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11292840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402336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11439144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548640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11585448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694944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11731752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841248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11878056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987552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11594592" y="6528816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713232" y="42062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Tech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94944" y="74980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핵심 기술 소개 및 구현 방법</a:t>
            </a:r>
            <a:endParaRPr lang="en-US" sz="2300" dirty="0"/>
          </a:p>
        </p:txBody>
      </p:sp>
      <p:sp>
        <p:nvSpPr>
          <p:cNvPr id="59" name="Text 57"/>
          <p:cNvSpPr/>
          <p:nvPr/>
        </p:nvSpPr>
        <p:spPr>
          <a:xfrm>
            <a:off x="713232" y="1243584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위험군 예측 모델과 프로젝트 전용 LLM 구현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804672" y="1755648"/>
            <a:ext cx="5257800" cy="1389888"/>
          </a:xfrm>
          <a:prstGeom prst="roundRect">
            <a:avLst>
              <a:gd name="adj" fmla="val 7237"/>
            </a:avLst>
          </a:prstGeom>
          <a:solidFill>
            <a:srgbClr val="FFF8F8"/>
          </a:solidFill>
          <a:ln w="10160">
            <a:solidFill>
              <a:srgbClr val="E11D48">
                <a:alpha val="40000"/>
              </a:srgbClr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/>
          <p:nvPr/>
        </p:nvSpPr>
        <p:spPr>
          <a:xfrm>
            <a:off x="987552" y="1901952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CatBoost 위험군 분류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987552" y="2194560"/>
            <a:ext cx="489204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범주형 변수와 수치형 변수를 함께 사용하여 안전/주의/위험 3-class 분류를 수행한다. auto_class_weights="Balanced"를 적용해 클래스 불균형을 완화하고 TotalF1 기준으로 평가한다.</a:t>
            </a:r>
            <a:endParaRPr lang="en-US" sz="820" dirty="0"/>
          </a:p>
        </p:txBody>
      </p:sp>
      <p:sp>
        <p:nvSpPr>
          <p:cNvPr id="63" name="Shape 61"/>
          <p:cNvSpPr/>
          <p:nvPr/>
        </p:nvSpPr>
        <p:spPr>
          <a:xfrm>
            <a:off x="6236208" y="1755648"/>
            <a:ext cx="5138928" cy="1389888"/>
          </a:xfrm>
          <a:prstGeom prst="roundRect">
            <a:avLst>
              <a:gd name="adj" fmla="val 7237"/>
            </a:avLst>
          </a:prstGeom>
          <a:solidFill>
            <a:srgbClr val="FAF8FF"/>
          </a:solidFill>
          <a:ln w="10160">
            <a:solidFill>
              <a:srgbClr val="7C3AED">
                <a:alpha val="40000"/>
              </a:srgbClr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2"/>
          <p:cNvSpPr/>
          <p:nvPr/>
        </p:nvSpPr>
        <p:spPr>
          <a:xfrm>
            <a:off x="6419088" y="1901952"/>
            <a:ext cx="4773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QLoRA 코드 챗봇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419088" y="2194560"/>
            <a:ext cx="4773168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파일 역할, API 흐름, 오류 해결 예시를 포함한 Q&amp;A 데이터로 어댑터를 학습한다. 챗봇 서버는 질문 필터링과 후처리를 통해 프로젝트 관련 답변을 제공한다.</a:t>
            </a:r>
            <a:endParaRPr lang="en-US" sz="820" dirty="0"/>
          </a:p>
        </p:txBody>
      </p:sp>
      <p:sp>
        <p:nvSpPr>
          <p:cNvPr id="66" name="Shape 64"/>
          <p:cNvSpPr/>
          <p:nvPr/>
        </p:nvSpPr>
        <p:spPr>
          <a:xfrm>
            <a:off x="804672" y="3721608"/>
            <a:ext cx="10570464" cy="877824"/>
          </a:xfrm>
          <a:prstGeom prst="roundRect">
            <a:avLst>
              <a:gd name="adj" fmla="val 11458"/>
            </a:avLst>
          </a:prstGeom>
          <a:solidFill>
            <a:srgbClr val="F8FBFF"/>
          </a:solidFill>
          <a:ln w="10160">
            <a:solidFill>
              <a:srgbClr val="2563EB">
                <a:alpha val="40000"/>
              </a:srgbClr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5"/>
          <p:cNvSpPr/>
          <p:nvPr/>
        </p:nvSpPr>
        <p:spPr>
          <a:xfrm>
            <a:off x="987552" y="3867912"/>
            <a:ext cx="10204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연동 방식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987552" y="4160520"/>
            <a:ext cx="10204704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sc1.html에서 사용자가 선택한 값을 JSON payload로 구성하고 fetch("/predict")로 전송한다. Flask는 입력값을 모델 컬럼에 맞게 전처리한 뒤 risk_group과 probabilities를 JSON으로 반환한다.</a:t>
            </a:r>
            <a:endParaRPr lang="en-US" sz="8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94360" y="-685800"/>
            <a:ext cx="2057400" cy="2057400"/>
          </a:xfrm>
          <a:prstGeom prst="ellipse">
            <a:avLst/>
          </a:prstGeom>
          <a:solidFill>
            <a:srgbClr val="F1F5F9">
              <a:alpha val="94000"/>
            </a:srgbClr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109728" y="-155448"/>
            <a:ext cx="960120" cy="96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0698480" y="5760720"/>
            <a:ext cx="1874520" cy="1874520"/>
          </a:xfrm>
          <a:prstGeom prst="ellipse">
            <a:avLst/>
          </a:prstGeom>
          <a:solidFill>
            <a:srgbClr val="F1F5F9">
              <a:alpha val="92000"/>
            </a:srgbClr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1173968" y="6199632"/>
            <a:ext cx="960120" cy="96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1292840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02336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1439144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48640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1585448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94944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1731752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41248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1878056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987552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1292840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02336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1439144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548640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1585448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94944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1731752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841248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11878056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87552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11292840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402336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11439144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548640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11585448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694944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1731752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841248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1878056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987552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11292840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402336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11439144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548640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11585448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694944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11731752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841248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11878056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987552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11292840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402336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11439144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548640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11585448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694944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11731752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841248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11878056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987552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11594592" y="6528816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713232" y="42062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Tech Stack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94944" y="74980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사용한 기술 스택 및 모델</a:t>
            </a:r>
            <a:endParaRPr lang="en-US" sz="2300" dirty="0"/>
          </a:p>
        </p:txBody>
      </p:sp>
      <p:sp>
        <p:nvSpPr>
          <p:cNvPr id="59" name="Text 57"/>
          <p:cNvSpPr/>
          <p:nvPr/>
        </p:nvSpPr>
        <p:spPr>
          <a:xfrm>
            <a:off x="713232" y="1243584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언어 · 프레임워크 · AI 모델 · 기타 도구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749808" y="1783080"/>
            <a:ext cx="5212080" cy="868680"/>
          </a:xfrm>
          <a:prstGeom prst="roundRect">
            <a:avLst>
              <a:gd name="adj" fmla="val 11579"/>
            </a:avLst>
          </a:prstGeom>
          <a:solidFill>
            <a:srgbClr val="F8FBFF"/>
          </a:solidFill>
          <a:ln w="10160">
            <a:solidFill>
              <a:srgbClr val="2563EB">
                <a:alpha val="40000"/>
              </a:srgbClr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/>
          <p:nvPr/>
        </p:nvSpPr>
        <p:spPr>
          <a:xfrm>
            <a:off x="932688" y="1929384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언어 및 프레임워크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932688" y="2221992"/>
            <a:ext cx="484632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Python, Flask, JavaScript, HTML, CSS, Oracle DB, pandas, scikit-learn</a:t>
            </a:r>
            <a:endParaRPr lang="en-US" sz="820" dirty="0"/>
          </a:p>
        </p:txBody>
      </p:sp>
      <p:sp>
        <p:nvSpPr>
          <p:cNvPr id="63" name="Shape 61"/>
          <p:cNvSpPr/>
          <p:nvPr/>
        </p:nvSpPr>
        <p:spPr>
          <a:xfrm>
            <a:off x="6236208" y="1783080"/>
            <a:ext cx="5193792" cy="868680"/>
          </a:xfrm>
          <a:prstGeom prst="roundRect">
            <a:avLst>
              <a:gd name="adj" fmla="val 11579"/>
            </a:avLst>
          </a:prstGeom>
          <a:solidFill>
            <a:srgbClr val="FFF8F8"/>
          </a:solidFill>
          <a:ln w="10160">
            <a:solidFill>
              <a:srgbClr val="E11D48">
                <a:alpha val="40000"/>
              </a:srgbClr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2"/>
          <p:cNvSpPr/>
          <p:nvPr/>
        </p:nvSpPr>
        <p:spPr>
          <a:xfrm>
            <a:off x="6419088" y="1929384"/>
            <a:ext cx="4828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모델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419088" y="2221992"/>
            <a:ext cx="482803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CatBoostClassifier 기반 3-class 분류 모델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Qwen2.5 기반 PEFT/QLoRA 프로젝트 코드 챗봇</a:t>
            </a:r>
            <a:endParaRPr lang="en-US" sz="820" dirty="0"/>
          </a:p>
        </p:txBody>
      </p:sp>
      <p:sp>
        <p:nvSpPr>
          <p:cNvPr id="66" name="Shape 64"/>
          <p:cNvSpPr/>
          <p:nvPr/>
        </p:nvSpPr>
        <p:spPr>
          <a:xfrm>
            <a:off x="749808" y="3127248"/>
            <a:ext cx="5212080" cy="868680"/>
          </a:xfrm>
          <a:prstGeom prst="roundRect">
            <a:avLst>
              <a:gd name="adj" fmla="val 11579"/>
            </a:avLst>
          </a:prstGeom>
          <a:solidFill>
            <a:srgbClr val="F8FFFB"/>
          </a:solidFill>
          <a:ln w="10160">
            <a:solidFill>
              <a:srgbClr val="16A34A">
                <a:alpha val="40000"/>
              </a:srgbClr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5"/>
          <p:cNvSpPr/>
          <p:nvPr/>
        </p:nvSpPr>
        <p:spPr>
          <a:xfrm>
            <a:off x="932688" y="3273552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및 DB 도구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932688" y="3566160"/>
            <a:ext cx="484632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Oracle XE, Oracle Python Driver(oracledb), SQL Developer, joblib, pkl 산출물</a:t>
            </a:r>
            <a:endParaRPr lang="en-US" sz="820" dirty="0"/>
          </a:p>
        </p:txBody>
      </p:sp>
      <p:sp>
        <p:nvSpPr>
          <p:cNvPr id="69" name="Shape 67"/>
          <p:cNvSpPr/>
          <p:nvPr/>
        </p:nvSpPr>
        <p:spPr>
          <a:xfrm>
            <a:off x="6236208" y="3127248"/>
            <a:ext cx="5193792" cy="868680"/>
          </a:xfrm>
          <a:prstGeom prst="roundRect">
            <a:avLst>
              <a:gd name="adj" fmla="val 11579"/>
            </a:avLst>
          </a:prstGeom>
          <a:solidFill>
            <a:srgbClr val="FAF8FF"/>
          </a:solidFill>
          <a:ln w="10160">
            <a:solidFill>
              <a:srgbClr val="7C3AED">
                <a:alpha val="40000"/>
              </a:srgbClr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8"/>
          <p:cNvSpPr/>
          <p:nvPr/>
        </p:nvSpPr>
        <p:spPr>
          <a:xfrm>
            <a:off x="6419088" y="3273552"/>
            <a:ext cx="4828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기타 개발 도구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419088" y="3566160"/>
            <a:ext cx="482803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 Code / PyCharm, Colab GPU, Hugging Face Transformers, PEFT, matplotlib</a:t>
            </a:r>
            <a:endParaRPr lang="en-US" sz="820" dirty="0"/>
          </a:p>
        </p:txBody>
      </p:sp>
      <p:sp>
        <p:nvSpPr>
          <p:cNvPr id="72" name="Shape 70"/>
          <p:cNvSpPr/>
          <p:nvPr/>
        </p:nvSpPr>
        <p:spPr>
          <a:xfrm>
            <a:off x="749808" y="4864608"/>
            <a:ext cx="10680192" cy="438912"/>
          </a:xfrm>
          <a:prstGeom prst="roundRect">
            <a:avLst>
              <a:gd name="adj" fmla="val 16667"/>
            </a:avLst>
          </a:prstGeom>
          <a:solidFill>
            <a:srgbClr val="FFFBEB"/>
          </a:solidFill>
          <a:ln w="8890">
            <a:solidFill>
              <a:srgbClr val="D9770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Text 71"/>
          <p:cNvSpPr/>
          <p:nvPr/>
        </p:nvSpPr>
        <p:spPr>
          <a:xfrm>
            <a:off x="859536" y="4937760"/>
            <a:ext cx="10460736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70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산출물: risk_model.pkl · model_columns.pkl · categorical_columns.pkl · QLoRA Adapter · Flask Web UI</a:t>
            </a:r>
            <a:endParaRPr lang="en-US" sz="87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94360" y="-685800"/>
            <a:ext cx="2057400" cy="2057400"/>
          </a:xfrm>
          <a:prstGeom prst="ellipse">
            <a:avLst/>
          </a:prstGeom>
          <a:solidFill>
            <a:srgbClr val="F1F5F9">
              <a:alpha val="94000"/>
            </a:srgbClr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109728" y="-155448"/>
            <a:ext cx="960120" cy="96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0698480" y="5760720"/>
            <a:ext cx="1874520" cy="1874520"/>
          </a:xfrm>
          <a:prstGeom prst="ellipse">
            <a:avLst/>
          </a:prstGeom>
          <a:solidFill>
            <a:srgbClr val="F1F5F9">
              <a:alpha val="92000"/>
            </a:srgbClr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1173968" y="6199632"/>
            <a:ext cx="960120" cy="96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1292840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02336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1439144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48640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1585448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94944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1731752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41248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1878056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987552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1292840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02336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1439144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548640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1585448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94944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1731752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841248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11878056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87552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11292840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402336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11439144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548640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11585448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694944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1731752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841248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1878056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987552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11292840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402336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11439144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548640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11585448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694944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11731752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841248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11878056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987552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11292840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402336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11439144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548640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11585448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694944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11731752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841248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11878056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987552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11594592" y="6528816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713232" y="42062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Development Process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94944" y="74980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6.1 개발 환경 및 일정</a:t>
            </a:r>
            <a:endParaRPr lang="en-US" sz="2300" dirty="0"/>
          </a:p>
        </p:txBody>
      </p:sp>
      <p:sp>
        <p:nvSpPr>
          <p:cNvPr id="59" name="Text 57"/>
          <p:cNvSpPr/>
          <p:nvPr/>
        </p:nvSpPr>
        <p:spPr>
          <a:xfrm>
            <a:off x="713232" y="1243584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 구현 흐름과 환경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822960" y="2011680"/>
            <a:ext cx="1417320" cy="804672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10160">
            <a:solidFill>
              <a:srgbClr val="2563EB">
                <a:alpha val="50000"/>
              </a:srgbClr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/>
          <p:nvPr/>
        </p:nvSpPr>
        <p:spPr>
          <a:xfrm>
            <a:off x="896112" y="2148840"/>
            <a:ext cx="127101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설계</a:t>
            </a:r>
            <a:endParaRPr lang="en-US" sz="810" dirty="0"/>
          </a:p>
          <a:p>
            <a:pPr marL="0" indent="0" algn="ctr">
              <a:buNone/>
            </a:pPr>
            <a:r>
              <a:rPr lang="en-US" sz="81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및 적재</a:t>
            </a:r>
            <a:endParaRPr lang="en-US" sz="810" dirty="0"/>
          </a:p>
        </p:txBody>
      </p:sp>
      <p:sp>
        <p:nvSpPr>
          <p:cNvPr id="62" name="Shape 60"/>
          <p:cNvSpPr/>
          <p:nvPr/>
        </p:nvSpPr>
        <p:spPr>
          <a:xfrm>
            <a:off x="2304288" y="2414016"/>
            <a:ext cx="53035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2926080" y="2011680"/>
            <a:ext cx="1417320" cy="804672"/>
          </a:xfrm>
          <a:prstGeom prst="roundRect">
            <a:avLst>
              <a:gd name="adj" fmla="val 12500"/>
            </a:avLst>
          </a:prstGeom>
          <a:solidFill>
            <a:srgbClr val="FFF1F2"/>
          </a:solidFill>
          <a:ln w="10160">
            <a:solidFill>
              <a:srgbClr val="E11D48">
                <a:alpha val="50000"/>
              </a:srgbClr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2"/>
          <p:cNvSpPr/>
          <p:nvPr/>
        </p:nvSpPr>
        <p:spPr>
          <a:xfrm>
            <a:off x="2999232" y="2148840"/>
            <a:ext cx="127101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학습</a:t>
            </a:r>
            <a:endParaRPr lang="en-US" sz="810" dirty="0"/>
          </a:p>
          <a:p>
            <a:pPr marL="0" indent="0" algn="ctr">
              <a:buNone/>
            </a:pPr>
            <a:r>
              <a:rPr lang="en-US" sz="81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및 평가</a:t>
            </a:r>
            <a:endParaRPr lang="en-US" sz="810" dirty="0"/>
          </a:p>
        </p:txBody>
      </p:sp>
      <p:sp>
        <p:nvSpPr>
          <p:cNvPr id="65" name="Shape 63"/>
          <p:cNvSpPr/>
          <p:nvPr/>
        </p:nvSpPr>
        <p:spPr>
          <a:xfrm>
            <a:off x="4407408" y="2414016"/>
            <a:ext cx="53035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5029200" y="2011680"/>
            <a:ext cx="1417320" cy="804672"/>
          </a:xfrm>
          <a:prstGeom prst="roundRect">
            <a:avLst>
              <a:gd name="adj" fmla="val 12500"/>
            </a:avLst>
          </a:prstGeom>
          <a:solidFill>
            <a:srgbClr val="F0FDF4"/>
          </a:solidFill>
          <a:ln w="10160">
            <a:solidFill>
              <a:srgbClr val="16A34A">
                <a:alpha val="50000"/>
              </a:srgbClr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5"/>
          <p:cNvSpPr/>
          <p:nvPr/>
        </p:nvSpPr>
        <p:spPr>
          <a:xfrm>
            <a:off x="5102352" y="2148840"/>
            <a:ext cx="127101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Flask API</a:t>
            </a:r>
            <a:endParaRPr lang="en-US" sz="810" dirty="0"/>
          </a:p>
          <a:p>
            <a:pPr marL="0" indent="0" algn="ctr">
              <a:buNone/>
            </a:pPr>
            <a:r>
              <a:rPr lang="en-US" sz="81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</a:t>
            </a:r>
            <a:endParaRPr lang="en-US" sz="810" dirty="0"/>
          </a:p>
        </p:txBody>
      </p:sp>
      <p:sp>
        <p:nvSpPr>
          <p:cNvPr id="68" name="Shape 66"/>
          <p:cNvSpPr/>
          <p:nvPr/>
        </p:nvSpPr>
        <p:spPr>
          <a:xfrm>
            <a:off x="6510528" y="2414016"/>
            <a:ext cx="53035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7132320" y="2011680"/>
            <a:ext cx="1417320" cy="804672"/>
          </a:xfrm>
          <a:prstGeom prst="roundRect">
            <a:avLst>
              <a:gd name="adj" fmla="val 12500"/>
            </a:avLst>
          </a:prstGeom>
          <a:solidFill>
            <a:srgbClr val="FFFBEB"/>
          </a:solidFill>
          <a:ln w="10160">
            <a:solidFill>
              <a:srgbClr val="D97706">
                <a:alpha val="50000"/>
              </a:srgbClr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8"/>
          <p:cNvSpPr/>
          <p:nvPr/>
        </p:nvSpPr>
        <p:spPr>
          <a:xfrm>
            <a:off x="7205472" y="2148840"/>
            <a:ext cx="127101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UI</a:t>
            </a:r>
            <a:endParaRPr lang="en-US" sz="810" dirty="0"/>
          </a:p>
          <a:p>
            <a:pPr marL="0" indent="0" algn="ctr">
              <a:buNone/>
            </a:pPr>
            <a:r>
              <a:rPr lang="en-US" sz="81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</a:t>
            </a:r>
            <a:endParaRPr lang="en-US" sz="810" dirty="0"/>
          </a:p>
        </p:txBody>
      </p:sp>
      <p:sp>
        <p:nvSpPr>
          <p:cNvPr id="71" name="Shape 69"/>
          <p:cNvSpPr/>
          <p:nvPr/>
        </p:nvSpPr>
        <p:spPr>
          <a:xfrm>
            <a:off x="8613648" y="2414016"/>
            <a:ext cx="53035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9235440" y="2011680"/>
            <a:ext cx="1417320" cy="804672"/>
          </a:xfrm>
          <a:prstGeom prst="roundRect">
            <a:avLst>
              <a:gd name="adj" fmla="val 12500"/>
            </a:avLst>
          </a:prstGeom>
          <a:solidFill>
            <a:srgbClr val="F5F3FF"/>
          </a:solidFill>
          <a:ln w="10160">
            <a:solidFill>
              <a:srgbClr val="7C3AED">
                <a:alpha val="50000"/>
              </a:srgbClr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3" name="Text 71"/>
          <p:cNvSpPr/>
          <p:nvPr/>
        </p:nvSpPr>
        <p:spPr>
          <a:xfrm>
            <a:off x="9308592" y="2148840"/>
            <a:ext cx="127101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챗봇 연동</a:t>
            </a:r>
            <a:endParaRPr lang="en-US" sz="810" dirty="0"/>
          </a:p>
          <a:p>
            <a:pPr marL="0" indent="0" algn="ctr">
              <a:buNone/>
            </a:pPr>
            <a:r>
              <a:rPr lang="en-US" sz="81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및 테스트</a:t>
            </a:r>
            <a:endParaRPr lang="en-US" sz="810" dirty="0"/>
          </a:p>
        </p:txBody>
      </p:sp>
      <p:sp>
        <p:nvSpPr>
          <p:cNvPr id="74" name="Shape 72"/>
          <p:cNvSpPr/>
          <p:nvPr/>
        </p:nvSpPr>
        <p:spPr>
          <a:xfrm>
            <a:off x="822960" y="3886200"/>
            <a:ext cx="10561320" cy="841248"/>
          </a:xfrm>
          <a:prstGeom prst="roundRect">
            <a:avLst>
              <a:gd name="adj" fmla="val 11957"/>
            </a:avLst>
          </a:prstGeom>
          <a:solidFill>
            <a:srgbClr val="F8FBFF"/>
          </a:solidFill>
          <a:ln w="10160">
            <a:solidFill>
              <a:srgbClr val="2563EB">
                <a:alpha val="40000"/>
              </a:srgbClr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3"/>
          <p:cNvSpPr/>
          <p:nvPr/>
        </p:nvSpPr>
        <p:spPr>
          <a:xfrm>
            <a:off x="1005840" y="4032504"/>
            <a:ext cx="10195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환경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1005840" y="4325112"/>
            <a:ext cx="101955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Windows + Python 3.12 venv · Oracle XE · Flask · CatBoost · Hugging Face Transformers · Colab GPU를 활용해 모델 학습 및 웹 연동을 진행하였다.</a:t>
            </a:r>
            <a:endParaRPr lang="en-US" sz="8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94360" y="-685800"/>
            <a:ext cx="2057400" cy="2057400"/>
          </a:xfrm>
          <a:prstGeom prst="ellipse">
            <a:avLst/>
          </a:prstGeom>
          <a:solidFill>
            <a:srgbClr val="F1F5F9">
              <a:alpha val="94000"/>
            </a:srgbClr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109728" y="-155448"/>
            <a:ext cx="960120" cy="96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0698480" y="5760720"/>
            <a:ext cx="1874520" cy="1874520"/>
          </a:xfrm>
          <a:prstGeom prst="ellipse">
            <a:avLst/>
          </a:prstGeom>
          <a:solidFill>
            <a:srgbClr val="F1F5F9">
              <a:alpha val="92000"/>
            </a:srgbClr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1173968" y="6199632"/>
            <a:ext cx="960120" cy="96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1292840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02336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1439144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48640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1585448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94944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1731752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41248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1878056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987552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1292840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02336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1439144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548640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1585448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94944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1731752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841248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11878056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87552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11292840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402336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11439144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548640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11585448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694944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1731752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841248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1878056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987552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11292840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402336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11439144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548640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11585448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694944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11731752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841248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11878056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987552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11292840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402336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11439144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548640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11585448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694944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11731752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841248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11878056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987552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11594592" y="6528816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713232" y="42062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Implementation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94944" y="74980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6.2 주요 구현 내용</a:t>
            </a:r>
            <a:endParaRPr lang="en-US" sz="2300" dirty="0"/>
          </a:p>
        </p:txBody>
      </p:sp>
      <p:sp>
        <p:nvSpPr>
          <p:cNvPr id="59" name="Text 57"/>
          <p:cNvSpPr/>
          <p:nvPr/>
        </p:nvSpPr>
        <p:spPr>
          <a:xfrm>
            <a:off x="713232" y="1243584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예측 기능과 챗봇 기능의 구현 내용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804672" y="1828800"/>
            <a:ext cx="3291840" cy="2240280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10160">
            <a:solidFill>
              <a:srgbClr val="E11D48">
                <a:alpha val="30000"/>
              </a:srgbClr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1060704" y="1869948"/>
            <a:ext cx="502920" cy="50292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CBD5E1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0"/>
          <p:cNvSpPr/>
          <p:nvPr/>
        </p:nvSpPr>
        <p:spPr>
          <a:xfrm>
            <a:off x="1060704" y="195224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</a:t>
            </a:r>
            <a:endParaRPr lang="en-US" sz="1500" dirty="0"/>
          </a:p>
        </p:txBody>
      </p:sp>
      <p:sp>
        <p:nvSpPr>
          <p:cNvPr id="63" name="Text 61"/>
          <p:cNvSpPr/>
          <p:nvPr/>
        </p:nvSpPr>
        <p:spPr>
          <a:xfrm>
            <a:off x="1060704" y="2564892"/>
            <a:ext cx="2779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Prediction UI</a:t>
            </a:r>
            <a:endParaRPr lang="en-US" sz="2200" dirty="0"/>
          </a:p>
        </p:txBody>
      </p:sp>
      <p:sp>
        <p:nvSpPr>
          <p:cNvPr id="64" name="Shape 62"/>
          <p:cNvSpPr/>
          <p:nvPr/>
        </p:nvSpPr>
        <p:spPr>
          <a:xfrm>
            <a:off x="1060704" y="3076956"/>
            <a:ext cx="841248" cy="0"/>
          </a:xfrm>
          <a:prstGeom prst="line">
            <a:avLst/>
          </a:prstGeom>
          <a:noFill/>
          <a:ln w="2286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3"/>
          <p:cNvSpPr/>
          <p:nvPr/>
        </p:nvSpPr>
        <p:spPr>
          <a:xfrm>
            <a:off x="1060704" y="3228267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이탈 위험군 예측 화면</a:t>
            </a:r>
            <a:endParaRPr lang="en-US" sz="1020" dirty="0"/>
          </a:p>
        </p:txBody>
      </p:sp>
      <p:sp>
        <p:nvSpPr>
          <p:cNvPr id="66" name="Text 64"/>
          <p:cNvSpPr/>
          <p:nvPr/>
        </p:nvSpPr>
        <p:spPr>
          <a:xfrm>
            <a:off x="1060704" y="3594027"/>
            <a:ext cx="2779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입력을 받아 안전·주의·위험과 확률을 표시</a:t>
            </a:r>
            <a:endParaRPr lang="en-US" sz="1040" dirty="0"/>
          </a:p>
        </p:txBody>
      </p:sp>
      <p:sp>
        <p:nvSpPr>
          <p:cNvPr id="67" name="Shape 65"/>
          <p:cNvSpPr/>
          <p:nvPr/>
        </p:nvSpPr>
        <p:spPr>
          <a:xfrm>
            <a:off x="4443984" y="1828800"/>
            <a:ext cx="3291840" cy="2240280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10160">
            <a:solidFill>
              <a:srgbClr val="2563EB">
                <a:alpha val="30000"/>
              </a:srgbClr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4700016" y="1869948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CBD5E1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7"/>
          <p:cNvSpPr/>
          <p:nvPr/>
        </p:nvSpPr>
        <p:spPr>
          <a:xfrm>
            <a:off x="4700016" y="195224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</a:t>
            </a:r>
            <a:endParaRPr lang="en-US" sz="1500" dirty="0"/>
          </a:p>
        </p:txBody>
      </p:sp>
      <p:sp>
        <p:nvSpPr>
          <p:cNvPr id="70" name="Text 68"/>
          <p:cNvSpPr/>
          <p:nvPr/>
        </p:nvSpPr>
        <p:spPr>
          <a:xfrm>
            <a:off x="4700016" y="2564892"/>
            <a:ext cx="2779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Risk Summary</a:t>
            </a:r>
            <a:endParaRPr lang="en-US" sz="2200" dirty="0"/>
          </a:p>
        </p:txBody>
      </p:sp>
      <p:sp>
        <p:nvSpPr>
          <p:cNvPr id="71" name="Shape 69"/>
          <p:cNvSpPr/>
          <p:nvPr/>
        </p:nvSpPr>
        <p:spPr>
          <a:xfrm>
            <a:off x="4700016" y="3076956"/>
            <a:ext cx="841248" cy="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70"/>
          <p:cNvSpPr/>
          <p:nvPr/>
        </p:nvSpPr>
        <p:spPr>
          <a:xfrm>
            <a:off x="4700016" y="3228267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 가능한 결과 요약</a:t>
            </a:r>
            <a:endParaRPr lang="en-US" sz="1020" dirty="0"/>
          </a:p>
        </p:txBody>
      </p:sp>
      <p:sp>
        <p:nvSpPr>
          <p:cNvPr id="73" name="Text 71"/>
          <p:cNvSpPr/>
          <p:nvPr/>
        </p:nvSpPr>
        <p:spPr>
          <a:xfrm>
            <a:off x="4700016" y="3594027"/>
            <a:ext cx="2779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위험도, 클래스별 확률, 주요 이탈 원인을 카드 형태로 제공</a:t>
            </a:r>
            <a:endParaRPr lang="en-US" sz="1040" dirty="0"/>
          </a:p>
        </p:txBody>
      </p:sp>
      <p:sp>
        <p:nvSpPr>
          <p:cNvPr id="74" name="Shape 72"/>
          <p:cNvSpPr/>
          <p:nvPr/>
        </p:nvSpPr>
        <p:spPr>
          <a:xfrm>
            <a:off x="8083296" y="1828800"/>
            <a:ext cx="3291840" cy="2240280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10160">
            <a:solidFill>
              <a:srgbClr val="7C3AED">
                <a:alpha val="30000"/>
              </a:srgbClr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8339328" y="1869948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CBD5E1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6" name="Text 74"/>
          <p:cNvSpPr/>
          <p:nvPr/>
        </p:nvSpPr>
        <p:spPr>
          <a:xfrm>
            <a:off x="8339328" y="195224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1500" dirty="0"/>
          </a:p>
        </p:txBody>
      </p:sp>
      <p:sp>
        <p:nvSpPr>
          <p:cNvPr id="77" name="Text 75"/>
          <p:cNvSpPr/>
          <p:nvPr/>
        </p:nvSpPr>
        <p:spPr>
          <a:xfrm>
            <a:off x="8339328" y="2564892"/>
            <a:ext cx="2779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Code Chatbot</a:t>
            </a:r>
            <a:endParaRPr lang="en-US" sz="2200" dirty="0"/>
          </a:p>
        </p:txBody>
      </p:sp>
      <p:sp>
        <p:nvSpPr>
          <p:cNvPr id="78" name="Shape 76"/>
          <p:cNvSpPr/>
          <p:nvPr/>
        </p:nvSpPr>
        <p:spPr>
          <a:xfrm>
            <a:off x="8339328" y="3076956"/>
            <a:ext cx="841248" cy="0"/>
          </a:xfrm>
          <a:prstGeom prst="line">
            <a:avLst/>
          </a:prstGeom>
          <a:noFill/>
          <a:ln w="2286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Text 77"/>
          <p:cNvSpPr/>
          <p:nvPr/>
        </p:nvSpPr>
        <p:spPr>
          <a:xfrm>
            <a:off x="8339328" y="3228267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코드 Q&amp;A</a:t>
            </a:r>
            <a:endParaRPr lang="en-US" sz="1020" dirty="0"/>
          </a:p>
        </p:txBody>
      </p:sp>
      <p:sp>
        <p:nvSpPr>
          <p:cNvPr id="80" name="Text 78"/>
          <p:cNvSpPr/>
          <p:nvPr/>
        </p:nvSpPr>
        <p:spPr>
          <a:xfrm>
            <a:off x="8339328" y="3594027"/>
            <a:ext cx="2779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app.py, /predict, DB 적재, 오류 해결 질문에 답변</a:t>
            </a:r>
            <a:endParaRPr lang="en-US" sz="1040" dirty="0"/>
          </a:p>
        </p:txBody>
      </p:sp>
      <p:sp>
        <p:nvSpPr>
          <p:cNvPr id="81" name="Shape 79"/>
          <p:cNvSpPr/>
          <p:nvPr/>
        </p:nvSpPr>
        <p:spPr>
          <a:xfrm>
            <a:off x="804672" y="4736592"/>
            <a:ext cx="10561320" cy="676656"/>
          </a:xfrm>
          <a:prstGeom prst="roundRect">
            <a:avLst>
              <a:gd name="adj" fmla="val 14865"/>
            </a:avLst>
          </a:prstGeom>
          <a:solidFill>
            <a:srgbClr val="F8FFFB"/>
          </a:solidFill>
          <a:ln w="10160">
            <a:solidFill>
              <a:srgbClr val="16A34A">
                <a:alpha val="40000"/>
              </a:srgbClr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2" name="Text 80"/>
          <p:cNvSpPr/>
          <p:nvPr/>
        </p:nvSpPr>
        <p:spPr>
          <a:xfrm>
            <a:off x="987552" y="4882896"/>
            <a:ext cx="10195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포인트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987552" y="5175504"/>
            <a:ext cx="1019556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모델은 웹 서비스 내부에서 즉시 로드되고, 챗봇은 별도 서버에서 실행되어 Flask 메인 서버의 /chat API와 연결된다.</a:t>
            </a:r>
            <a:endParaRPr lang="en-US" sz="8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94360" y="-685800"/>
            <a:ext cx="2057400" cy="2057400"/>
          </a:xfrm>
          <a:prstGeom prst="ellipse">
            <a:avLst/>
          </a:prstGeom>
          <a:solidFill>
            <a:srgbClr val="F1F5F9">
              <a:alpha val="94000"/>
            </a:srgbClr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109728" y="-155448"/>
            <a:ext cx="960120" cy="96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0698480" y="5760720"/>
            <a:ext cx="1874520" cy="1874520"/>
          </a:xfrm>
          <a:prstGeom prst="ellipse">
            <a:avLst/>
          </a:prstGeom>
          <a:solidFill>
            <a:srgbClr val="F1F5F9">
              <a:alpha val="92000"/>
            </a:srgbClr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1173968" y="6199632"/>
            <a:ext cx="960120" cy="96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1292840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02336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1439144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48640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1585448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94944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1731752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41248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1878056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987552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1292840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02336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1439144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548640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1585448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94944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1731752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841248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11878056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87552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11292840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402336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11439144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548640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11585448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694944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1731752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841248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1878056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987552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11292840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402336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11439144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548640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11585448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694944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11731752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841248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11878056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987552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11292840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402336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11439144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548640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11585448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694944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11731752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841248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11878056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987552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11594592" y="6528816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713232" y="42062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 Evaluation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94944" y="74980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7.1 모델 정확도</a:t>
            </a:r>
            <a:endParaRPr lang="en-US" sz="2300" dirty="0"/>
          </a:p>
        </p:txBody>
      </p:sp>
      <p:sp>
        <p:nvSpPr>
          <p:cNvPr id="59" name="Text 57"/>
          <p:cNvSpPr/>
          <p:nvPr/>
        </p:nvSpPr>
        <p:spPr>
          <a:xfrm>
            <a:off x="713232" y="1243584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CatBoost 학습 결과 및 위험군 분포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786384" y="1719072"/>
            <a:ext cx="5623560" cy="2971800"/>
          </a:xfrm>
          <a:prstGeom prst="roundRect">
            <a:avLst>
              <a:gd name="adj" fmla="val 3385"/>
            </a:avLst>
          </a:prstGeom>
          <a:solidFill>
            <a:srgbClr val="FFFFFF"/>
          </a:solidFill>
          <a:ln w="10160">
            <a:solidFill>
              <a:srgbClr val="2563EB">
                <a:alpha val="40000"/>
              </a:srgbClr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1" name="Image 0" descr="/mnt/data/ppt_assets2/training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920240"/>
            <a:ext cx="5166360" cy="2377440"/>
          </a:xfrm>
          <a:prstGeom prst="rect">
            <a:avLst/>
          </a:prstGeom>
        </p:spPr>
      </p:pic>
      <p:sp>
        <p:nvSpPr>
          <p:cNvPr id="62" name="Shape 59"/>
          <p:cNvSpPr/>
          <p:nvPr/>
        </p:nvSpPr>
        <p:spPr>
          <a:xfrm>
            <a:off x="6720840" y="1719072"/>
            <a:ext cx="4645152" cy="2971800"/>
          </a:xfrm>
          <a:prstGeom prst="roundRect">
            <a:avLst>
              <a:gd name="adj" fmla="val 3385"/>
            </a:avLst>
          </a:prstGeom>
          <a:solidFill>
            <a:srgbClr val="FFFFFF"/>
          </a:solidFill>
          <a:ln w="10160">
            <a:solidFill>
              <a:srgbClr val="E11D48">
                <a:alpha val="40000"/>
              </a:srgbClr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3" name="Image 1" descr="/mnt/data/ppt_assets2/risk_distrib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1975104"/>
            <a:ext cx="3877056" cy="2249424"/>
          </a:xfrm>
          <a:prstGeom prst="rect">
            <a:avLst/>
          </a:prstGeom>
        </p:spPr>
      </p:pic>
      <p:sp>
        <p:nvSpPr>
          <p:cNvPr id="64" name="Shape 60"/>
          <p:cNvSpPr/>
          <p:nvPr/>
        </p:nvSpPr>
        <p:spPr>
          <a:xfrm>
            <a:off x="786384" y="5074920"/>
            <a:ext cx="2011680" cy="713232"/>
          </a:xfrm>
          <a:prstGeom prst="roundRect">
            <a:avLst>
              <a:gd name="adj" fmla="val 14103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1"/>
          <p:cNvSpPr/>
          <p:nvPr/>
        </p:nvSpPr>
        <p:spPr>
          <a:xfrm>
            <a:off x="981456" y="5173327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0.932</a:t>
            </a:r>
            <a:endParaRPr lang="en-US" sz="2100" dirty="0"/>
          </a:p>
        </p:txBody>
      </p:sp>
      <p:sp>
        <p:nvSpPr>
          <p:cNvPr id="66" name="Text 62"/>
          <p:cNvSpPr/>
          <p:nvPr/>
        </p:nvSpPr>
        <p:spPr>
          <a:xfrm>
            <a:off x="981456" y="5539087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Best Test TotalF1</a:t>
            </a:r>
            <a:endParaRPr lang="en-US" sz="880" dirty="0"/>
          </a:p>
        </p:txBody>
      </p:sp>
      <p:sp>
        <p:nvSpPr>
          <p:cNvPr id="67" name="Shape 63"/>
          <p:cNvSpPr/>
          <p:nvPr/>
        </p:nvSpPr>
        <p:spPr>
          <a:xfrm>
            <a:off x="2990088" y="5074920"/>
            <a:ext cx="2011680" cy="713232"/>
          </a:xfrm>
          <a:prstGeom prst="roundRect">
            <a:avLst>
              <a:gd name="adj" fmla="val 14103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4"/>
          <p:cNvSpPr/>
          <p:nvPr/>
        </p:nvSpPr>
        <p:spPr>
          <a:xfrm>
            <a:off x="3185160" y="5173327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272</a:t>
            </a:r>
            <a:endParaRPr lang="en-US" sz="2100" dirty="0"/>
          </a:p>
        </p:txBody>
      </p:sp>
      <p:sp>
        <p:nvSpPr>
          <p:cNvPr id="69" name="Text 65"/>
          <p:cNvSpPr/>
          <p:nvPr/>
        </p:nvSpPr>
        <p:spPr>
          <a:xfrm>
            <a:off x="3185160" y="5539087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Best Iteration</a:t>
            </a:r>
            <a:endParaRPr lang="en-US" sz="880" dirty="0"/>
          </a:p>
        </p:txBody>
      </p:sp>
      <p:sp>
        <p:nvSpPr>
          <p:cNvPr id="70" name="Shape 66"/>
          <p:cNvSpPr/>
          <p:nvPr/>
        </p:nvSpPr>
        <p:spPr>
          <a:xfrm>
            <a:off x="5193792" y="5074920"/>
            <a:ext cx="2011680" cy="713232"/>
          </a:xfrm>
          <a:prstGeom prst="roundRect">
            <a:avLst>
              <a:gd name="adj" fmla="val 14103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7"/>
          <p:cNvSpPr/>
          <p:nvPr/>
        </p:nvSpPr>
        <p:spPr>
          <a:xfrm>
            <a:off x="5388864" y="5173327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Balanced</a:t>
            </a:r>
            <a:endParaRPr lang="en-US" sz="2100" dirty="0"/>
          </a:p>
        </p:txBody>
      </p:sp>
      <p:sp>
        <p:nvSpPr>
          <p:cNvPr id="72" name="Text 68"/>
          <p:cNvSpPr/>
          <p:nvPr/>
        </p:nvSpPr>
        <p:spPr>
          <a:xfrm>
            <a:off x="5388864" y="5539087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 Weight</a:t>
            </a:r>
            <a:endParaRPr lang="en-US" sz="880" dirty="0"/>
          </a:p>
        </p:txBody>
      </p:sp>
      <p:sp>
        <p:nvSpPr>
          <p:cNvPr id="73" name="Shape 69"/>
          <p:cNvSpPr/>
          <p:nvPr/>
        </p:nvSpPr>
        <p:spPr>
          <a:xfrm>
            <a:off x="7397496" y="5074920"/>
            <a:ext cx="2011680" cy="713232"/>
          </a:xfrm>
          <a:prstGeom prst="roundRect">
            <a:avLst>
              <a:gd name="adj" fmla="val 14103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0"/>
          <p:cNvSpPr/>
          <p:nvPr/>
        </p:nvSpPr>
        <p:spPr>
          <a:xfrm>
            <a:off x="7592568" y="5173327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2100" dirty="0"/>
          </a:p>
        </p:txBody>
      </p:sp>
      <p:sp>
        <p:nvSpPr>
          <p:cNvPr id="75" name="Text 71"/>
          <p:cNvSpPr/>
          <p:nvPr/>
        </p:nvSpPr>
        <p:spPr>
          <a:xfrm>
            <a:off x="7592568" y="5539087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 Features</a:t>
            </a:r>
            <a:endParaRPr lang="en-US" sz="8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94360" y="-685800"/>
            <a:ext cx="2057400" cy="2057400"/>
          </a:xfrm>
          <a:prstGeom prst="ellipse">
            <a:avLst/>
          </a:prstGeom>
          <a:solidFill>
            <a:srgbClr val="F1F5F9">
              <a:alpha val="94000"/>
            </a:srgbClr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109728" y="-155448"/>
            <a:ext cx="960120" cy="96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0698480" y="5760720"/>
            <a:ext cx="1874520" cy="1874520"/>
          </a:xfrm>
          <a:prstGeom prst="ellipse">
            <a:avLst/>
          </a:prstGeom>
          <a:solidFill>
            <a:srgbClr val="F1F5F9">
              <a:alpha val="92000"/>
            </a:srgbClr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1173968" y="6199632"/>
            <a:ext cx="960120" cy="96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1292840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02336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1439144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48640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1585448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94944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1731752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41248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1878056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987552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1292840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02336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1439144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548640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1585448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94944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1731752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841248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11878056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87552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11292840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402336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11439144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548640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11585448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694944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1731752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841248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1878056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987552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11292840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402336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11439144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548640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11585448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694944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11731752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841248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11878056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987552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11292840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402336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11439144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548640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11585448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694944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11731752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841248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11878056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987552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11594592" y="6528816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713232" y="42062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 Analysis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94944" y="74980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7.1 결과 분석</a:t>
            </a:r>
            <a:endParaRPr lang="en-US" sz="2300" dirty="0"/>
          </a:p>
        </p:txBody>
      </p:sp>
      <p:sp>
        <p:nvSpPr>
          <p:cNvPr id="59" name="Text 57"/>
          <p:cNvSpPr/>
          <p:nvPr/>
        </p:nvSpPr>
        <p:spPr>
          <a:xfrm>
            <a:off x="713232" y="1243584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중요하게 판단한 변수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804672" y="1691640"/>
            <a:ext cx="5989320" cy="3977640"/>
          </a:xfrm>
          <a:prstGeom prst="roundRect">
            <a:avLst>
              <a:gd name="adj" fmla="val 2529"/>
            </a:avLst>
          </a:prstGeom>
          <a:solidFill>
            <a:srgbClr val="FFFFFF"/>
          </a:solidFill>
          <a:ln w="10160">
            <a:solidFill>
              <a:srgbClr val="2563EB">
                <a:alpha val="30000"/>
              </a:srgbClr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1" name="Image 0" descr="/mnt/data/ppt_assets2/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1856232"/>
            <a:ext cx="5596128" cy="3584448"/>
          </a:xfrm>
          <a:prstGeom prst="rect">
            <a:avLst/>
          </a:prstGeom>
        </p:spPr>
      </p:pic>
      <p:sp>
        <p:nvSpPr>
          <p:cNvPr id="62" name="Shape 59"/>
          <p:cNvSpPr/>
          <p:nvPr/>
        </p:nvSpPr>
        <p:spPr>
          <a:xfrm>
            <a:off x="7086600" y="2011680"/>
            <a:ext cx="4251960" cy="1280160"/>
          </a:xfrm>
          <a:prstGeom prst="roundRect">
            <a:avLst>
              <a:gd name="adj" fmla="val 7857"/>
            </a:avLst>
          </a:prstGeom>
          <a:solidFill>
            <a:srgbClr val="FFF8F8"/>
          </a:solidFill>
          <a:ln w="10160">
            <a:solidFill>
              <a:srgbClr val="E11D48">
                <a:alpha val="40000"/>
              </a:srgbClr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0"/>
          <p:cNvSpPr/>
          <p:nvPr/>
        </p:nvSpPr>
        <p:spPr>
          <a:xfrm>
            <a:off x="7269480" y="2157984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 포인트</a:t>
            </a:r>
            <a:endParaRPr lang="en-US" sz="900" dirty="0"/>
          </a:p>
        </p:txBody>
      </p:sp>
      <p:sp>
        <p:nvSpPr>
          <p:cNvPr id="64" name="Text 61"/>
          <p:cNvSpPr/>
          <p:nvPr/>
        </p:nvSpPr>
        <p:spPr>
          <a:xfrm>
            <a:off x="7269480" y="2450592"/>
            <a:ext cx="388620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WEEKLY_TOTAL_MIN, USE_FREQUENCY, ACTIVE_DAYS_SCORE가 상위 변수로 나타나 이용량과 최근 활성도가 이탈 위험 판단에 큰 영향을 준다.</a:t>
            </a:r>
            <a:endParaRPr lang="en-US" sz="820" dirty="0"/>
          </a:p>
        </p:txBody>
      </p:sp>
      <p:sp>
        <p:nvSpPr>
          <p:cNvPr id="65" name="Shape 62"/>
          <p:cNvSpPr/>
          <p:nvPr/>
        </p:nvSpPr>
        <p:spPr>
          <a:xfrm>
            <a:off x="7086600" y="3749040"/>
            <a:ext cx="4251960" cy="1188720"/>
          </a:xfrm>
          <a:prstGeom prst="roundRect">
            <a:avLst>
              <a:gd name="adj" fmla="val 8462"/>
            </a:avLst>
          </a:prstGeom>
          <a:solidFill>
            <a:srgbClr val="F8FBFF"/>
          </a:solidFill>
          <a:ln w="10160">
            <a:solidFill>
              <a:srgbClr val="2563EB">
                <a:alpha val="40000"/>
              </a:srgbClr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3"/>
          <p:cNvSpPr/>
          <p:nvPr/>
        </p:nvSpPr>
        <p:spPr>
          <a:xfrm>
            <a:off x="7269480" y="3895344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산출물</a:t>
            </a:r>
            <a:endParaRPr lang="en-US" sz="900" dirty="0"/>
          </a:p>
        </p:txBody>
      </p:sp>
      <p:sp>
        <p:nvSpPr>
          <p:cNvPr id="67" name="Text 64"/>
          <p:cNvSpPr/>
          <p:nvPr/>
        </p:nvSpPr>
        <p:spPr>
          <a:xfrm>
            <a:off x="7269480" y="4187952"/>
            <a:ext cx="388620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risk_model.pkl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model_columns.pkl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categorical_columns.pkl</a:t>
            </a:r>
            <a:endParaRPr lang="en-US" sz="8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94360" y="-685800"/>
            <a:ext cx="2057400" cy="2057400"/>
          </a:xfrm>
          <a:prstGeom prst="ellipse">
            <a:avLst/>
          </a:prstGeom>
          <a:solidFill>
            <a:srgbClr val="F1F5F9">
              <a:alpha val="94000"/>
            </a:srgbClr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109728" y="-155448"/>
            <a:ext cx="960120" cy="96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0698480" y="5760720"/>
            <a:ext cx="1874520" cy="1874520"/>
          </a:xfrm>
          <a:prstGeom prst="ellipse">
            <a:avLst/>
          </a:prstGeom>
          <a:solidFill>
            <a:srgbClr val="F1F5F9">
              <a:alpha val="92000"/>
            </a:srgbClr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1173968" y="6199632"/>
            <a:ext cx="960120" cy="96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1292840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02336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1439144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48640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1585448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94944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1731752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41248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1878056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987552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1292840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02336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1439144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548640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1585448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94944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1731752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841248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11878056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87552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11292840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402336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11439144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548640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11585448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694944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1731752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841248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1878056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987552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11292840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402336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11439144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548640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11585448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694944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11731752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841248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11878056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987552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11292840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402336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11439144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548640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11585448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694944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11731752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841248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11878056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987552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11594592" y="6528816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713232" y="42062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 Output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94944" y="74980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7.2 구현 결과 화면</a:t>
            </a:r>
            <a:endParaRPr lang="en-US" sz="2300" dirty="0"/>
          </a:p>
        </p:txBody>
      </p:sp>
      <p:sp>
        <p:nvSpPr>
          <p:cNvPr id="59" name="Text 57"/>
          <p:cNvSpPr/>
          <p:nvPr/>
        </p:nvSpPr>
        <p:spPr>
          <a:xfrm>
            <a:off x="713232" y="1243584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결과 화면과 챗봇 화면 구성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896112" y="1874520"/>
            <a:ext cx="3154680" cy="2286000"/>
          </a:xfrm>
          <a:prstGeom prst="roundRect">
            <a:avLst>
              <a:gd name="adj" fmla="val 4400"/>
            </a:avLst>
          </a:prstGeom>
          <a:solidFill>
            <a:srgbClr val="FFFFFF"/>
          </a:solidFill>
          <a:ln w="10160">
            <a:solidFill>
              <a:srgbClr val="2563EB">
                <a:alpha val="30000"/>
              </a:srgbClr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1152144" y="214884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CBD5E1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0"/>
          <p:cNvSpPr/>
          <p:nvPr/>
        </p:nvSpPr>
        <p:spPr>
          <a:xfrm>
            <a:off x="1152144" y="223113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</a:t>
            </a:r>
            <a:endParaRPr lang="en-US" sz="1500" dirty="0"/>
          </a:p>
        </p:txBody>
      </p:sp>
      <p:sp>
        <p:nvSpPr>
          <p:cNvPr id="63" name="Text 61"/>
          <p:cNvSpPr/>
          <p:nvPr/>
        </p:nvSpPr>
        <p:spPr>
          <a:xfrm>
            <a:off x="1152144" y="2843784"/>
            <a:ext cx="2642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</a:t>
            </a:r>
            <a:endParaRPr lang="en-US" sz="2200" dirty="0"/>
          </a:p>
        </p:txBody>
      </p:sp>
      <p:sp>
        <p:nvSpPr>
          <p:cNvPr id="64" name="Shape 62"/>
          <p:cNvSpPr/>
          <p:nvPr/>
        </p:nvSpPr>
        <p:spPr>
          <a:xfrm>
            <a:off x="1152144" y="3355848"/>
            <a:ext cx="841248" cy="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3"/>
          <p:cNvSpPr/>
          <p:nvPr/>
        </p:nvSpPr>
        <p:spPr>
          <a:xfrm>
            <a:off x="1152144" y="3506942"/>
            <a:ext cx="2642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페이지</a:t>
            </a:r>
            <a:endParaRPr lang="en-US" sz="1020" dirty="0"/>
          </a:p>
        </p:txBody>
      </p:sp>
      <p:sp>
        <p:nvSpPr>
          <p:cNvPr id="66" name="Text 64"/>
          <p:cNvSpPr/>
          <p:nvPr/>
        </p:nvSpPr>
        <p:spPr>
          <a:xfrm>
            <a:off x="1152144" y="3730752"/>
            <a:ext cx="2642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목적과 핵심 기능을 한눈에 제시</a:t>
            </a:r>
            <a:endParaRPr lang="en-US" sz="1040" dirty="0"/>
          </a:p>
        </p:txBody>
      </p:sp>
      <p:sp>
        <p:nvSpPr>
          <p:cNvPr id="67" name="Shape 65"/>
          <p:cNvSpPr/>
          <p:nvPr/>
        </p:nvSpPr>
        <p:spPr>
          <a:xfrm>
            <a:off x="4526280" y="1874520"/>
            <a:ext cx="3154680" cy="2286000"/>
          </a:xfrm>
          <a:prstGeom prst="roundRect">
            <a:avLst>
              <a:gd name="adj" fmla="val 4400"/>
            </a:avLst>
          </a:prstGeom>
          <a:solidFill>
            <a:srgbClr val="FFFFFF"/>
          </a:solidFill>
          <a:ln w="10160">
            <a:solidFill>
              <a:srgbClr val="E11D48">
                <a:alpha val="30000"/>
              </a:srgbClr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4782312" y="2148840"/>
            <a:ext cx="502920" cy="50292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CBD5E1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7"/>
          <p:cNvSpPr/>
          <p:nvPr/>
        </p:nvSpPr>
        <p:spPr>
          <a:xfrm>
            <a:off x="4782312" y="223113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</a:t>
            </a:r>
            <a:endParaRPr lang="en-US" sz="1500" dirty="0"/>
          </a:p>
        </p:txBody>
      </p:sp>
      <p:sp>
        <p:nvSpPr>
          <p:cNvPr id="70" name="Text 68"/>
          <p:cNvSpPr/>
          <p:nvPr/>
        </p:nvSpPr>
        <p:spPr>
          <a:xfrm>
            <a:off x="4782312" y="2843784"/>
            <a:ext cx="2642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Prediction</a:t>
            </a:r>
            <a:endParaRPr lang="en-US" sz="2200" dirty="0"/>
          </a:p>
        </p:txBody>
      </p:sp>
      <p:sp>
        <p:nvSpPr>
          <p:cNvPr id="71" name="Shape 69"/>
          <p:cNvSpPr/>
          <p:nvPr/>
        </p:nvSpPr>
        <p:spPr>
          <a:xfrm>
            <a:off x="4782312" y="3355848"/>
            <a:ext cx="841248" cy="0"/>
          </a:xfrm>
          <a:prstGeom prst="line">
            <a:avLst/>
          </a:prstGeom>
          <a:noFill/>
          <a:ln w="2286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70"/>
          <p:cNvSpPr/>
          <p:nvPr/>
        </p:nvSpPr>
        <p:spPr>
          <a:xfrm>
            <a:off x="4782312" y="3506942"/>
            <a:ext cx="2642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이탈 예측 화면</a:t>
            </a:r>
            <a:endParaRPr lang="en-US" sz="1020" dirty="0"/>
          </a:p>
        </p:txBody>
      </p:sp>
      <p:sp>
        <p:nvSpPr>
          <p:cNvPr id="73" name="Text 71"/>
          <p:cNvSpPr/>
          <p:nvPr/>
        </p:nvSpPr>
        <p:spPr>
          <a:xfrm>
            <a:off x="4782312" y="3730752"/>
            <a:ext cx="2642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입력값 선택 후 위험군과 확률을 확인</a:t>
            </a:r>
            <a:endParaRPr lang="en-US" sz="1040" dirty="0"/>
          </a:p>
        </p:txBody>
      </p:sp>
      <p:sp>
        <p:nvSpPr>
          <p:cNvPr id="74" name="Shape 72"/>
          <p:cNvSpPr/>
          <p:nvPr/>
        </p:nvSpPr>
        <p:spPr>
          <a:xfrm>
            <a:off x="8156448" y="1874520"/>
            <a:ext cx="3154680" cy="2286000"/>
          </a:xfrm>
          <a:prstGeom prst="roundRect">
            <a:avLst>
              <a:gd name="adj" fmla="val 4400"/>
            </a:avLst>
          </a:prstGeom>
          <a:solidFill>
            <a:srgbClr val="FFFFFF"/>
          </a:solidFill>
          <a:ln w="10160">
            <a:solidFill>
              <a:srgbClr val="7C3AED">
                <a:alpha val="30000"/>
              </a:srgbClr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8412480" y="214884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CBD5E1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6" name="Text 74"/>
          <p:cNvSpPr/>
          <p:nvPr/>
        </p:nvSpPr>
        <p:spPr>
          <a:xfrm>
            <a:off x="8412480" y="223113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1500" dirty="0"/>
          </a:p>
        </p:txBody>
      </p:sp>
      <p:sp>
        <p:nvSpPr>
          <p:cNvPr id="77" name="Text 75"/>
          <p:cNvSpPr/>
          <p:nvPr/>
        </p:nvSpPr>
        <p:spPr>
          <a:xfrm>
            <a:off x="8412480" y="2843784"/>
            <a:ext cx="2642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Chatbot</a:t>
            </a:r>
            <a:endParaRPr lang="en-US" sz="2200" dirty="0"/>
          </a:p>
        </p:txBody>
      </p:sp>
      <p:sp>
        <p:nvSpPr>
          <p:cNvPr id="78" name="Shape 76"/>
          <p:cNvSpPr/>
          <p:nvPr/>
        </p:nvSpPr>
        <p:spPr>
          <a:xfrm>
            <a:off x="8412480" y="3355848"/>
            <a:ext cx="841248" cy="0"/>
          </a:xfrm>
          <a:prstGeom prst="line">
            <a:avLst/>
          </a:prstGeom>
          <a:noFill/>
          <a:ln w="2286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Text 77"/>
          <p:cNvSpPr/>
          <p:nvPr/>
        </p:nvSpPr>
        <p:spPr>
          <a:xfrm>
            <a:off x="8412480" y="3506942"/>
            <a:ext cx="2642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챗봇 화면</a:t>
            </a:r>
            <a:endParaRPr lang="en-US" sz="1020" dirty="0"/>
          </a:p>
        </p:txBody>
      </p:sp>
      <p:sp>
        <p:nvSpPr>
          <p:cNvPr id="80" name="Text 78"/>
          <p:cNvSpPr/>
          <p:nvPr/>
        </p:nvSpPr>
        <p:spPr>
          <a:xfrm>
            <a:off x="8412480" y="3730752"/>
            <a:ext cx="2642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코드 설명과 오류 해결 질문 지원</a:t>
            </a:r>
            <a:endParaRPr lang="en-US" sz="1040" dirty="0"/>
          </a:p>
        </p:txBody>
      </p:sp>
      <p:sp>
        <p:nvSpPr>
          <p:cNvPr id="81" name="Shape 79"/>
          <p:cNvSpPr/>
          <p:nvPr/>
        </p:nvSpPr>
        <p:spPr>
          <a:xfrm>
            <a:off x="960120" y="4937760"/>
            <a:ext cx="10332720" cy="411480"/>
          </a:xfrm>
          <a:prstGeom prst="roundRect">
            <a:avLst>
              <a:gd name="adj" fmla="val 17778"/>
            </a:avLst>
          </a:prstGeom>
          <a:solidFill>
            <a:srgbClr val="F8FFFB"/>
          </a:solidFill>
          <a:ln w="8890">
            <a:solidFill>
              <a:srgbClr val="16A34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Text 80"/>
          <p:cNvSpPr/>
          <p:nvPr/>
        </p:nvSpPr>
        <p:spPr>
          <a:xfrm>
            <a:off x="1069848" y="5010912"/>
            <a:ext cx="10113264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목표: 단순 결과 출력이 아니라 위험도·확률·요약·질의응답까지 이어지는 설명 가능한 서비스 경험 제공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94360" y="-685800"/>
            <a:ext cx="2057400" cy="2057400"/>
          </a:xfrm>
          <a:prstGeom prst="ellipse">
            <a:avLst/>
          </a:prstGeom>
          <a:solidFill>
            <a:srgbClr val="F1F5F9">
              <a:alpha val="94000"/>
            </a:srgbClr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109728" y="-155448"/>
            <a:ext cx="960120" cy="96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0698480" y="5760720"/>
            <a:ext cx="1874520" cy="1874520"/>
          </a:xfrm>
          <a:prstGeom prst="ellipse">
            <a:avLst/>
          </a:prstGeom>
          <a:solidFill>
            <a:srgbClr val="F1F5F9">
              <a:alpha val="92000"/>
            </a:srgbClr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1173968" y="6199632"/>
            <a:ext cx="960120" cy="96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1292840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02336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1439144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48640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1585448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94944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1731752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41248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1878056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987552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1292840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02336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1439144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548640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1585448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94944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1731752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841248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11878056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87552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11292840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402336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11439144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548640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11585448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694944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1731752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841248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1878056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987552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11292840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402336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11439144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548640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11585448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694944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11731752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841248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11878056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987552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11292840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402336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11439144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548640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11585448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694944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11731752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841248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11878056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987552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11594592" y="6528816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713232" y="42062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Chatbot Result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94944" y="74980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 챗봇 연계 결과</a:t>
            </a:r>
            <a:endParaRPr lang="en-US" sz="2300" dirty="0"/>
          </a:p>
        </p:txBody>
      </p:sp>
      <p:sp>
        <p:nvSpPr>
          <p:cNvPr id="59" name="Text 57"/>
          <p:cNvSpPr/>
          <p:nvPr/>
        </p:nvSpPr>
        <p:spPr>
          <a:xfrm>
            <a:off x="713232" y="1243584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 Model 답변과 학습 후 모델 답변 비교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804672" y="1847088"/>
            <a:ext cx="5074920" cy="1783080"/>
          </a:xfrm>
          <a:prstGeom prst="roundRect">
            <a:avLst>
              <a:gd name="adj" fmla="val 5641"/>
            </a:avLst>
          </a:prstGeom>
          <a:solidFill>
            <a:srgbClr val="F8FAFC"/>
          </a:solidFill>
          <a:ln w="10160">
            <a:solidFill>
              <a:srgbClr val="334155">
                <a:alpha val="40000"/>
              </a:srgbClr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/>
          <p:nvPr/>
        </p:nvSpPr>
        <p:spPr>
          <a:xfrm>
            <a:off x="987552" y="1993392"/>
            <a:ext cx="4709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 · Base Model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987552" y="2286000"/>
            <a:ext cx="4709160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모델은 프로젝트의 실제 파일 구조를 알지 못해 app.py, /predict, DB 적재 흐름에 대해 추상적이거나 부정확한 답변을 생성할 수 있다.</a:t>
            </a:r>
            <a:endParaRPr lang="en-US" sz="820" dirty="0"/>
          </a:p>
        </p:txBody>
      </p:sp>
      <p:sp>
        <p:nvSpPr>
          <p:cNvPr id="63" name="Shape 61"/>
          <p:cNvSpPr/>
          <p:nvPr/>
        </p:nvSpPr>
        <p:spPr>
          <a:xfrm>
            <a:off x="6291072" y="1847088"/>
            <a:ext cx="5074920" cy="1783080"/>
          </a:xfrm>
          <a:prstGeom prst="roundRect">
            <a:avLst>
              <a:gd name="adj" fmla="val 5641"/>
            </a:avLst>
          </a:prstGeom>
          <a:solidFill>
            <a:srgbClr val="FFF8F8"/>
          </a:solidFill>
          <a:ln w="10160">
            <a:solidFill>
              <a:srgbClr val="E11D48">
                <a:alpha val="40000"/>
              </a:srgbClr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2"/>
          <p:cNvSpPr/>
          <p:nvPr/>
        </p:nvSpPr>
        <p:spPr>
          <a:xfrm>
            <a:off x="6473952" y="1993392"/>
            <a:ext cx="4709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 · QLoRA Tuned Model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473952" y="2286000"/>
            <a:ext cx="4709160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후 모델은 app.py, train_risk_model.py, load_to_oracle.py, sc1.html 등 파일 역할을 구분하고 프로젝트 코드 흐름에 맞춰 답변한다.</a:t>
            </a:r>
            <a:endParaRPr lang="en-US" sz="820" dirty="0"/>
          </a:p>
        </p:txBody>
      </p:sp>
      <p:sp>
        <p:nvSpPr>
          <p:cNvPr id="66" name="Shape 64"/>
          <p:cNvSpPr/>
          <p:nvPr/>
        </p:nvSpPr>
        <p:spPr>
          <a:xfrm>
            <a:off x="804672" y="4251960"/>
            <a:ext cx="10561320" cy="777240"/>
          </a:xfrm>
          <a:prstGeom prst="roundRect">
            <a:avLst>
              <a:gd name="adj" fmla="val 12941"/>
            </a:avLst>
          </a:prstGeom>
          <a:solidFill>
            <a:srgbClr val="FAF8FF"/>
          </a:solidFill>
          <a:ln w="10160">
            <a:solidFill>
              <a:srgbClr val="7C3AED">
                <a:alpha val="40000"/>
              </a:srgbClr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5"/>
          <p:cNvSpPr/>
          <p:nvPr/>
        </p:nvSpPr>
        <p:spPr>
          <a:xfrm>
            <a:off x="987552" y="4398264"/>
            <a:ext cx="10195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개선점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987552" y="4690872"/>
            <a:ext cx="1019556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짧은 질문 필터링, 프로젝트 관련 키워드 확인, 중국어/일본어 문자 제거, 자연스러운 한국어 후처리를 적용해 실제 시연 품질을 개선하였다.</a:t>
            </a:r>
            <a:endParaRPr lang="en-US" sz="8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94360" y="-685800"/>
            <a:ext cx="2057400" cy="2057400"/>
          </a:xfrm>
          <a:prstGeom prst="ellipse">
            <a:avLst/>
          </a:prstGeom>
          <a:solidFill>
            <a:srgbClr val="F1F5F9">
              <a:alpha val="94000"/>
            </a:srgbClr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109728" y="-155448"/>
            <a:ext cx="960120" cy="96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0698480" y="5760720"/>
            <a:ext cx="1874520" cy="1874520"/>
          </a:xfrm>
          <a:prstGeom prst="ellipse">
            <a:avLst/>
          </a:prstGeom>
          <a:solidFill>
            <a:srgbClr val="F1F5F9">
              <a:alpha val="92000"/>
            </a:srgbClr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1173968" y="6199632"/>
            <a:ext cx="960120" cy="96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1292840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02336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1439144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48640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1585448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94944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1731752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41248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1878056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987552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1292840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02336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1439144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548640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1585448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94944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1731752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841248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11878056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87552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11292840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402336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11439144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548640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11585448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694944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1731752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841248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1878056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987552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11292840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402336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11439144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548640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11585448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694944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11731752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841248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11878056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987552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11292840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402336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11439144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548640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11585448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694944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11731752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841248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11878056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987552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11594592" y="6528816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713232" y="42062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94944" y="74980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8.1 주요 성과 요약</a:t>
            </a:r>
            <a:endParaRPr lang="en-US" sz="2300" dirty="0"/>
          </a:p>
        </p:txBody>
      </p:sp>
      <p:sp>
        <p:nvSpPr>
          <p:cNvPr id="59" name="Text 57"/>
          <p:cNvSpPr/>
          <p:nvPr/>
        </p:nvSpPr>
        <p:spPr>
          <a:xfrm>
            <a:off x="713232" y="1243584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데이터부터 웹 예측, 챗봇까지 이어지는 통합 결과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58368" y="1874520"/>
            <a:ext cx="2606040" cy="2907792"/>
          </a:xfrm>
          <a:prstGeom prst="roundRect">
            <a:avLst>
              <a:gd name="adj" fmla="val 3860"/>
            </a:avLst>
          </a:prstGeom>
          <a:solidFill>
            <a:srgbClr val="FFFFFF"/>
          </a:solidFill>
          <a:ln w="10160">
            <a:solidFill>
              <a:srgbClr val="2563EB">
                <a:alpha val="30000"/>
              </a:srgbClr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914400" y="214884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CBD5E1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0"/>
          <p:cNvSpPr/>
          <p:nvPr/>
        </p:nvSpPr>
        <p:spPr>
          <a:xfrm>
            <a:off x="914400" y="223113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</a:t>
            </a:r>
            <a:endParaRPr lang="en-US" sz="1500" dirty="0"/>
          </a:p>
        </p:txBody>
      </p:sp>
      <p:sp>
        <p:nvSpPr>
          <p:cNvPr id="63" name="Text 61"/>
          <p:cNvSpPr/>
          <p:nvPr/>
        </p:nvSpPr>
        <p:spPr>
          <a:xfrm>
            <a:off x="914400" y="2843784"/>
            <a:ext cx="2093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End-to-End</a:t>
            </a:r>
            <a:endParaRPr lang="en-US" sz="2200" dirty="0"/>
          </a:p>
        </p:txBody>
      </p:sp>
      <p:sp>
        <p:nvSpPr>
          <p:cNvPr id="64" name="Shape 62"/>
          <p:cNvSpPr/>
          <p:nvPr/>
        </p:nvSpPr>
        <p:spPr>
          <a:xfrm>
            <a:off x="914400" y="3355848"/>
            <a:ext cx="841248" cy="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3"/>
          <p:cNvSpPr/>
          <p:nvPr/>
        </p:nvSpPr>
        <p:spPr>
          <a:xfrm>
            <a:off x="914400" y="3593592"/>
            <a:ext cx="2093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End-to-End</a:t>
            </a:r>
            <a:endParaRPr lang="en-US" sz="1020" dirty="0"/>
          </a:p>
        </p:txBody>
      </p:sp>
      <p:sp>
        <p:nvSpPr>
          <p:cNvPr id="66" name="Text 64"/>
          <p:cNvSpPr/>
          <p:nvPr/>
        </p:nvSpPr>
        <p:spPr>
          <a:xfrm>
            <a:off x="914400" y="3959352"/>
            <a:ext cx="2093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적재부터 웹 예측까지 구현</a:t>
            </a:r>
            <a:endParaRPr lang="en-US" sz="1040" dirty="0"/>
          </a:p>
        </p:txBody>
      </p:sp>
      <p:sp>
        <p:nvSpPr>
          <p:cNvPr id="67" name="Shape 65"/>
          <p:cNvSpPr/>
          <p:nvPr/>
        </p:nvSpPr>
        <p:spPr>
          <a:xfrm>
            <a:off x="3493008" y="1874520"/>
            <a:ext cx="2606040" cy="2907792"/>
          </a:xfrm>
          <a:prstGeom prst="roundRect">
            <a:avLst>
              <a:gd name="adj" fmla="val 3860"/>
            </a:avLst>
          </a:prstGeom>
          <a:solidFill>
            <a:srgbClr val="FFFFFF"/>
          </a:solidFill>
          <a:ln w="10160">
            <a:solidFill>
              <a:srgbClr val="E11D48">
                <a:alpha val="30000"/>
              </a:srgbClr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3749040" y="2148840"/>
            <a:ext cx="502920" cy="50292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CBD5E1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7"/>
          <p:cNvSpPr/>
          <p:nvPr/>
        </p:nvSpPr>
        <p:spPr>
          <a:xfrm>
            <a:off x="3749040" y="223113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</a:t>
            </a:r>
            <a:endParaRPr lang="en-US" sz="1500" dirty="0"/>
          </a:p>
        </p:txBody>
      </p:sp>
      <p:sp>
        <p:nvSpPr>
          <p:cNvPr id="70" name="Text 68"/>
          <p:cNvSpPr/>
          <p:nvPr/>
        </p:nvSpPr>
        <p:spPr>
          <a:xfrm>
            <a:off x="3749040" y="2843784"/>
            <a:ext cx="2093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Explainable UI</a:t>
            </a:r>
            <a:endParaRPr lang="en-US" sz="2200" dirty="0"/>
          </a:p>
        </p:txBody>
      </p:sp>
      <p:sp>
        <p:nvSpPr>
          <p:cNvPr id="71" name="Shape 69"/>
          <p:cNvSpPr/>
          <p:nvPr/>
        </p:nvSpPr>
        <p:spPr>
          <a:xfrm>
            <a:off x="3749040" y="3355848"/>
            <a:ext cx="841248" cy="0"/>
          </a:xfrm>
          <a:prstGeom prst="line">
            <a:avLst/>
          </a:prstGeom>
          <a:noFill/>
          <a:ln w="2286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70"/>
          <p:cNvSpPr/>
          <p:nvPr/>
        </p:nvSpPr>
        <p:spPr>
          <a:xfrm>
            <a:off x="3749040" y="3593592"/>
            <a:ext cx="2093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Explainable UI</a:t>
            </a:r>
            <a:endParaRPr lang="en-US" sz="1020" dirty="0"/>
          </a:p>
        </p:txBody>
      </p:sp>
      <p:sp>
        <p:nvSpPr>
          <p:cNvPr id="73" name="Text 71"/>
          <p:cNvSpPr/>
          <p:nvPr/>
        </p:nvSpPr>
        <p:spPr>
          <a:xfrm>
            <a:off x="3749040" y="3959352"/>
            <a:ext cx="2093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위험도·확률·요약 정보 표시</a:t>
            </a:r>
            <a:endParaRPr lang="en-US" sz="1040" dirty="0"/>
          </a:p>
        </p:txBody>
      </p:sp>
      <p:sp>
        <p:nvSpPr>
          <p:cNvPr id="74" name="Shape 72"/>
          <p:cNvSpPr/>
          <p:nvPr/>
        </p:nvSpPr>
        <p:spPr>
          <a:xfrm>
            <a:off x="6327648" y="1874520"/>
            <a:ext cx="2606040" cy="2907792"/>
          </a:xfrm>
          <a:prstGeom prst="roundRect">
            <a:avLst>
              <a:gd name="adj" fmla="val 3860"/>
            </a:avLst>
          </a:prstGeom>
          <a:solidFill>
            <a:srgbClr val="FFFFFF"/>
          </a:solidFill>
          <a:ln w="10160">
            <a:solidFill>
              <a:srgbClr val="7C3AED">
                <a:alpha val="30000"/>
              </a:srgbClr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6583680" y="214884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CBD5E1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6" name="Text 74"/>
          <p:cNvSpPr/>
          <p:nvPr/>
        </p:nvSpPr>
        <p:spPr>
          <a:xfrm>
            <a:off x="6583680" y="223113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</a:t>
            </a:r>
            <a:endParaRPr lang="en-US" sz="1500" dirty="0"/>
          </a:p>
        </p:txBody>
      </p:sp>
      <p:sp>
        <p:nvSpPr>
          <p:cNvPr id="77" name="Text 75"/>
          <p:cNvSpPr/>
          <p:nvPr/>
        </p:nvSpPr>
        <p:spPr>
          <a:xfrm>
            <a:off x="6583680" y="2843784"/>
            <a:ext cx="2093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Domain LLM</a:t>
            </a:r>
            <a:endParaRPr lang="en-US" sz="2200" dirty="0"/>
          </a:p>
        </p:txBody>
      </p:sp>
      <p:sp>
        <p:nvSpPr>
          <p:cNvPr id="78" name="Shape 76"/>
          <p:cNvSpPr/>
          <p:nvPr/>
        </p:nvSpPr>
        <p:spPr>
          <a:xfrm>
            <a:off x="6583680" y="3355848"/>
            <a:ext cx="841248" cy="0"/>
          </a:xfrm>
          <a:prstGeom prst="line">
            <a:avLst/>
          </a:prstGeom>
          <a:noFill/>
          <a:ln w="2286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Text 77"/>
          <p:cNvSpPr/>
          <p:nvPr/>
        </p:nvSpPr>
        <p:spPr>
          <a:xfrm>
            <a:off x="6583680" y="3593592"/>
            <a:ext cx="2093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Domain LLM</a:t>
            </a:r>
            <a:endParaRPr lang="en-US" sz="1020" dirty="0"/>
          </a:p>
        </p:txBody>
      </p:sp>
      <p:sp>
        <p:nvSpPr>
          <p:cNvPr id="80" name="Text 78"/>
          <p:cNvSpPr/>
          <p:nvPr/>
        </p:nvSpPr>
        <p:spPr>
          <a:xfrm>
            <a:off x="6583680" y="3959352"/>
            <a:ext cx="2093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전용 코드 챗봇 구현</a:t>
            </a:r>
            <a:endParaRPr lang="en-US" sz="1040" dirty="0"/>
          </a:p>
        </p:txBody>
      </p:sp>
      <p:sp>
        <p:nvSpPr>
          <p:cNvPr id="81" name="Shape 79"/>
          <p:cNvSpPr/>
          <p:nvPr/>
        </p:nvSpPr>
        <p:spPr>
          <a:xfrm>
            <a:off x="9162288" y="1874520"/>
            <a:ext cx="2606040" cy="2907792"/>
          </a:xfrm>
          <a:prstGeom prst="roundRect">
            <a:avLst>
              <a:gd name="adj" fmla="val 3860"/>
            </a:avLst>
          </a:prstGeom>
          <a:solidFill>
            <a:srgbClr val="FFFFFF"/>
          </a:solidFill>
          <a:ln w="10160">
            <a:solidFill>
              <a:srgbClr val="16A34A">
                <a:alpha val="30000"/>
              </a:srgbClr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/>
          <p:cNvSpPr/>
          <p:nvPr/>
        </p:nvSpPr>
        <p:spPr>
          <a:xfrm>
            <a:off x="9418320" y="2148840"/>
            <a:ext cx="502920" cy="5029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CBD5E1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/>
          <p:nvPr/>
        </p:nvSpPr>
        <p:spPr>
          <a:xfrm>
            <a:off x="9418320" y="223113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↑</a:t>
            </a:r>
            <a:endParaRPr lang="en-US" sz="1500" dirty="0"/>
          </a:p>
        </p:txBody>
      </p:sp>
      <p:sp>
        <p:nvSpPr>
          <p:cNvPr id="84" name="Text 82"/>
          <p:cNvSpPr/>
          <p:nvPr/>
        </p:nvSpPr>
        <p:spPr>
          <a:xfrm>
            <a:off x="9418320" y="2843784"/>
            <a:ext cx="2093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Expandable</a:t>
            </a:r>
            <a:endParaRPr lang="en-US" sz="2200" dirty="0"/>
          </a:p>
        </p:txBody>
      </p:sp>
      <p:sp>
        <p:nvSpPr>
          <p:cNvPr id="85" name="Shape 83"/>
          <p:cNvSpPr/>
          <p:nvPr/>
        </p:nvSpPr>
        <p:spPr>
          <a:xfrm>
            <a:off x="9418320" y="3355848"/>
            <a:ext cx="841248" cy="0"/>
          </a:xfrm>
          <a:prstGeom prst="line">
            <a:avLst/>
          </a:prstGeom>
          <a:noFill/>
          <a:ln w="2286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4"/>
          <p:cNvSpPr/>
          <p:nvPr/>
        </p:nvSpPr>
        <p:spPr>
          <a:xfrm>
            <a:off x="9418320" y="3593592"/>
            <a:ext cx="2093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Expandable</a:t>
            </a:r>
            <a:endParaRPr lang="en-US" sz="1020" dirty="0"/>
          </a:p>
        </p:txBody>
      </p:sp>
      <p:sp>
        <p:nvSpPr>
          <p:cNvPr id="87" name="Text 85"/>
          <p:cNvSpPr/>
          <p:nvPr/>
        </p:nvSpPr>
        <p:spPr>
          <a:xfrm>
            <a:off x="9418320" y="3959352"/>
            <a:ext cx="2093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리텐션 전략 기능으로 확장 가능</a:t>
            </a:r>
            <a:endParaRPr lang="en-US" sz="104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94360" y="-685800"/>
            <a:ext cx="2057400" cy="2057400"/>
          </a:xfrm>
          <a:prstGeom prst="ellipse">
            <a:avLst/>
          </a:prstGeom>
          <a:solidFill>
            <a:srgbClr val="F1F5F9">
              <a:alpha val="94000"/>
            </a:srgbClr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109728" y="-155448"/>
            <a:ext cx="960120" cy="96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0698480" y="5760720"/>
            <a:ext cx="1874520" cy="1874520"/>
          </a:xfrm>
          <a:prstGeom prst="ellipse">
            <a:avLst/>
          </a:prstGeom>
          <a:solidFill>
            <a:srgbClr val="F1F5F9">
              <a:alpha val="92000"/>
            </a:srgbClr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1173968" y="6199632"/>
            <a:ext cx="960120" cy="96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1292840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02336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1439144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48640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1585448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94944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1731752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41248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1878056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987552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1292840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02336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1439144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548640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1585448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94944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1731752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841248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11878056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87552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11292840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402336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11439144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548640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11585448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694944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1731752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841248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1878056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987552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11292840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402336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11439144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548640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11585448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694944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11731752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841248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11878056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987552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11292840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402336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11439144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548640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11585448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694944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11731752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841248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11878056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987552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11594592" y="6528816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713232" y="42062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Problem Solving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94944" y="74980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8.2 문제 해결과정에서의 고민과 선택</a:t>
            </a:r>
            <a:endParaRPr lang="en-US" sz="2300" dirty="0"/>
          </a:p>
        </p:txBody>
      </p:sp>
      <p:sp>
        <p:nvSpPr>
          <p:cNvPr id="59" name="Text 57"/>
          <p:cNvSpPr/>
          <p:nvPr/>
        </p:nvSpPr>
        <p:spPr>
          <a:xfrm>
            <a:off x="713232" y="1243584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정확도보다 서비스 흐름과 설명 가능성을 우선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804672" y="1755648"/>
            <a:ext cx="5074920" cy="1097280"/>
          </a:xfrm>
          <a:prstGeom prst="roundRect">
            <a:avLst>
              <a:gd name="adj" fmla="val 9167"/>
            </a:avLst>
          </a:prstGeom>
          <a:solidFill>
            <a:srgbClr val="FFF8F8"/>
          </a:solidFill>
          <a:ln w="10160">
            <a:solidFill>
              <a:srgbClr val="E11D48">
                <a:alpha val="40000"/>
              </a:srgbClr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/>
          <p:nvPr/>
        </p:nvSpPr>
        <p:spPr>
          <a:xfrm>
            <a:off x="987552" y="1901952"/>
            <a:ext cx="4709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불균형 문제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987552" y="2194560"/>
            <a:ext cx="47091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초기에는 특정 클래스 중심으로 예측이 치우칠 수 있어 auto_class_weights="Balanced"를 적용하고 TotalF1을 평가 기준으로 사용하였다.</a:t>
            </a:r>
            <a:endParaRPr lang="en-US" sz="820" dirty="0"/>
          </a:p>
        </p:txBody>
      </p:sp>
      <p:sp>
        <p:nvSpPr>
          <p:cNvPr id="63" name="Shape 61"/>
          <p:cNvSpPr/>
          <p:nvPr/>
        </p:nvSpPr>
        <p:spPr>
          <a:xfrm>
            <a:off x="6291072" y="1755648"/>
            <a:ext cx="5074920" cy="1097280"/>
          </a:xfrm>
          <a:prstGeom prst="roundRect">
            <a:avLst>
              <a:gd name="adj" fmla="val 9167"/>
            </a:avLst>
          </a:prstGeom>
          <a:solidFill>
            <a:srgbClr val="F8FBFF"/>
          </a:solidFill>
          <a:ln w="10160">
            <a:solidFill>
              <a:srgbClr val="2563EB">
                <a:alpha val="40000"/>
              </a:srgbClr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2"/>
          <p:cNvSpPr/>
          <p:nvPr/>
        </p:nvSpPr>
        <p:spPr>
          <a:xfrm>
            <a:off x="6473952" y="1901952"/>
            <a:ext cx="4709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입력값과 학습 피처 차이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473952" y="2194560"/>
            <a:ext cx="47091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UI에는 모든 원본 변수를 받기 어렵기 때문에 시청 시간 코드 기반 근사값과 파생변수를 생성해 모델 컬럼을 맞췄다.</a:t>
            </a:r>
            <a:endParaRPr lang="en-US" sz="820" dirty="0"/>
          </a:p>
        </p:txBody>
      </p:sp>
      <p:sp>
        <p:nvSpPr>
          <p:cNvPr id="66" name="Shape 64"/>
          <p:cNvSpPr/>
          <p:nvPr/>
        </p:nvSpPr>
        <p:spPr>
          <a:xfrm>
            <a:off x="804672" y="3337560"/>
            <a:ext cx="5074920" cy="1097280"/>
          </a:xfrm>
          <a:prstGeom prst="roundRect">
            <a:avLst>
              <a:gd name="adj" fmla="val 9167"/>
            </a:avLst>
          </a:prstGeom>
          <a:solidFill>
            <a:srgbClr val="F8FFFB"/>
          </a:solidFill>
          <a:ln w="10160">
            <a:solidFill>
              <a:srgbClr val="16A34A">
                <a:alpha val="40000"/>
              </a:srgbClr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5"/>
          <p:cNvSpPr/>
          <p:nvPr/>
        </p:nvSpPr>
        <p:spPr>
          <a:xfrm>
            <a:off x="987552" y="3483864"/>
            <a:ext cx="4709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챗봇 답변 품질 문제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987552" y="3776472"/>
            <a:ext cx="47091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질문과 의미 없는 짧은 질문을 필터링하고, 프로젝트 관련 키워드 중심으로 답변하도록 규칙 기반 전처리를 추가했다.</a:t>
            </a:r>
            <a:endParaRPr lang="en-US" sz="820" dirty="0"/>
          </a:p>
        </p:txBody>
      </p:sp>
      <p:sp>
        <p:nvSpPr>
          <p:cNvPr id="69" name="Shape 67"/>
          <p:cNvSpPr/>
          <p:nvPr/>
        </p:nvSpPr>
        <p:spPr>
          <a:xfrm>
            <a:off x="6291072" y="3337560"/>
            <a:ext cx="5074920" cy="1097280"/>
          </a:xfrm>
          <a:prstGeom prst="roundRect">
            <a:avLst>
              <a:gd name="adj" fmla="val 9167"/>
            </a:avLst>
          </a:prstGeom>
          <a:solidFill>
            <a:srgbClr val="FAF8FF"/>
          </a:solidFill>
          <a:ln w="10160">
            <a:solidFill>
              <a:srgbClr val="7C3AED">
                <a:alpha val="40000"/>
              </a:srgbClr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8"/>
          <p:cNvSpPr/>
          <p:nvPr/>
        </p:nvSpPr>
        <p:spPr>
          <a:xfrm>
            <a:off x="6473952" y="3483864"/>
            <a:ext cx="4709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가독성 개선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473952" y="3776472"/>
            <a:ext cx="47091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위험군 결과를 숫자만 보여 주지 않고 색상, 확률 막대, 요약 칩 형태로 구성해 사용자가 빠르게 이해할 수 있도록 했다.</a:t>
            </a:r>
            <a:endParaRPr lang="en-US" sz="8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94360" y="-685800"/>
            <a:ext cx="2057400" cy="2057400"/>
          </a:xfrm>
          <a:prstGeom prst="ellipse">
            <a:avLst/>
          </a:prstGeom>
          <a:solidFill>
            <a:srgbClr val="F1F5F9">
              <a:alpha val="94000"/>
            </a:srgbClr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109728" y="-155448"/>
            <a:ext cx="960120" cy="96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0698480" y="5760720"/>
            <a:ext cx="1874520" cy="1874520"/>
          </a:xfrm>
          <a:prstGeom prst="ellipse">
            <a:avLst/>
          </a:prstGeom>
          <a:solidFill>
            <a:srgbClr val="F1F5F9">
              <a:alpha val="92000"/>
            </a:srgbClr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1173968" y="6199632"/>
            <a:ext cx="960120" cy="96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1292840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02336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1439144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48640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1585448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94944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1731752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41248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1878056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987552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1292840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02336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1439144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548640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1585448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94944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1731752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841248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11878056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87552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11292840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402336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11439144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548640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11585448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694944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1731752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841248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1878056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987552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11292840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402336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11439144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548640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11585448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694944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11731752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841248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11878056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987552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11292840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402336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11439144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548640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11585448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694944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11731752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841248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11878056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987552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11594592" y="6528816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713232" y="42062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 Step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94944" y="74980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8.3 향후 개선 방향</a:t>
            </a:r>
            <a:endParaRPr lang="en-US" sz="2300" dirty="0"/>
          </a:p>
        </p:txBody>
      </p:sp>
      <p:sp>
        <p:nvSpPr>
          <p:cNvPr id="59" name="Text 57"/>
          <p:cNvSpPr/>
          <p:nvPr/>
        </p:nvSpPr>
        <p:spPr>
          <a:xfrm>
            <a:off x="713232" y="1243584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리텐션 전략 추천 기능으로 확장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1005840" y="2304288"/>
            <a:ext cx="1508760" cy="786384"/>
          </a:xfrm>
          <a:prstGeom prst="roundRect">
            <a:avLst>
              <a:gd name="adj" fmla="val 12791"/>
            </a:avLst>
          </a:prstGeom>
          <a:solidFill>
            <a:srgbClr val="EFF6FF"/>
          </a:solidFill>
          <a:ln w="10160">
            <a:solidFill>
              <a:srgbClr val="2563EB">
                <a:alpha val="50000"/>
              </a:srgbClr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/>
          <p:nvPr/>
        </p:nvSpPr>
        <p:spPr>
          <a:xfrm>
            <a:off x="1078992" y="2441448"/>
            <a:ext cx="136245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원인</a:t>
            </a:r>
            <a:endParaRPr lang="en-US" sz="810" dirty="0"/>
          </a:p>
          <a:p>
            <a:pPr marL="0" indent="0" algn="ctr">
              <a:buNone/>
            </a:pPr>
            <a:r>
              <a:rPr lang="en-US" sz="81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분석</a:t>
            </a:r>
            <a:endParaRPr lang="en-US" sz="810" dirty="0"/>
          </a:p>
        </p:txBody>
      </p:sp>
      <p:sp>
        <p:nvSpPr>
          <p:cNvPr id="62" name="Shape 60"/>
          <p:cNvSpPr/>
          <p:nvPr/>
        </p:nvSpPr>
        <p:spPr>
          <a:xfrm>
            <a:off x="2578608" y="2697480"/>
            <a:ext cx="85039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3520440" y="2304288"/>
            <a:ext cx="1508760" cy="786384"/>
          </a:xfrm>
          <a:prstGeom prst="roundRect">
            <a:avLst>
              <a:gd name="adj" fmla="val 12791"/>
            </a:avLst>
          </a:prstGeom>
          <a:solidFill>
            <a:srgbClr val="F0FDF4"/>
          </a:solidFill>
          <a:ln w="10160">
            <a:solidFill>
              <a:srgbClr val="16A34A">
                <a:alpha val="50000"/>
              </a:srgbClr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2"/>
          <p:cNvSpPr/>
          <p:nvPr/>
        </p:nvSpPr>
        <p:spPr>
          <a:xfrm>
            <a:off x="3593592" y="2441448"/>
            <a:ext cx="136245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맞춤형</a:t>
            </a:r>
            <a:endParaRPr lang="en-US" sz="810" dirty="0"/>
          </a:p>
          <a:p>
            <a:pPr marL="0" indent="0" algn="ctr">
              <a:buNone/>
            </a:pPr>
            <a:r>
              <a:rPr lang="en-US" sz="81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 추천</a:t>
            </a:r>
            <a:endParaRPr lang="en-US" sz="810" dirty="0"/>
          </a:p>
        </p:txBody>
      </p:sp>
      <p:sp>
        <p:nvSpPr>
          <p:cNvPr id="65" name="Shape 63"/>
          <p:cNvSpPr/>
          <p:nvPr/>
        </p:nvSpPr>
        <p:spPr>
          <a:xfrm>
            <a:off x="5093208" y="2697480"/>
            <a:ext cx="85039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6035040" y="2304288"/>
            <a:ext cx="1508760" cy="786384"/>
          </a:xfrm>
          <a:prstGeom prst="roundRect">
            <a:avLst>
              <a:gd name="adj" fmla="val 12791"/>
            </a:avLst>
          </a:prstGeom>
          <a:solidFill>
            <a:srgbClr val="FFF1F2"/>
          </a:solidFill>
          <a:ln w="10160">
            <a:solidFill>
              <a:srgbClr val="E11D48">
                <a:alpha val="50000"/>
              </a:srgbClr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5"/>
          <p:cNvSpPr/>
          <p:nvPr/>
        </p:nvSpPr>
        <p:spPr>
          <a:xfrm>
            <a:off x="6108192" y="2441448"/>
            <a:ext cx="136245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A/B 테스트</a:t>
            </a:r>
            <a:endParaRPr lang="en-US" sz="810" dirty="0"/>
          </a:p>
          <a:p>
            <a:pPr marL="0" indent="0" algn="ctr">
              <a:buNone/>
            </a:pPr>
            <a:r>
              <a:rPr lang="en-US" sz="81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 측정</a:t>
            </a:r>
            <a:endParaRPr lang="en-US" sz="810" dirty="0"/>
          </a:p>
        </p:txBody>
      </p:sp>
      <p:sp>
        <p:nvSpPr>
          <p:cNvPr id="68" name="Shape 66"/>
          <p:cNvSpPr/>
          <p:nvPr/>
        </p:nvSpPr>
        <p:spPr>
          <a:xfrm>
            <a:off x="7607808" y="2697480"/>
            <a:ext cx="85039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8549640" y="2304288"/>
            <a:ext cx="1508760" cy="786384"/>
          </a:xfrm>
          <a:prstGeom prst="roundRect">
            <a:avLst>
              <a:gd name="adj" fmla="val 12791"/>
            </a:avLst>
          </a:prstGeom>
          <a:solidFill>
            <a:srgbClr val="F5F3FF"/>
          </a:solidFill>
          <a:ln w="10160">
            <a:solidFill>
              <a:srgbClr val="7C3AED">
                <a:alpha val="50000"/>
              </a:srgbClr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8"/>
          <p:cNvSpPr/>
          <p:nvPr/>
        </p:nvSpPr>
        <p:spPr>
          <a:xfrm>
            <a:off x="8622792" y="2441448"/>
            <a:ext cx="136245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세그먼트</a:t>
            </a:r>
            <a:endParaRPr lang="en-US" sz="810" dirty="0"/>
          </a:p>
          <a:p>
            <a:pPr marL="0" indent="0" algn="ctr">
              <a:buNone/>
            </a:pPr>
            <a:r>
              <a:rPr lang="en-US" sz="81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분류</a:t>
            </a:r>
            <a:endParaRPr lang="en-US" sz="810" dirty="0"/>
          </a:p>
        </p:txBody>
      </p:sp>
      <p:sp>
        <p:nvSpPr>
          <p:cNvPr id="71" name="Shape 69"/>
          <p:cNvSpPr/>
          <p:nvPr/>
        </p:nvSpPr>
        <p:spPr>
          <a:xfrm>
            <a:off x="1042416" y="4041648"/>
            <a:ext cx="59436" cy="59436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70"/>
          <p:cNvSpPr/>
          <p:nvPr/>
        </p:nvSpPr>
        <p:spPr>
          <a:xfrm>
            <a:off x="1197864" y="3986784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쿠폰, 요금제 전환, 콘텐츠 추천 등 실제 리텐션 개입 전략을 모델 결과와 연결한다.</a:t>
            </a:r>
            <a:endParaRPr lang="en-US" sz="930" dirty="0"/>
          </a:p>
        </p:txBody>
      </p:sp>
      <p:sp>
        <p:nvSpPr>
          <p:cNvPr id="73" name="Shape 71"/>
          <p:cNvSpPr/>
          <p:nvPr/>
        </p:nvSpPr>
        <p:spPr>
          <a:xfrm>
            <a:off x="1042416" y="4425696"/>
            <a:ext cx="59436" cy="59436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2"/>
          <p:cNvSpPr/>
          <p:nvPr/>
        </p:nvSpPr>
        <p:spPr>
          <a:xfrm>
            <a:off x="1197864" y="4370832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챗봇은 코드 설명을 넘어 운영자용 분석 도우미로 확장할 수 있다.</a:t>
            </a:r>
            <a:endParaRPr lang="en-US" sz="930" dirty="0"/>
          </a:p>
        </p:txBody>
      </p:sp>
      <p:sp>
        <p:nvSpPr>
          <p:cNvPr id="75" name="Shape 73"/>
          <p:cNvSpPr/>
          <p:nvPr/>
        </p:nvSpPr>
        <p:spPr>
          <a:xfrm>
            <a:off x="1042416" y="4809744"/>
            <a:ext cx="59436" cy="59436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Text 74"/>
          <p:cNvSpPr/>
          <p:nvPr/>
        </p:nvSpPr>
        <p:spPr>
          <a:xfrm>
            <a:off x="1197864" y="47548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서비스 로그가 확보되면 라벨링 기준을 개선하고 재학습 파이프라인을 자동화할 수 있다.</a:t>
            </a:r>
            <a:endParaRPr lang="en-US" sz="93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94360" y="-685800"/>
            <a:ext cx="2057400" cy="2057400"/>
          </a:xfrm>
          <a:prstGeom prst="ellipse">
            <a:avLst/>
          </a:prstGeom>
          <a:solidFill>
            <a:srgbClr val="F1F5F9">
              <a:alpha val="94000"/>
            </a:srgbClr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109728" y="-155448"/>
            <a:ext cx="960120" cy="96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0698480" y="5760720"/>
            <a:ext cx="1874520" cy="1874520"/>
          </a:xfrm>
          <a:prstGeom prst="ellipse">
            <a:avLst/>
          </a:prstGeom>
          <a:solidFill>
            <a:srgbClr val="F1F5F9">
              <a:alpha val="92000"/>
            </a:srgbClr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1173968" y="6199632"/>
            <a:ext cx="960120" cy="96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1292840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02336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1439144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48640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1585448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94944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1731752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41248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1878056" y="38404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987552" y="6144768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1292840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02336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1439144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548640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1585448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94944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1731752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841248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11878056" y="53035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87552" y="6291072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11292840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402336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11439144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548640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11585448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694944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1731752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841248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1878056" y="67665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987552" y="6437376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11292840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402336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11439144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548640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11585448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694944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11731752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841248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11878056" y="82296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987552" y="6583680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11292840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402336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11439144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548640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11585448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694944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11731752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841248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11878056" y="96926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987552" y="6729984"/>
            <a:ext cx="24689" cy="24689"/>
          </a:xfrm>
          <a:prstGeom prst="ellipse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11594592" y="6528816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713232" y="42062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References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94944" y="74980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참고자료 및 코드 링크</a:t>
            </a:r>
            <a:endParaRPr lang="en-US" sz="2300" dirty="0"/>
          </a:p>
        </p:txBody>
      </p:sp>
      <p:sp>
        <p:nvSpPr>
          <p:cNvPr id="59" name="Text 57"/>
          <p:cNvSpPr/>
          <p:nvPr/>
        </p:nvSpPr>
        <p:spPr>
          <a:xfrm>
            <a:off x="713232" y="1243584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링크와 주요 참고 문헌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749808" y="1691640"/>
            <a:ext cx="5349240" cy="3520440"/>
          </a:xfrm>
          <a:prstGeom prst="roundRect">
            <a:avLst>
              <a:gd name="adj" fmla="val 2857"/>
            </a:avLst>
          </a:prstGeom>
          <a:solidFill>
            <a:srgbClr val="FBFDFF"/>
          </a:solidFill>
          <a:ln w="10160">
            <a:solidFill>
              <a:srgbClr val="2563EB">
                <a:alpha val="45000"/>
              </a:srgbClr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1078992" y="1984248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CBD5E1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0"/>
          <p:cNvSpPr/>
          <p:nvPr/>
        </p:nvSpPr>
        <p:spPr>
          <a:xfrm>
            <a:off x="1078992" y="206654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↗</a:t>
            </a:r>
            <a:endParaRPr lang="en-US" sz="1500" dirty="0"/>
          </a:p>
        </p:txBody>
      </p:sp>
      <p:sp>
        <p:nvSpPr>
          <p:cNvPr id="63" name="Text 61"/>
          <p:cNvSpPr/>
          <p:nvPr/>
        </p:nvSpPr>
        <p:spPr>
          <a:xfrm>
            <a:off x="1078992" y="2697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깃허브 링크</a:t>
            </a:r>
            <a:endParaRPr lang="en-US" sz="2200" dirty="0"/>
          </a:p>
        </p:txBody>
      </p:sp>
      <p:sp>
        <p:nvSpPr>
          <p:cNvPr id="64" name="Shape 62"/>
          <p:cNvSpPr/>
          <p:nvPr/>
        </p:nvSpPr>
        <p:spPr>
          <a:xfrm>
            <a:off x="1078992" y="3154680"/>
            <a:ext cx="841248" cy="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1078992" y="3474720"/>
            <a:ext cx="443484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8890">
            <a:solidFill>
              <a:srgbClr val="2563E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4"/>
          <p:cNvSpPr/>
          <p:nvPr/>
        </p:nvSpPr>
        <p:spPr>
          <a:xfrm>
            <a:off x="1188720" y="3547872"/>
            <a:ext cx="4215384" cy="3566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https://github.com/jusechang</a:t>
            </a:r>
            <a:endParaRPr lang="en-US" sz="860" dirty="0"/>
          </a:p>
        </p:txBody>
      </p:sp>
      <p:sp>
        <p:nvSpPr>
          <p:cNvPr id="67" name="Text 65"/>
          <p:cNvSpPr/>
          <p:nvPr/>
        </p:nvSpPr>
        <p:spPr>
          <a:xfrm>
            <a:off x="1078992" y="425196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60" dirty="0"/>
          </a:p>
        </p:txBody>
      </p:sp>
      <p:sp>
        <p:nvSpPr>
          <p:cNvPr id="68" name="Shape 66"/>
          <p:cNvSpPr/>
          <p:nvPr/>
        </p:nvSpPr>
        <p:spPr>
          <a:xfrm>
            <a:off x="6492240" y="1691640"/>
            <a:ext cx="4937760" cy="3520440"/>
          </a:xfrm>
          <a:prstGeom prst="roundRect">
            <a:avLst>
              <a:gd name="adj" fmla="val 2857"/>
            </a:avLst>
          </a:prstGeom>
          <a:solidFill>
            <a:srgbClr val="FFFDFD"/>
          </a:solidFill>
          <a:ln w="10160">
            <a:solidFill>
              <a:srgbClr val="E11D48">
                <a:alpha val="45000"/>
              </a:srgbClr>
            </a:solidFill>
            <a:prstDash val="solid"/>
          </a:ln>
          <a:effectLst>
            <a:outerShdw blurRad="15240" dist="50800" dir="2700000" algn="bl" rotWithShape="0">
              <a:srgbClr val="D1D5DB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6793992" y="1984248"/>
            <a:ext cx="502920" cy="50292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CBD5E1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8"/>
          <p:cNvSpPr/>
          <p:nvPr/>
        </p:nvSpPr>
        <p:spPr>
          <a:xfrm>
            <a:off x="6793992" y="206654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</a:t>
            </a:r>
            <a:endParaRPr lang="en-US" sz="1500" dirty="0"/>
          </a:p>
        </p:txBody>
      </p:sp>
      <p:sp>
        <p:nvSpPr>
          <p:cNvPr id="71" name="Text 69"/>
          <p:cNvSpPr/>
          <p:nvPr/>
        </p:nvSpPr>
        <p:spPr>
          <a:xfrm>
            <a:off x="6793992" y="269748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참고 문헌 / 기술 문서</a:t>
            </a:r>
            <a:endParaRPr lang="en-US" sz="2000" dirty="0"/>
          </a:p>
        </p:txBody>
      </p:sp>
      <p:sp>
        <p:nvSpPr>
          <p:cNvPr id="72" name="Shape 70"/>
          <p:cNvSpPr/>
          <p:nvPr/>
        </p:nvSpPr>
        <p:spPr>
          <a:xfrm>
            <a:off x="6793992" y="3154680"/>
            <a:ext cx="868680" cy="0"/>
          </a:xfrm>
          <a:prstGeom prst="line">
            <a:avLst/>
          </a:prstGeom>
          <a:noFill/>
          <a:ln w="2286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/>
          <p:cNvSpPr/>
          <p:nvPr/>
        </p:nvSpPr>
        <p:spPr>
          <a:xfrm>
            <a:off x="6803136" y="3483864"/>
            <a:ext cx="59436" cy="59436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2"/>
          <p:cNvSpPr/>
          <p:nvPr/>
        </p:nvSpPr>
        <p:spPr>
          <a:xfrm>
            <a:off x="6958584" y="34290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CatBoost 공식 문서</a:t>
            </a:r>
            <a:endParaRPr lang="en-US" sz="910" dirty="0"/>
          </a:p>
        </p:txBody>
      </p:sp>
      <p:sp>
        <p:nvSpPr>
          <p:cNvPr id="75" name="Shape 73"/>
          <p:cNvSpPr/>
          <p:nvPr/>
        </p:nvSpPr>
        <p:spPr>
          <a:xfrm>
            <a:off x="6803136" y="3794760"/>
            <a:ext cx="59436" cy="59436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Text 74"/>
          <p:cNvSpPr/>
          <p:nvPr/>
        </p:nvSpPr>
        <p:spPr>
          <a:xfrm>
            <a:off x="6958584" y="373989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Flask 공식 문서</a:t>
            </a:r>
            <a:endParaRPr lang="en-US" sz="910" dirty="0"/>
          </a:p>
        </p:txBody>
      </p:sp>
      <p:sp>
        <p:nvSpPr>
          <p:cNvPr id="77" name="Shape 75"/>
          <p:cNvSpPr/>
          <p:nvPr/>
        </p:nvSpPr>
        <p:spPr>
          <a:xfrm>
            <a:off x="6803136" y="4105656"/>
            <a:ext cx="59436" cy="59436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Text 76"/>
          <p:cNvSpPr/>
          <p:nvPr/>
        </p:nvSpPr>
        <p:spPr>
          <a:xfrm>
            <a:off x="6958584" y="405079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Oracle Python Driver(oracledb) 문서</a:t>
            </a:r>
            <a:endParaRPr lang="en-US" sz="910" dirty="0"/>
          </a:p>
        </p:txBody>
      </p:sp>
      <p:sp>
        <p:nvSpPr>
          <p:cNvPr id="79" name="Shape 77"/>
          <p:cNvSpPr/>
          <p:nvPr/>
        </p:nvSpPr>
        <p:spPr>
          <a:xfrm>
            <a:off x="6803136" y="4416552"/>
            <a:ext cx="59436" cy="59436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Text 78"/>
          <p:cNvSpPr/>
          <p:nvPr/>
        </p:nvSpPr>
        <p:spPr>
          <a:xfrm>
            <a:off x="6958584" y="436168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Hugging Face Transformers / PEFT 문서</a:t>
            </a:r>
            <a:endParaRPr lang="en-US" sz="910" dirty="0"/>
          </a:p>
        </p:txBody>
      </p:sp>
      <p:sp>
        <p:nvSpPr>
          <p:cNvPr id="81" name="Shape 79"/>
          <p:cNvSpPr/>
          <p:nvPr/>
        </p:nvSpPr>
        <p:spPr>
          <a:xfrm>
            <a:off x="6803136" y="4727448"/>
            <a:ext cx="59436" cy="59436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Text 80"/>
          <p:cNvSpPr/>
          <p:nvPr/>
        </p:nvSpPr>
        <p:spPr>
          <a:xfrm>
            <a:off x="6958584" y="467258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QLoRA 및 LoRA 관련 기술 자료</a:t>
            </a:r>
            <a:endParaRPr lang="en-US" sz="9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1583</Words>
  <Application>Microsoft Office PowerPoint</Application>
  <PresentationFormat>와이드스크린</PresentationFormat>
  <Paragraphs>295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2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OTT Retention Analytics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OTT 이용자 이탈 위험 예측 및 AI 코드 챗봇 서비스</dc:title>
  <dc:subject>OTT Retention Analytics Final Presentation</dc:subject>
  <dc:creator>OpenAI</dc:creator>
  <cp:lastModifiedBy>주세창</cp:lastModifiedBy>
  <cp:revision>3</cp:revision>
  <dcterms:created xsi:type="dcterms:W3CDTF">2026-06-17T00:38:11Z</dcterms:created>
  <dcterms:modified xsi:type="dcterms:W3CDTF">2026-06-17T00:45:03Z</dcterms:modified>
</cp:coreProperties>
</file>