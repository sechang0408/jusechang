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6719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" y="109728"/>
            <a:ext cx="15727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28016" y="1554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27632" y="109728"/>
            <a:ext cx="171907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700784" y="1554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78708" y="109728"/>
            <a:ext cx="11155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51860" y="15544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94276" y="109728"/>
            <a:ext cx="71323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7428" y="15544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/>
              <a:t>intro</a:t>
            </a:r>
          </a:p>
        </p:txBody>
      </p:sp>
      <p:sp>
        <p:nvSpPr>
          <p:cNvPr id="11" name="Shape 9"/>
          <p:cNvSpPr/>
          <p:nvPr/>
        </p:nvSpPr>
        <p:spPr>
          <a:xfrm>
            <a:off x="5239512" y="109728"/>
            <a:ext cx="9144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12664" y="15544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3912" y="109728"/>
            <a:ext cx="768096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27064" y="1554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49440" y="109728"/>
            <a:ext cx="100584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22592" y="15544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5280" y="109728"/>
            <a:ext cx="118872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28432" y="15544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" y="676656"/>
            <a:ext cx="9098280" cy="310896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" y="722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2960" y="722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4864" y="1024128"/>
            <a:ext cx="9098280" cy="5449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345168" y="182880"/>
            <a:ext cx="2770632" cy="5632704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45168" y="2926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5168" y="566928"/>
            <a:ext cx="277063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09760" y="80467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9720072" y="7132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탭형 내비게이션으로 주요 기능에 빠르게 이동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509760" y="133502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9720072" y="12435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검색창을 통해 사용자 또는 그룹을 바로 조회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509760" y="191109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720072" y="17739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KPI를 카드형으로 직관적으로 확인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9509760" y="244144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9720072" y="23042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이탈 위험도 추이를 시각적으로 제공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509760" y="29535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9720072" y="2834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위험군별 요약으로 운영 우선순위 파악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509760" y="343814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9720072" y="336499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액션을 통해 세부 리포트로 이어지는 메인 허브 역할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345168" y="5321808"/>
            <a:ext cx="2770632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345168" y="5404104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345168" y="5797296"/>
            <a:ext cx="27706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555480" y="58795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메인 허브 화면, 빠른 탐색 가능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02920" y="1463040"/>
            <a:ext cx="8138160" cy="4526280"/>
          </a:xfrm>
          <a:prstGeom prst="roundRect">
            <a:avLst>
              <a:gd name="adj" fmla="val 1616"/>
            </a:avLst>
          </a:prstGeom>
          <a:solidFill>
            <a:srgbClr val="FAFBFC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7512" y="1609344"/>
            <a:ext cx="7808976" cy="1417320"/>
          </a:xfrm>
          <a:prstGeom prst="roundRect">
            <a:avLst>
              <a:gd name="adj" fmla="val 9032"/>
            </a:avLst>
          </a:prstGeom>
          <a:solidFill>
            <a:srgbClr val="171A4F"/>
          </a:solidFill>
          <a:ln w="12700">
            <a:solidFill>
              <a:srgbClr val="171A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623560" y="1417320"/>
            <a:ext cx="1828800" cy="1371600"/>
          </a:xfrm>
          <a:prstGeom prst="ellipse">
            <a:avLst/>
          </a:prstGeom>
          <a:solidFill>
            <a:srgbClr val="807BFF">
              <a:alpha val="30000"/>
            </a:srgbClr>
          </a:solidFill>
          <a:ln w="12700">
            <a:solidFill>
              <a:srgbClr val="8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629400" y="1508760"/>
            <a:ext cx="1463040" cy="1005840"/>
          </a:xfrm>
          <a:prstGeom prst="ellipse">
            <a:avLst/>
          </a:prstGeom>
          <a:solidFill>
            <a:srgbClr val="67E8F9">
              <a:alpha val="28000"/>
            </a:srgbClr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223760" y="1664208"/>
            <a:ext cx="1188720" cy="868680"/>
          </a:xfrm>
          <a:prstGeom prst="ellipse">
            <a:avLst/>
          </a:prstGeom>
          <a:solidFill>
            <a:srgbClr val="F472B6">
              <a:alpha val="26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22960" y="1737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627632" y="17236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1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377440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9232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42816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995160" y="17465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ko-KR" alt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</a:t>
            </a:r>
            <a:r>
              <a:rPr lang="ko-KR" alt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31720" y="1901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ko-KR" altLang="en-US" sz="1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메인화면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2331720" y="21762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E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 사용자와 추천 액션을 한눈에 확인하는 메인 허브 화면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0" y="2468880"/>
            <a:ext cx="4023360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834640" y="253288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ID 또는 그룹 검색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217920" y="2496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4088" y="3246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813816" y="33558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위험 유저</a:t>
            </a:r>
            <a:endParaRPr lang="en-US" sz="820" dirty="0"/>
          </a:p>
        </p:txBody>
      </p:sp>
      <p:sp>
        <p:nvSpPr>
          <p:cNvPr id="66" name="Text 64"/>
          <p:cNvSpPr/>
          <p:nvPr/>
        </p:nvSpPr>
        <p:spPr>
          <a:xfrm>
            <a:off x="809462" y="3554186"/>
            <a:ext cx="886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1,248명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813816" y="3797373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전주 대비 +8.4%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380744" y="144736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1380744" y="14382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295144" y="3246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2404872" y="33558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위험도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2404872" y="3520440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67%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2404872" y="37932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고위험군 320명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377440" y="2291769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2377440" y="2291769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3886200" y="324612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3995928" y="3355848"/>
            <a:ext cx="12435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손실액</a:t>
            </a:r>
            <a:endParaRPr lang="en-US" sz="820" dirty="0"/>
          </a:p>
        </p:txBody>
      </p:sp>
      <p:sp>
        <p:nvSpPr>
          <p:cNvPr id="78" name="Text 76"/>
          <p:cNvSpPr/>
          <p:nvPr/>
        </p:nvSpPr>
        <p:spPr>
          <a:xfrm>
            <a:off x="3995928" y="3511296"/>
            <a:ext cx="1243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₩18.0M</a:t>
            </a:r>
            <a:endParaRPr lang="en-US" sz="1800" dirty="0"/>
          </a:p>
        </p:txBody>
      </p:sp>
      <p:sp>
        <p:nvSpPr>
          <p:cNvPr id="79" name="Text 77"/>
          <p:cNvSpPr/>
          <p:nvPr/>
        </p:nvSpPr>
        <p:spPr>
          <a:xfrm>
            <a:off x="3995928" y="3792148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전환 시 -12%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478536" y="3032760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478536" y="3023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04088" y="4233672"/>
            <a:ext cx="28803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1"/>
          <p:cNvSpPr/>
          <p:nvPr/>
        </p:nvSpPr>
        <p:spPr>
          <a:xfrm>
            <a:off x="585216" y="412394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2"/>
          <p:cNvSpPr/>
          <p:nvPr/>
        </p:nvSpPr>
        <p:spPr>
          <a:xfrm>
            <a:off x="585216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841248" y="43159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이탈 위험도 추이</a:t>
            </a:r>
            <a:endParaRPr lang="en-US" sz="840" dirty="0"/>
          </a:p>
        </p:txBody>
      </p:sp>
      <p:sp>
        <p:nvSpPr>
          <p:cNvPr id="86" name="Shape 84"/>
          <p:cNvSpPr/>
          <p:nvPr/>
        </p:nvSpPr>
        <p:spPr>
          <a:xfrm>
            <a:off x="960120" y="5274259"/>
            <a:ext cx="155448" cy="312725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1298448" y="5159045"/>
            <a:ext cx="155448" cy="427939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86"/>
          <p:cNvSpPr/>
          <p:nvPr/>
        </p:nvSpPr>
        <p:spPr>
          <a:xfrm>
            <a:off x="1636776" y="5084978"/>
            <a:ext cx="155448" cy="502006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Shape 87"/>
          <p:cNvSpPr/>
          <p:nvPr/>
        </p:nvSpPr>
        <p:spPr>
          <a:xfrm>
            <a:off x="1975104" y="5109667"/>
            <a:ext cx="155448" cy="477317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2313432" y="4977994"/>
            <a:ext cx="155448" cy="608990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89"/>
          <p:cNvSpPr/>
          <p:nvPr/>
        </p:nvSpPr>
        <p:spPr>
          <a:xfrm>
            <a:off x="2651760" y="5035601"/>
            <a:ext cx="155448" cy="551383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90"/>
          <p:cNvSpPr/>
          <p:nvPr/>
        </p:nvSpPr>
        <p:spPr>
          <a:xfrm>
            <a:off x="2990088" y="4920386"/>
            <a:ext cx="155448" cy="666598"/>
          </a:xfrm>
          <a:prstGeom prst="rect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1"/>
          <p:cNvSpPr/>
          <p:nvPr/>
        </p:nvSpPr>
        <p:spPr>
          <a:xfrm>
            <a:off x="886968" y="566013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3/10   3/11   3/12   3/13   3/14   3/15   3/16</a:t>
            </a:r>
            <a:endParaRPr lang="en-US" sz="680" dirty="0"/>
          </a:p>
        </p:txBody>
      </p:sp>
      <p:sp>
        <p:nvSpPr>
          <p:cNvPr id="94" name="Shape 92"/>
          <p:cNvSpPr/>
          <p:nvPr/>
        </p:nvSpPr>
        <p:spPr>
          <a:xfrm>
            <a:off x="3767328" y="4233672"/>
            <a:ext cx="1234440" cy="1572768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3"/>
          <p:cNvSpPr/>
          <p:nvPr/>
        </p:nvSpPr>
        <p:spPr>
          <a:xfrm>
            <a:off x="3648456" y="412394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4"/>
          <p:cNvSpPr/>
          <p:nvPr/>
        </p:nvSpPr>
        <p:spPr>
          <a:xfrm>
            <a:off x="3648456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886200" y="432511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위험군 요약</a:t>
            </a:r>
            <a:endParaRPr lang="en-US" sz="840" dirty="0"/>
          </a:p>
        </p:txBody>
      </p:sp>
      <p:sp>
        <p:nvSpPr>
          <p:cNvPr id="98" name="Text 96"/>
          <p:cNvSpPr/>
          <p:nvPr/>
        </p:nvSpPr>
        <p:spPr>
          <a:xfrm>
            <a:off x="3886200" y="458114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고위험 320명</a:t>
            </a:r>
            <a:endParaRPr lang="en-US" sz="780" dirty="0"/>
          </a:p>
        </p:txBody>
      </p:sp>
      <p:sp>
        <p:nvSpPr>
          <p:cNvPr id="99" name="Text 97"/>
          <p:cNvSpPr/>
          <p:nvPr/>
        </p:nvSpPr>
        <p:spPr>
          <a:xfrm>
            <a:off x="3886200" y="485546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주의 540명</a:t>
            </a:r>
            <a:endParaRPr lang="en-US" sz="780" dirty="0"/>
          </a:p>
        </p:txBody>
      </p:sp>
      <p:sp>
        <p:nvSpPr>
          <p:cNvPr id="100" name="Text 98"/>
          <p:cNvSpPr/>
          <p:nvPr/>
        </p:nvSpPr>
        <p:spPr>
          <a:xfrm>
            <a:off x="3886200" y="5129784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적정 388명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5184648" y="4233672"/>
            <a:ext cx="333756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5065776" y="412394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5065776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5321808" y="432511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액션</a:t>
            </a:r>
            <a:endParaRPr lang="en-US" sz="840" dirty="0"/>
          </a:p>
        </p:txBody>
      </p:sp>
      <p:sp>
        <p:nvSpPr>
          <p:cNvPr id="105" name="Shape 103"/>
          <p:cNvSpPr/>
          <p:nvPr/>
        </p:nvSpPr>
        <p:spPr>
          <a:xfrm>
            <a:off x="5294376" y="4544568"/>
            <a:ext cx="1600200" cy="228600"/>
          </a:xfrm>
          <a:prstGeom prst="roundRect">
            <a:avLst>
              <a:gd name="adj" fmla="val 24000"/>
            </a:avLst>
          </a:prstGeom>
          <a:solidFill>
            <a:srgbClr val="ECF4FF"/>
          </a:solidFill>
          <a:ln w="12700">
            <a:solidFill>
              <a:srgbClr val="EC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5413248" y="4590288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4F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요금제 전환 제안</a:t>
            </a:r>
            <a:endParaRPr lang="en-US" sz="760" dirty="0"/>
          </a:p>
        </p:txBody>
      </p:sp>
      <p:sp>
        <p:nvSpPr>
          <p:cNvPr id="107" name="Shape 105"/>
          <p:cNvSpPr/>
          <p:nvPr/>
        </p:nvSpPr>
        <p:spPr>
          <a:xfrm>
            <a:off x="5294376" y="4892040"/>
            <a:ext cx="1600200" cy="228600"/>
          </a:xfrm>
          <a:prstGeom prst="roundRect">
            <a:avLst>
              <a:gd name="adj" fmla="val 24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106"/>
          <p:cNvSpPr/>
          <p:nvPr/>
        </p:nvSpPr>
        <p:spPr>
          <a:xfrm>
            <a:off x="5413248" y="4937760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할인 쿠폰 발송</a:t>
            </a:r>
            <a:endParaRPr lang="en-US" sz="760" dirty="0"/>
          </a:p>
        </p:txBody>
      </p:sp>
      <p:sp>
        <p:nvSpPr>
          <p:cNvPr id="109" name="Shape 107"/>
          <p:cNvSpPr/>
          <p:nvPr/>
        </p:nvSpPr>
        <p:spPr>
          <a:xfrm>
            <a:off x="5294376" y="5239512"/>
            <a:ext cx="1600200" cy="228600"/>
          </a:xfrm>
          <a:prstGeom prst="roundRect">
            <a:avLst>
              <a:gd name="adj" fmla="val 24000"/>
            </a:avLst>
          </a:prstGeom>
          <a:solidFill>
            <a:srgbClr val="EEFDF3"/>
          </a:solidFill>
          <a:ln w="12700">
            <a:solidFill>
              <a:srgbClr val="EEF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0" name="Text 108"/>
          <p:cNvSpPr/>
          <p:nvPr/>
        </p:nvSpPr>
        <p:spPr>
          <a:xfrm>
            <a:off x="5413248" y="528523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6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장르 신작 알림</a:t>
            </a:r>
            <a:endParaRPr lang="en-US" sz="760" dirty="0"/>
          </a:p>
        </p:txBody>
      </p:sp>
      <p:sp>
        <p:nvSpPr>
          <p:cNvPr id="111" name="Rectangle 110"/>
          <p:cNvSpPr/>
          <p:nvPr/>
        </p:nvSpPr>
        <p:spPr>
          <a:xfrm>
            <a:off x="1627632" y="1636776"/>
            <a:ext cx="4160520" cy="210312"/>
          </a:xfrm>
          <a:prstGeom prst="rect">
            <a:avLst/>
          </a:prstGeom>
          <a:solidFill>
            <a:srgbClr val="1D1F6E"/>
          </a:solidFill>
          <a:ln>
            <a:solidFill>
              <a:srgbClr val="1D1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755648" y="1636776"/>
            <a:ext cx="3794760" cy="192024"/>
          </a:xfrm>
          <a:prstGeom prst="roundRect">
            <a:avLst/>
          </a:prstGeom>
          <a:solidFill>
            <a:srgbClr val="222476"/>
          </a:solidFill>
          <a:ln>
            <a:solidFill>
              <a:srgbClr val="222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787651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맑은 고딕"/>
              </a:rPr>
              <a:t>대시보드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511399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965960" y="1817827"/>
            <a:ext cx="338328" cy="822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2546604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기능 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270351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305556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기능 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029303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4064508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리포트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88255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823460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설정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" y="109728"/>
            <a:ext cx="15727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28016" y="1554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27632" y="109728"/>
            <a:ext cx="171907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700784" y="1554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화면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74974" y="109728"/>
            <a:ext cx="11155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48126" y="15544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90542" y="109728"/>
            <a:ext cx="71323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63694" y="15544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32044" y="109728"/>
            <a:ext cx="9144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05196" y="15544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46444" y="109728"/>
            <a:ext cx="768096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19596" y="1554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58584" y="109728"/>
            <a:ext cx="100584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31736" y="15544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64424" y="109728"/>
            <a:ext cx="118872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37576" y="15544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" y="676656"/>
            <a:ext cx="9098280" cy="310896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" y="722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2960" y="722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 화면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4864" y="1024128"/>
            <a:ext cx="9098280" cy="5449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345168" y="182880"/>
            <a:ext cx="2770632" cy="5632704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45168" y="2926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5168" y="566928"/>
            <a:ext cx="277063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09760" y="77724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9720072" y="7132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ID 또는 그룹 선택을 통해 분석 대상 지정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509760" y="1321961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9720072" y="12435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이용 데이터를 자동 반영하여 예측 수행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509760" y="1834025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720072" y="17739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1~3개월 내 해지 위험도를 중앙에 강조 표시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9509760" y="2372868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9720072" y="23042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적정/주의/위험 분류 결과를 태그 형태로 제공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509760" y="29535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9720072" y="2834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이탈 원인을 항목별로 분석하여 노출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9509760" y="3429000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40" dirty="0"/>
          </a:p>
        </p:txBody>
      </p:sp>
      <p:sp>
        <p:nvSpPr>
          <p:cNvPr id="37" name="Text 35"/>
          <p:cNvSpPr/>
          <p:nvPr/>
        </p:nvSpPr>
        <p:spPr>
          <a:xfrm>
            <a:off x="9720072" y="336499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영향 요인과 유저 요약 정보를 함께 제공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9345168" y="5321808"/>
            <a:ext cx="2770632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345168" y="5404104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345168" y="5797296"/>
            <a:ext cx="27706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555480" y="58795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입력 간소화, 자동 분석 중심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02920" y="1463040"/>
            <a:ext cx="8138160" cy="4526280"/>
          </a:xfrm>
          <a:prstGeom prst="roundRect">
            <a:avLst>
              <a:gd name="adj" fmla="val 1616"/>
            </a:avLst>
          </a:prstGeom>
          <a:solidFill>
            <a:srgbClr val="FAFBFC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7512" y="1609344"/>
            <a:ext cx="7808976" cy="1417320"/>
          </a:xfrm>
          <a:prstGeom prst="roundRect">
            <a:avLst>
              <a:gd name="adj" fmla="val 9032"/>
            </a:avLst>
          </a:prstGeom>
          <a:solidFill>
            <a:srgbClr val="171A4F"/>
          </a:solidFill>
          <a:ln w="12700">
            <a:solidFill>
              <a:srgbClr val="171A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5623560" y="1417320"/>
            <a:ext cx="1828800" cy="1371600"/>
          </a:xfrm>
          <a:prstGeom prst="ellipse">
            <a:avLst/>
          </a:prstGeom>
          <a:solidFill>
            <a:srgbClr val="807BFF">
              <a:alpha val="30000"/>
            </a:srgbClr>
          </a:solidFill>
          <a:ln w="12700">
            <a:solidFill>
              <a:srgbClr val="8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6629400" y="1508760"/>
            <a:ext cx="1463040" cy="1005840"/>
          </a:xfrm>
          <a:prstGeom prst="ellipse">
            <a:avLst/>
          </a:prstGeom>
          <a:solidFill>
            <a:srgbClr val="67E8F9">
              <a:alpha val="28000"/>
            </a:srgbClr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223760" y="1664208"/>
            <a:ext cx="1188720" cy="868680"/>
          </a:xfrm>
          <a:prstGeom prst="ellipse">
            <a:avLst/>
          </a:prstGeom>
          <a:solidFill>
            <a:srgbClr val="F472B6">
              <a:alpha val="26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822960" y="1737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627632" y="17236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377440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1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99232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621024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242816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995160" y="17465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 | 로그아웃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331720" y="1901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</a:t>
            </a: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구독 해지 위험도 예측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2331720" y="21762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E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저장된 이용 데이터를 기반으로 해지 위험도를 예측하고 주요 원인을 분석합니다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560320" y="2468880"/>
            <a:ext cx="4023360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2834640" y="253288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ID 또는 그룹 검색</a:t>
            </a:r>
            <a:endParaRPr lang="en-US" sz="820" dirty="0"/>
          </a:p>
        </p:txBody>
      </p:sp>
      <p:sp>
        <p:nvSpPr>
          <p:cNvPr id="63" name="Text 61"/>
          <p:cNvSpPr/>
          <p:nvPr/>
        </p:nvSpPr>
        <p:spPr>
          <a:xfrm>
            <a:off x="6217920" y="2496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4088" y="3246120"/>
            <a:ext cx="2103120" cy="2395728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585216" y="31363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85216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832104" y="33558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조건</a:t>
            </a:r>
            <a:endParaRPr lang="en-US" sz="860" dirty="0"/>
          </a:p>
        </p:txBody>
      </p:sp>
      <p:sp>
        <p:nvSpPr>
          <p:cNvPr id="68" name="Text 66"/>
          <p:cNvSpPr/>
          <p:nvPr/>
        </p:nvSpPr>
        <p:spPr>
          <a:xfrm>
            <a:off x="832104" y="35935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ID 검색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2104" y="3730752"/>
            <a:ext cx="1755648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905256" y="3767328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UID</a:t>
            </a:r>
            <a:endParaRPr lang="en-US" sz="820" dirty="0"/>
          </a:p>
        </p:txBody>
      </p:sp>
      <p:sp>
        <p:nvSpPr>
          <p:cNvPr id="71" name="Text 69"/>
          <p:cNvSpPr/>
          <p:nvPr/>
        </p:nvSpPr>
        <p:spPr>
          <a:xfrm>
            <a:off x="832104" y="40325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그룹 선택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832104" y="4169664"/>
            <a:ext cx="1755648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905256" y="4206240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고위험군</a:t>
            </a:r>
            <a:endParaRPr lang="en-US" sz="820" dirty="0"/>
          </a:p>
        </p:txBody>
      </p:sp>
      <p:sp>
        <p:nvSpPr>
          <p:cNvPr id="74" name="Text 72"/>
          <p:cNvSpPr/>
          <p:nvPr/>
        </p:nvSpPr>
        <p:spPr>
          <a:xfrm>
            <a:off x="832104" y="44714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기간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832104" y="4608576"/>
            <a:ext cx="1755648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905256" y="464515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30일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832104" y="4983480"/>
            <a:ext cx="804672" cy="256032"/>
          </a:xfrm>
          <a:prstGeom prst="roundRect">
            <a:avLst>
              <a:gd name="adj" fmla="val 21429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868680" y="5029200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실행</a:t>
            </a:r>
            <a:endParaRPr lang="en-US" sz="820" dirty="0"/>
          </a:p>
        </p:txBody>
      </p:sp>
      <p:sp>
        <p:nvSpPr>
          <p:cNvPr id="79" name="Text 77"/>
          <p:cNvSpPr/>
          <p:nvPr/>
        </p:nvSpPr>
        <p:spPr>
          <a:xfrm>
            <a:off x="832104" y="5303520"/>
            <a:ext cx="1737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반영 데이터는 자동으로 불러옵니다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3008376" y="3246120"/>
            <a:ext cx="2057400" cy="2395728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1" name="Shape 79"/>
          <p:cNvSpPr/>
          <p:nvPr/>
        </p:nvSpPr>
        <p:spPr>
          <a:xfrm>
            <a:off x="2889504" y="31363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2889504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3136392" y="33558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결과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3145536" y="3602736"/>
            <a:ext cx="139206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1~3개월 내 해지 위험도</a:t>
            </a:r>
            <a:endParaRPr lang="en-US" sz="780" dirty="0"/>
          </a:p>
        </p:txBody>
      </p:sp>
      <p:sp>
        <p:nvSpPr>
          <p:cNvPr id="85" name="Text 83"/>
          <p:cNvSpPr/>
          <p:nvPr/>
        </p:nvSpPr>
        <p:spPr>
          <a:xfrm>
            <a:off x="3151197" y="3894909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78%</a:t>
            </a:r>
            <a:endParaRPr lang="en-US" sz="2800" dirty="0"/>
          </a:p>
        </p:txBody>
      </p:sp>
      <p:sp>
        <p:nvSpPr>
          <p:cNvPr id="86" name="Shape 84"/>
          <p:cNvSpPr/>
          <p:nvPr/>
        </p:nvSpPr>
        <p:spPr>
          <a:xfrm>
            <a:off x="3136392" y="4343400"/>
            <a:ext cx="731520" cy="219456"/>
          </a:xfrm>
          <a:prstGeom prst="roundRect">
            <a:avLst>
              <a:gd name="adj" fmla="val 25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5"/>
          <p:cNvSpPr/>
          <p:nvPr/>
        </p:nvSpPr>
        <p:spPr>
          <a:xfrm>
            <a:off x="4384548" y="343814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4384548" y="3429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3136392" y="437997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820" dirty="0"/>
          </a:p>
        </p:txBody>
      </p:sp>
      <p:sp>
        <p:nvSpPr>
          <p:cNvPr id="90" name="Text 88"/>
          <p:cNvSpPr/>
          <p:nvPr/>
        </p:nvSpPr>
        <p:spPr>
          <a:xfrm>
            <a:off x="3136392" y="46908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이탈 원인</a:t>
            </a:r>
            <a:endParaRPr lang="en-US" sz="860" dirty="0"/>
          </a:p>
        </p:txBody>
      </p:sp>
      <p:sp>
        <p:nvSpPr>
          <p:cNvPr id="91" name="Shape 89"/>
          <p:cNvSpPr/>
          <p:nvPr/>
        </p:nvSpPr>
        <p:spPr>
          <a:xfrm>
            <a:off x="2985516" y="4206240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90"/>
          <p:cNvSpPr/>
          <p:nvPr/>
        </p:nvSpPr>
        <p:spPr>
          <a:xfrm>
            <a:off x="2985516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191256" y="491032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최근 접속 빈도 감소</a:t>
            </a:r>
            <a:endParaRPr lang="en-US" sz="770" dirty="0"/>
          </a:p>
        </p:txBody>
      </p:sp>
      <p:sp>
        <p:nvSpPr>
          <p:cNvPr id="94" name="Text 92"/>
          <p:cNvSpPr/>
          <p:nvPr/>
        </p:nvSpPr>
        <p:spPr>
          <a:xfrm>
            <a:off x="3191256" y="5129784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월 시청 시간 급감</a:t>
            </a:r>
            <a:endParaRPr lang="en-US" sz="770" dirty="0"/>
          </a:p>
        </p:txBody>
      </p:sp>
      <p:sp>
        <p:nvSpPr>
          <p:cNvPr id="95" name="Text 93"/>
          <p:cNvSpPr/>
          <p:nvPr/>
        </p:nvSpPr>
        <p:spPr>
          <a:xfrm>
            <a:off x="3191256" y="5349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요금제 대비 만족도 저하</a:t>
            </a:r>
            <a:endParaRPr lang="en-US" sz="770" dirty="0"/>
          </a:p>
        </p:txBody>
      </p:sp>
      <p:sp>
        <p:nvSpPr>
          <p:cNvPr id="96" name="Shape 94"/>
          <p:cNvSpPr/>
          <p:nvPr/>
        </p:nvSpPr>
        <p:spPr>
          <a:xfrm>
            <a:off x="5257800" y="3246120"/>
            <a:ext cx="1627632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2857500" y="4526280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2857500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5385816" y="335584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영향 요인</a:t>
            </a:r>
            <a:endParaRPr lang="en-US" sz="860" dirty="0"/>
          </a:p>
        </p:txBody>
      </p:sp>
      <p:sp>
        <p:nvSpPr>
          <p:cNvPr id="100" name="Text 98"/>
          <p:cNvSpPr/>
          <p:nvPr/>
        </p:nvSpPr>
        <p:spPr>
          <a:xfrm>
            <a:off x="5367528" y="366674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접속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236208" y="3662172"/>
            <a:ext cx="393192" cy="109728"/>
          </a:xfrm>
          <a:prstGeom prst="roundRect">
            <a:avLst>
              <a:gd name="adj" fmla="val 41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100"/>
          <p:cNvSpPr/>
          <p:nvPr/>
        </p:nvSpPr>
        <p:spPr>
          <a:xfrm>
            <a:off x="6236208" y="3662172"/>
            <a:ext cx="338145" cy="109728"/>
          </a:xfrm>
          <a:prstGeom prst="roundRect">
            <a:avLst>
              <a:gd name="adj" fmla="val 4166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101"/>
          <p:cNvSpPr/>
          <p:nvPr/>
        </p:nvSpPr>
        <p:spPr>
          <a:xfrm>
            <a:off x="5367528" y="3995928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시청 시간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236208" y="3991356"/>
            <a:ext cx="393192" cy="109728"/>
          </a:xfrm>
          <a:prstGeom prst="roundRect">
            <a:avLst>
              <a:gd name="adj" fmla="val 41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Shape 103"/>
          <p:cNvSpPr/>
          <p:nvPr/>
        </p:nvSpPr>
        <p:spPr>
          <a:xfrm>
            <a:off x="6236208" y="3991356"/>
            <a:ext cx="279166" cy="109728"/>
          </a:xfrm>
          <a:prstGeom prst="roundRect">
            <a:avLst>
              <a:gd name="adj" fmla="val 4166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6" name="Text 104"/>
          <p:cNvSpPr/>
          <p:nvPr/>
        </p:nvSpPr>
        <p:spPr>
          <a:xfrm>
            <a:off x="5367528" y="4325112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플랜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6236208" y="4320540"/>
            <a:ext cx="393192" cy="109728"/>
          </a:xfrm>
          <a:prstGeom prst="roundRect">
            <a:avLst>
              <a:gd name="adj" fmla="val 41667"/>
            </a:avLst>
          </a:prstGeom>
          <a:solidFill>
            <a:srgbClr val="EDF1F6"/>
          </a:solidFill>
          <a:ln w="12700">
            <a:solidFill>
              <a:srgbClr val="EDF1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Shape 106"/>
          <p:cNvSpPr/>
          <p:nvPr/>
        </p:nvSpPr>
        <p:spPr>
          <a:xfrm>
            <a:off x="6236208" y="4320540"/>
            <a:ext cx="247711" cy="109728"/>
          </a:xfrm>
          <a:prstGeom prst="roundRect">
            <a:avLst>
              <a:gd name="adj" fmla="val 41667"/>
            </a:avLst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9" name="Shape 107"/>
          <p:cNvSpPr/>
          <p:nvPr/>
        </p:nvSpPr>
        <p:spPr>
          <a:xfrm>
            <a:off x="5257800" y="4873752"/>
            <a:ext cx="3264408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0" name="Shape 108"/>
          <p:cNvSpPr/>
          <p:nvPr/>
        </p:nvSpPr>
        <p:spPr>
          <a:xfrm>
            <a:off x="5138928" y="3118104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1" name="Text 109"/>
          <p:cNvSpPr/>
          <p:nvPr/>
        </p:nvSpPr>
        <p:spPr>
          <a:xfrm>
            <a:off x="5138928" y="31089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5385816" y="496519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요약 정보</a:t>
            </a:r>
            <a:endParaRPr lang="en-US" sz="860" dirty="0"/>
          </a:p>
        </p:txBody>
      </p:sp>
      <p:sp>
        <p:nvSpPr>
          <p:cNvPr id="113" name="Text 111"/>
          <p:cNvSpPr/>
          <p:nvPr/>
        </p:nvSpPr>
        <p:spPr>
          <a:xfrm>
            <a:off x="5385816" y="516636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6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플랜: 스탠다드   |   최근 30일 시청 12.4시간</a:t>
            </a:r>
            <a:endParaRPr lang="en-US" sz="760" dirty="0"/>
          </a:p>
          <a:p>
            <a:pPr marL="0" indent="0" algn="l">
              <a:buNone/>
            </a:pPr>
            <a:r>
              <a:rPr lang="en-US" sz="76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접속일: 3일 전   |   선호 장르: 스릴러 / 예능</a:t>
            </a:r>
            <a:endParaRPr lang="en-US" sz="760" dirty="0"/>
          </a:p>
          <a:p>
            <a:pPr marL="0" indent="0" algn="l">
              <a:buNone/>
            </a:pPr>
            <a:r>
              <a:rPr lang="en-US" sz="76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액션: 광고형 요금제 전환 또는 쿠폰 제공</a:t>
            </a:r>
            <a:endParaRPr lang="en-US" sz="760" dirty="0"/>
          </a:p>
        </p:txBody>
      </p:sp>
      <p:sp>
        <p:nvSpPr>
          <p:cNvPr id="114" name="Rectangle 113"/>
          <p:cNvSpPr/>
          <p:nvPr/>
        </p:nvSpPr>
        <p:spPr>
          <a:xfrm>
            <a:off x="1627632" y="1636776"/>
            <a:ext cx="4160520" cy="210312"/>
          </a:xfrm>
          <a:prstGeom prst="rect">
            <a:avLst/>
          </a:prstGeom>
          <a:solidFill>
            <a:srgbClr val="1D1F6E"/>
          </a:solidFill>
          <a:ln>
            <a:solidFill>
              <a:srgbClr val="1D1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755648" y="1636776"/>
            <a:ext cx="3794760" cy="192024"/>
          </a:xfrm>
          <a:prstGeom prst="roundRect">
            <a:avLst/>
          </a:prstGeom>
          <a:solidFill>
            <a:srgbClr val="222476"/>
          </a:solidFill>
          <a:ln>
            <a:solidFill>
              <a:srgbClr val="222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1787651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대시보드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511399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2546604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맑은 고딕"/>
              </a:rPr>
              <a:t>기능 1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270351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724912" y="1817827"/>
            <a:ext cx="338328" cy="822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305556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기능 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29303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064508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리포트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788255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4823460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설정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4864" y="109728"/>
            <a:ext cx="15727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28016" y="15544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Title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27632" y="109728"/>
            <a:ext cx="171907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700784" y="155448"/>
            <a:ext cx="15727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 화면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67605" y="109728"/>
            <a:ext cx="1115568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440757" y="155448"/>
            <a:ext cx="969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ID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3173" y="109728"/>
            <a:ext cx="713232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56325" y="15544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39512" y="109728"/>
            <a:ext cx="91440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312664" y="155448"/>
            <a:ext cx="7680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53912" y="109728"/>
            <a:ext cx="768096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27064" y="155448"/>
            <a:ext cx="621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952053" y="109728"/>
            <a:ext cx="100584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025205" y="155448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957893" y="109728"/>
            <a:ext cx="1188720" cy="530352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031045" y="155448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2026.03.18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" y="676656"/>
            <a:ext cx="9098280" cy="310896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28016" y="7223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Screen Path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822960" y="7223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 화면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54864" y="1024128"/>
            <a:ext cx="9098280" cy="5449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345168" y="182880"/>
            <a:ext cx="2770632" cy="5632704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345168" y="292608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45168" y="566928"/>
            <a:ext cx="2770632" cy="4681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9500616" y="775825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9720072" y="713232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유저 및 혜택 시나리오를 선택하여 비교 분석 수행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9500616" y="1394133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9720072" y="1243584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손실액과 해지율 감소치를 함께 제시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9500616" y="1913926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720072" y="177393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적용 전후 잔존 가치를 비교하여 제공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9491690" y="2386584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9720072" y="2304288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혜택을 카드형으로 정리해 즉시 판단 가능</a:t>
            </a:r>
            <a:endParaRPr lang="en-US" sz="820" dirty="0"/>
          </a:p>
        </p:txBody>
      </p:sp>
      <p:sp>
        <p:nvSpPr>
          <p:cNvPr id="34" name="Text 32"/>
          <p:cNvSpPr/>
          <p:nvPr/>
        </p:nvSpPr>
        <p:spPr>
          <a:xfrm>
            <a:off x="9496697" y="2953512"/>
            <a:ext cx="164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9720072" y="2834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 결과를 마케팅 액션과 연결 가능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9345168" y="5321808"/>
            <a:ext cx="2770632" cy="475488"/>
          </a:xfrm>
          <a:prstGeom prst="rect">
            <a:avLst/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9345168" y="5404104"/>
            <a:ext cx="2770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 Point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9345168" y="5797296"/>
            <a:ext cx="277063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9555480" y="58795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▪ 시나리오 비교, 액션 결정 지원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02920" y="1463040"/>
            <a:ext cx="8138160" cy="4526280"/>
          </a:xfrm>
          <a:prstGeom prst="roundRect">
            <a:avLst>
              <a:gd name="adj" fmla="val 1616"/>
            </a:avLst>
          </a:prstGeom>
          <a:solidFill>
            <a:srgbClr val="FAFBFC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1" name="Shape 39"/>
          <p:cNvSpPr/>
          <p:nvPr/>
        </p:nvSpPr>
        <p:spPr>
          <a:xfrm>
            <a:off x="667512" y="1609344"/>
            <a:ext cx="7808976" cy="1417320"/>
          </a:xfrm>
          <a:prstGeom prst="roundRect">
            <a:avLst>
              <a:gd name="adj" fmla="val 9032"/>
            </a:avLst>
          </a:prstGeom>
          <a:solidFill>
            <a:srgbClr val="171A4F"/>
          </a:solidFill>
          <a:ln w="12700">
            <a:solidFill>
              <a:srgbClr val="171A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5623560" y="1417320"/>
            <a:ext cx="1828800" cy="1371600"/>
          </a:xfrm>
          <a:prstGeom prst="ellipse">
            <a:avLst/>
          </a:prstGeom>
          <a:solidFill>
            <a:srgbClr val="807BFF">
              <a:alpha val="30000"/>
            </a:srgbClr>
          </a:solidFill>
          <a:ln w="12700">
            <a:solidFill>
              <a:srgbClr val="807B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6629400" y="1508760"/>
            <a:ext cx="1463040" cy="1005840"/>
          </a:xfrm>
          <a:prstGeom prst="ellipse">
            <a:avLst/>
          </a:prstGeom>
          <a:solidFill>
            <a:srgbClr val="67E8F9">
              <a:alpha val="28000"/>
            </a:srgbClr>
          </a:solidFill>
          <a:ln w="12700">
            <a:solidFill>
              <a:srgbClr val="67E8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223760" y="1664208"/>
            <a:ext cx="1188720" cy="868680"/>
          </a:xfrm>
          <a:prstGeom prst="ellipse">
            <a:avLst/>
          </a:prstGeom>
          <a:solidFill>
            <a:srgbClr val="F472B6">
              <a:alpha val="26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822960" y="1737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OTT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627632" y="172364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377440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999232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71A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621024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242816" y="1723644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995160" y="174650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주세창 | 로그아웃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331720" y="1901952"/>
            <a:ext cx="5038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시뮬레이션 및 잔존 가치 예측</a:t>
            </a:r>
            <a:endParaRPr lang="en-US" sz="1900" dirty="0"/>
          </a:p>
        </p:txBody>
      </p:sp>
      <p:sp>
        <p:nvSpPr>
          <p:cNvPr id="58" name="Text 56"/>
          <p:cNvSpPr/>
          <p:nvPr/>
        </p:nvSpPr>
        <p:spPr>
          <a:xfrm>
            <a:off x="2331720" y="217627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E6E8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시나리오별 예상 손실 회피 효과와 잔존 가치를 비교합니다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0" y="2468880"/>
            <a:ext cx="4023360" cy="310896"/>
          </a:xfrm>
          <a:prstGeom prst="roundRect">
            <a:avLst>
              <a:gd name="adj" fmla="val 4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8"/>
          <p:cNvSpPr/>
          <p:nvPr/>
        </p:nvSpPr>
        <p:spPr>
          <a:xfrm>
            <a:off x="2834640" y="253288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ID 또는 그룹 검색</a:t>
            </a:r>
            <a:endParaRPr lang="en-US" sz="820" dirty="0"/>
          </a:p>
        </p:txBody>
      </p:sp>
      <p:sp>
        <p:nvSpPr>
          <p:cNvPr id="61" name="Text 59"/>
          <p:cNvSpPr/>
          <p:nvPr/>
        </p:nvSpPr>
        <p:spPr>
          <a:xfrm>
            <a:off x="6217920" y="2496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3A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⌕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4088" y="3246120"/>
            <a:ext cx="2148840" cy="239572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585216" y="31363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85216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32104" y="3355848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시나리오 선택</a:t>
            </a:r>
            <a:endParaRPr lang="en-US" sz="860" dirty="0"/>
          </a:p>
        </p:txBody>
      </p:sp>
      <p:sp>
        <p:nvSpPr>
          <p:cNvPr id="66" name="Text 64"/>
          <p:cNvSpPr/>
          <p:nvPr/>
        </p:nvSpPr>
        <p:spPr>
          <a:xfrm>
            <a:off x="832104" y="3593592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유저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832104" y="3730752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905256" y="3767328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UID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832104" y="4032504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유형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832104" y="4169664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905256" y="4206240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전환 제안</a:t>
            </a:r>
            <a:endParaRPr lang="en-US" sz="820" dirty="0"/>
          </a:p>
        </p:txBody>
      </p:sp>
      <p:sp>
        <p:nvSpPr>
          <p:cNvPr id="72" name="Text 70"/>
          <p:cNvSpPr/>
          <p:nvPr/>
        </p:nvSpPr>
        <p:spPr>
          <a:xfrm>
            <a:off x="832104" y="4471416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기간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832104" y="4608576"/>
            <a:ext cx="1792224" cy="219456"/>
          </a:xfrm>
          <a:prstGeom prst="roundRect">
            <a:avLst>
              <a:gd name="adj" fmla="val 20833"/>
            </a:avLst>
          </a:prstGeom>
          <a:solidFill>
            <a:srgbClr val="F5F6F8"/>
          </a:solidFill>
          <a:ln w="12700">
            <a:solidFill>
              <a:srgbClr val="D7DBE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2"/>
          <p:cNvSpPr/>
          <p:nvPr/>
        </p:nvSpPr>
        <p:spPr>
          <a:xfrm>
            <a:off x="905256" y="4645152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3개월</a:t>
            </a:r>
            <a:endParaRPr lang="en-US" sz="820" dirty="0"/>
          </a:p>
        </p:txBody>
      </p:sp>
      <p:sp>
        <p:nvSpPr>
          <p:cNvPr id="75" name="Shape 73"/>
          <p:cNvSpPr/>
          <p:nvPr/>
        </p:nvSpPr>
        <p:spPr>
          <a:xfrm>
            <a:off x="832104" y="4983480"/>
            <a:ext cx="89611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868680" y="5029200"/>
            <a:ext cx="822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시뮬레이션</a:t>
            </a:r>
            <a:endParaRPr lang="en-US" sz="820" dirty="0"/>
          </a:p>
        </p:txBody>
      </p:sp>
      <p:sp>
        <p:nvSpPr>
          <p:cNvPr id="77" name="Shape 75"/>
          <p:cNvSpPr/>
          <p:nvPr/>
        </p:nvSpPr>
        <p:spPr>
          <a:xfrm>
            <a:off x="3044952" y="3246120"/>
            <a:ext cx="1965960" cy="2395728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76"/>
          <p:cNvSpPr/>
          <p:nvPr/>
        </p:nvSpPr>
        <p:spPr>
          <a:xfrm>
            <a:off x="2926080" y="31363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77"/>
          <p:cNvSpPr/>
          <p:nvPr/>
        </p:nvSpPr>
        <p:spPr>
          <a:xfrm>
            <a:off x="2926080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3172968" y="33558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효과</a:t>
            </a:r>
            <a:endParaRPr lang="en-US" sz="860" dirty="0"/>
          </a:p>
        </p:txBody>
      </p:sp>
      <p:sp>
        <p:nvSpPr>
          <p:cNvPr id="81" name="Text 79"/>
          <p:cNvSpPr/>
          <p:nvPr/>
        </p:nvSpPr>
        <p:spPr>
          <a:xfrm>
            <a:off x="3172968" y="363016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손실액</a:t>
            </a:r>
            <a:endParaRPr lang="en-US" sz="770" dirty="0"/>
          </a:p>
        </p:txBody>
      </p:sp>
      <p:sp>
        <p:nvSpPr>
          <p:cNvPr id="82" name="Text 80"/>
          <p:cNvSpPr/>
          <p:nvPr/>
        </p:nvSpPr>
        <p:spPr>
          <a:xfrm>
            <a:off x="3167743" y="3848753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₩420,000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3172968" y="41422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혜택 적용 시 감소율</a:t>
            </a:r>
            <a:endParaRPr lang="en-US" sz="770" dirty="0"/>
          </a:p>
        </p:txBody>
      </p:sp>
      <p:sp>
        <p:nvSpPr>
          <p:cNvPr id="84" name="Text 82"/>
          <p:cNvSpPr/>
          <p:nvPr/>
        </p:nvSpPr>
        <p:spPr>
          <a:xfrm>
            <a:off x="3172968" y="4366913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-21%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3172968" y="465429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70" b="1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잔존 가치</a:t>
            </a:r>
            <a:endParaRPr lang="en-US" sz="770" dirty="0"/>
          </a:p>
        </p:txBody>
      </p:sp>
      <p:sp>
        <p:nvSpPr>
          <p:cNvPr id="86" name="Text 84"/>
          <p:cNvSpPr/>
          <p:nvPr/>
        </p:nvSpPr>
        <p:spPr>
          <a:xfrm>
            <a:off x="3172968" y="4901184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₩1,180,000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2887762" y="45079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2889504" y="4511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5230368" y="3246120"/>
            <a:ext cx="329184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7DBE2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0" name="Shape 88"/>
          <p:cNvSpPr/>
          <p:nvPr/>
        </p:nvSpPr>
        <p:spPr>
          <a:xfrm>
            <a:off x="5111496" y="3136392"/>
            <a:ext cx="256032" cy="256032"/>
          </a:xfrm>
          <a:prstGeom prst="ellipse">
            <a:avLst/>
          </a:prstGeom>
          <a:solidFill>
            <a:srgbClr val="FF5E66"/>
          </a:solidFill>
          <a:ln w="12700">
            <a:solidFill>
              <a:srgbClr val="FF5E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5111496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5358384" y="33558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1218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혜택 시나리오</a:t>
            </a:r>
            <a:endParaRPr lang="en-US" sz="860" dirty="0"/>
          </a:p>
        </p:txBody>
      </p:sp>
      <p:sp>
        <p:nvSpPr>
          <p:cNvPr id="93" name="Shape 91"/>
          <p:cNvSpPr/>
          <p:nvPr/>
        </p:nvSpPr>
        <p:spPr>
          <a:xfrm>
            <a:off x="5349240" y="361188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CF4FF"/>
          </a:solidFill>
          <a:ln w="12700">
            <a:solidFill>
              <a:srgbClr val="ECF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5477256" y="3703320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4F8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광고형 요금제 전환</a:t>
            </a:r>
            <a:endParaRPr lang="en-US" sz="820" dirty="0"/>
          </a:p>
        </p:txBody>
      </p:sp>
      <p:sp>
        <p:nvSpPr>
          <p:cNvPr id="95" name="Text 93"/>
          <p:cNvSpPr/>
          <p:nvPr/>
        </p:nvSpPr>
        <p:spPr>
          <a:xfrm>
            <a:off x="5477256" y="3858768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이탈 방어 + 비용 절감</a:t>
            </a:r>
            <a:endParaRPr lang="en-US" sz="740" dirty="0"/>
          </a:p>
        </p:txBody>
      </p:sp>
      <p:sp>
        <p:nvSpPr>
          <p:cNvPr id="96" name="Shape 94"/>
          <p:cNvSpPr/>
          <p:nvPr/>
        </p:nvSpPr>
        <p:spPr>
          <a:xfrm>
            <a:off x="5349240" y="4178808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Text 95"/>
          <p:cNvSpPr/>
          <p:nvPr/>
        </p:nvSpPr>
        <p:spPr>
          <a:xfrm>
            <a:off x="5477256" y="427024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E509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1개월 할인 쿠폰</a:t>
            </a:r>
            <a:endParaRPr lang="en-US" sz="820" dirty="0"/>
          </a:p>
        </p:txBody>
      </p:sp>
      <p:sp>
        <p:nvSpPr>
          <p:cNvPr id="98" name="Text 96"/>
          <p:cNvSpPr/>
          <p:nvPr/>
        </p:nvSpPr>
        <p:spPr>
          <a:xfrm>
            <a:off x="5477256" y="4425696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 민감 고객 대상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5349240" y="474573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EFDF3"/>
          </a:solidFill>
          <a:ln w="12700">
            <a:solidFill>
              <a:srgbClr val="EEFD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8"/>
          <p:cNvSpPr/>
          <p:nvPr/>
        </p:nvSpPr>
        <p:spPr>
          <a:xfrm>
            <a:off x="5477256" y="4837176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콘텐츠 추천</a:t>
            </a:r>
            <a:endParaRPr lang="en-US" sz="820" dirty="0"/>
          </a:p>
        </p:txBody>
      </p:sp>
      <p:sp>
        <p:nvSpPr>
          <p:cNvPr id="101" name="Text 99"/>
          <p:cNvSpPr/>
          <p:nvPr/>
        </p:nvSpPr>
        <p:spPr>
          <a:xfrm>
            <a:off x="5477256" y="4992624"/>
            <a:ext cx="14630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873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관심도 회복 유도</a:t>
            </a:r>
            <a:endParaRPr lang="en-US" sz="740" dirty="0"/>
          </a:p>
        </p:txBody>
      </p:sp>
      <p:sp>
        <p:nvSpPr>
          <p:cNvPr id="102" name="Rectangle 101"/>
          <p:cNvSpPr/>
          <p:nvPr/>
        </p:nvSpPr>
        <p:spPr>
          <a:xfrm>
            <a:off x="1627632" y="1636776"/>
            <a:ext cx="4160520" cy="210312"/>
          </a:xfrm>
          <a:prstGeom prst="rect">
            <a:avLst/>
          </a:prstGeom>
          <a:solidFill>
            <a:srgbClr val="1D1F6E"/>
          </a:solidFill>
          <a:ln>
            <a:solidFill>
              <a:srgbClr val="1D1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755648" y="1636776"/>
            <a:ext cx="3794760" cy="192024"/>
          </a:xfrm>
          <a:prstGeom prst="roundRect">
            <a:avLst/>
          </a:prstGeom>
          <a:solidFill>
            <a:srgbClr val="222476"/>
          </a:solidFill>
          <a:ln>
            <a:solidFill>
              <a:srgbClr val="222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787651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대시보드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511399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546604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기능 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70351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305556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1">
                <a:solidFill>
                  <a:srgbClr val="FFFFFF"/>
                </a:solidFill>
                <a:latin typeface="맑은 고딕"/>
              </a:rPr>
              <a:t>기능 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029303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483864" y="1817827"/>
            <a:ext cx="338328" cy="822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4064508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리포트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788255" y="1668780"/>
            <a:ext cx="6400" cy="128015"/>
          </a:xfrm>
          <a:prstGeom prst="rect">
            <a:avLst/>
          </a:prstGeom>
          <a:solidFill>
            <a:srgbClr val="A0AAD2"/>
          </a:solidFill>
          <a:ln>
            <a:solidFill>
              <a:srgbClr val="A0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823460" y="1636776"/>
            <a:ext cx="694944" cy="1920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910" b="0">
                <a:solidFill>
                  <a:srgbClr val="DBE1F5"/>
                </a:solidFill>
                <a:latin typeface="맑은 고딕"/>
              </a:rPr>
              <a:t>설정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571</Words>
  <Application>Microsoft Office PowerPoint</Application>
  <PresentationFormat>와이드스크린</PresentationFormat>
  <Paragraphs>205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OTT Screen Specification Modern TopNav</dc:title>
  <dc:subject>OTT Screen Specification</dc:subject>
  <dc:creator>OpenAI</dc:creator>
  <cp:lastModifiedBy>주세창</cp:lastModifiedBy>
  <cp:revision>9</cp:revision>
  <dcterms:created xsi:type="dcterms:W3CDTF">2026-03-24T02:05:31Z</dcterms:created>
  <dcterms:modified xsi:type="dcterms:W3CDTF">2026-03-24T02:54:52Z</dcterms:modified>
</cp:coreProperties>
</file>