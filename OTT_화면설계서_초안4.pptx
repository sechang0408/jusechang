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67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14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" y="118872"/>
            <a:ext cx="150876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887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Title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04088" y="3200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메인화면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46120" y="104285"/>
            <a:ext cx="123444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31927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ID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904488" y="32004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</a:rPr>
              <a:t>intro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98057" y="113429"/>
            <a:ext cx="109728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8231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67528" y="3200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주세창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12834" y="104285"/>
            <a:ext cx="114300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10819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</a:rPr>
              <a:t>날짜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65392" y="347472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2026.03.18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" y="786384"/>
            <a:ext cx="8138160" cy="320040"/>
          </a:xfrm>
          <a:prstGeom prst="rect">
            <a:avLst/>
          </a:prstGeom>
          <a:solidFill>
            <a:srgbClr val="F7F7F7"/>
          </a:solidFill>
          <a:ln w="12700">
            <a:solidFill>
              <a:srgbClr val="B7B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8872" y="86868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Path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04672" y="8686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메인화면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353044" y="792480"/>
            <a:ext cx="3703320" cy="566928"/>
          </a:xfrm>
          <a:prstGeom prst="rect">
            <a:avLst/>
          </a:prstGeom>
          <a:solidFill>
            <a:srgbClr val="E5E5E5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541764" y="93878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53044" y="1359408"/>
            <a:ext cx="3703320" cy="4735068"/>
          </a:xfrm>
          <a:prstGeom prst="rect">
            <a:avLst/>
          </a:prstGeom>
          <a:solidFill>
            <a:srgbClr val="F3F3F3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471916" y="15057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73084" y="14965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내비게이션과 좌측 메뉴가 보이는 메인 대시보드 구조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71916" y="20726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73084" y="206349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 카드로 이탈 위험 유저 수와 평균 위험도를 표시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71916" y="263956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73084" y="26304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이탈 위험도 추이 차트를 통해 변화 흐름 확인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71916" y="320649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73084" y="31973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유저 목록을 최근 순으로 </a:t>
            </a:r>
            <a:r>
              <a:rPr lang="en-US" sz="1100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71916" y="377342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73084" y="37642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액션 영역에서 쿠폰/광고형 전환 제안 확인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" y="1129284"/>
            <a:ext cx="8138160" cy="4965192"/>
          </a:xfrm>
          <a:prstGeom prst="rect">
            <a:avLst/>
          </a:prstGeom>
          <a:solidFill>
            <a:srgbClr val="F0F0F0"/>
          </a:solidFill>
          <a:ln w="12700">
            <a:solidFill>
              <a:srgbClr val="8F8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25780" y="1527048"/>
            <a:ext cx="7178040" cy="4005072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25780" y="1527048"/>
            <a:ext cx="1051560" cy="4005072"/>
          </a:xfrm>
          <a:prstGeom prst="rect">
            <a:avLst/>
          </a:prstGeom>
          <a:solidFill>
            <a:srgbClr val="17174A"/>
          </a:solidFill>
          <a:ln w="12700">
            <a:solidFill>
              <a:srgbClr val="1717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36092" y="1783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35508" y="2194560"/>
            <a:ext cx="841248" cy="256032"/>
          </a:xfrm>
          <a:prstGeom prst="rect">
            <a:avLst/>
          </a:prstGeom>
          <a:solidFill>
            <a:srgbClr val="2B2B75"/>
          </a:solidFill>
          <a:ln w="12700">
            <a:solidFill>
              <a:srgbClr val="2B2B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754380" y="222199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72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메인화면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754380" y="256946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기능1 예측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754380" y="2916936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기능2 시뮬레이션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754380" y="3264408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754380" y="361188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1577340" y="1527048"/>
            <a:ext cx="6126480" cy="292608"/>
          </a:xfrm>
          <a:prstGeom prst="rect">
            <a:avLst/>
          </a:prstGeom>
          <a:solidFill>
            <a:srgbClr val="F6F6F6"/>
          </a:solidFill>
          <a:ln w="12700">
            <a:solidFill>
              <a:srgbClr val="F6F6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739128" y="161848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7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</a:rPr>
              <a:t>로그인 </a:t>
            </a:r>
            <a:r>
              <a:rPr lang="en-US" altLang="ko-KR" sz="7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</a:rPr>
              <a:t>| </a:t>
            </a:r>
            <a:r>
              <a:rPr lang="ko-KR" altLang="en-US" sz="7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</a:rPr>
              <a:t>회원가입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760220" y="18288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05940" y="2011680"/>
            <a:ext cx="1645920" cy="566928"/>
          </a:xfrm>
          <a:prstGeom prst="rect">
            <a:avLst/>
          </a:prstGeom>
          <a:solidFill>
            <a:srgbClr val="1D1D1D"/>
          </a:solidFill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915668" y="213055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D0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위험 유저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915668" y="22860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1,248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589020" y="2011680"/>
            <a:ext cx="1645920" cy="566928"/>
          </a:xfrm>
          <a:prstGeom prst="rect">
            <a:avLst/>
          </a:prstGeom>
          <a:solidFill>
            <a:srgbClr val="1D1D1D"/>
          </a:solidFill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3698748" y="213055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D0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위험도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698748" y="22860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372100" y="2011680"/>
            <a:ext cx="1645920" cy="566928"/>
          </a:xfrm>
          <a:prstGeom prst="rect">
            <a:avLst/>
          </a:prstGeom>
          <a:solidFill>
            <a:srgbClr val="1D1D1D"/>
          </a:solidFill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5481828" y="213055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0D0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손실액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481828" y="2286000"/>
            <a:ext cx="1344168" cy="138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₩180,000,000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805940" y="2788920"/>
            <a:ext cx="3611880" cy="1353312"/>
          </a:xfrm>
          <a:prstGeom prst="rect">
            <a:avLst/>
          </a:prstGeom>
          <a:solidFill>
            <a:srgbClr val="171717"/>
          </a:solidFill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943100" y="2916936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이탈 위험도 추이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171700" y="3611880"/>
            <a:ext cx="164592" cy="3657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2555748" y="3246120"/>
            <a:ext cx="164592" cy="7315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2939796" y="3383280"/>
            <a:ext cx="164592" cy="5943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3323844" y="3063240"/>
            <a:ext cx="164592" cy="9144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3707892" y="3154680"/>
            <a:ext cx="164592" cy="8229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4091940" y="2926080"/>
            <a:ext cx="164592" cy="105156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4475988" y="2852056"/>
            <a:ext cx="164592" cy="1125583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2171700" y="4050792"/>
            <a:ext cx="31089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30" dirty="0">
                <a:solidFill>
                  <a:srgbClr val="AAAAA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3/10        3/11       3/12        3/13         3/14       3/15       3/16</a:t>
            </a:r>
            <a:endParaRPr lang="en-US" sz="630" dirty="0"/>
          </a:p>
        </p:txBody>
      </p:sp>
      <p:sp>
        <p:nvSpPr>
          <p:cNvPr id="66" name="Shape 64"/>
          <p:cNvSpPr/>
          <p:nvPr/>
        </p:nvSpPr>
        <p:spPr>
          <a:xfrm>
            <a:off x="5582412" y="2788920"/>
            <a:ext cx="1783080" cy="1353312"/>
          </a:xfrm>
          <a:prstGeom prst="rect">
            <a:avLst/>
          </a:prstGeom>
          <a:solidFill>
            <a:srgbClr val="171717"/>
          </a:solidFill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5710428" y="291693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액션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728716" y="313508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쿠폰 제공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728716" y="337413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광고형 전환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733288" y="3617541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신규 콘텐츠 알림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805940" y="4297680"/>
            <a:ext cx="5559552" cy="1051560"/>
          </a:xfrm>
          <a:prstGeom prst="rect">
            <a:avLst/>
          </a:prstGeom>
          <a:solidFill>
            <a:srgbClr val="171717"/>
          </a:solidFill>
          <a:ln w="12700">
            <a:solidFill>
              <a:srgbClr val="3030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943100" y="443484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유저 목록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016252" y="4636008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USER_001     최근 접속 1일 전     위험도 75%</a:t>
            </a:r>
            <a:endParaRPr lang="en-US" sz="680" dirty="0"/>
          </a:p>
        </p:txBody>
      </p:sp>
      <p:sp>
        <p:nvSpPr>
          <p:cNvPr id="74" name="Text 72"/>
          <p:cNvSpPr/>
          <p:nvPr/>
        </p:nvSpPr>
        <p:spPr>
          <a:xfrm>
            <a:off x="2016252" y="4764024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USER_002     최근 접속 2일 전     위험도 71%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2016252" y="4892040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USER_003     최근 접속 3일 전     위험도 67%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016252" y="5020056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USER_004     최근 접속 4일 전     위험도 63%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2016252" y="5148072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DADA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USER_005     최근 접속 5일 전     위험도 59%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1198735" y="1600200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1205811" y="1652887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696212" y="1865376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1696212" y="192938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736271" y="2752997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1742150" y="27980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695015" y="4178808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1695015" y="421538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463540" y="2671790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5"/>
          <p:cNvSpPr/>
          <p:nvPr/>
        </p:nvSpPr>
        <p:spPr>
          <a:xfrm>
            <a:off x="5454396" y="270662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90" name="Shape 78">
            <a:extLst>
              <a:ext uri="{FF2B5EF4-FFF2-40B4-BE49-F238E27FC236}">
                <a16:creationId xmlns:a16="http://schemas.microsoft.com/office/drawing/2014/main" id="{139C3CCC-C3D9-A55E-54D2-B4178C7A6FD4}"/>
              </a:ext>
            </a:extLst>
          </p:cNvPr>
          <p:cNvSpPr/>
          <p:nvPr/>
        </p:nvSpPr>
        <p:spPr>
          <a:xfrm>
            <a:off x="6473952" y="1459557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79">
            <a:extLst>
              <a:ext uri="{FF2B5EF4-FFF2-40B4-BE49-F238E27FC236}">
                <a16:creationId xmlns:a16="http://schemas.microsoft.com/office/drawing/2014/main" id="{00277EC9-9103-D263-9BD1-CCA14BC8602A}"/>
              </a:ext>
            </a:extLst>
          </p:cNvPr>
          <p:cNvSpPr/>
          <p:nvPr/>
        </p:nvSpPr>
        <p:spPr>
          <a:xfrm>
            <a:off x="6473952" y="149961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6</a:t>
            </a:r>
            <a:endParaRPr lang="en-US" sz="1000" dirty="0"/>
          </a:p>
        </p:txBody>
      </p:sp>
      <p:sp>
        <p:nvSpPr>
          <p:cNvPr id="92" name="Text 26">
            <a:extLst>
              <a:ext uri="{FF2B5EF4-FFF2-40B4-BE49-F238E27FC236}">
                <a16:creationId xmlns:a16="http://schemas.microsoft.com/office/drawing/2014/main" id="{836F45CF-D4D9-8B8B-F3F8-A1D496784BE8}"/>
              </a:ext>
            </a:extLst>
          </p:cNvPr>
          <p:cNvSpPr/>
          <p:nvPr/>
        </p:nvSpPr>
        <p:spPr>
          <a:xfrm>
            <a:off x="8485632" y="425805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93" name="Text 27">
            <a:extLst>
              <a:ext uri="{FF2B5EF4-FFF2-40B4-BE49-F238E27FC236}">
                <a16:creationId xmlns:a16="http://schemas.microsoft.com/office/drawing/2014/main" id="{EDBE1C61-8B28-B946-5EED-98292CB5AA5E}"/>
              </a:ext>
            </a:extLst>
          </p:cNvPr>
          <p:cNvSpPr/>
          <p:nvPr/>
        </p:nvSpPr>
        <p:spPr>
          <a:xfrm>
            <a:off x="8673084" y="424760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</a:rPr>
              <a:t>로그인</a:t>
            </a:r>
            <a:r>
              <a:rPr lang="en-US" altLang="ko-KR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</a:rPr>
              <a:t>회원가입 구현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32">
            <a:extLst>
              <a:ext uri="{FF2B5EF4-FFF2-40B4-BE49-F238E27FC236}">
                <a16:creationId xmlns:a16="http://schemas.microsoft.com/office/drawing/2014/main" id="{36E3D38B-F01A-0A24-D2C4-62A093101E9A}"/>
              </a:ext>
            </a:extLst>
          </p:cNvPr>
          <p:cNvSpPr/>
          <p:nvPr/>
        </p:nvSpPr>
        <p:spPr>
          <a:xfrm>
            <a:off x="45720" y="1187849"/>
            <a:ext cx="8138160" cy="4965192"/>
          </a:xfrm>
          <a:prstGeom prst="rect">
            <a:avLst/>
          </a:prstGeom>
          <a:solidFill>
            <a:srgbClr val="F0F0F0"/>
          </a:solidFill>
          <a:ln w="12700">
            <a:solidFill>
              <a:srgbClr val="8F8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45720" y="100584"/>
            <a:ext cx="150876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887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Title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04088" y="3200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기능1 화면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46120" y="100584"/>
            <a:ext cx="123444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31927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ID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904488" y="32004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</a:rPr>
              <a:t>sc1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95226" y="109293"/>
            <a:ext cx="109728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8231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67528" y="3200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주세창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"/>
            <a:ext cx="114300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10819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65392" y="320040"/>
            <a:ext cx="539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2026.03.18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" y="786384"/>
            <a:ext cx="8138160" cy="320040"/>
          </a:xfrm>
          <a:prstGeom prst="rect">
            <a:avLst/>
          </a:prstGeom>
          <a:solidFill>
            <a:srgbClr val="F7F7F7"/>
          </a:solidFill>
          <a:ln w="12700">
            <a:solidFill>
              <a:srgbClr val="B7B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8872" y="86868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Path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04672" y="8686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기능1 화면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347456" y="787627"/>
            <a:ext cx="3703320" cy="566928"/>
          </a:xfrm>
          <a:prstGeom prst="rect">
            <a:avLst/>
          </a:prstGeom>
          <a:solidFill>
            <a:srgbClr val="E5E5E5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536176" y="933931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47456" y="1354555"/>
            <a:ext cx="3703320" cy="4572000"/>
          </a:xfrm>
          <a:prstGeom prst="rect">
            <a:avLst/>
          </a:prstGeom>
          <a:solidFill>
            <a:srgbClr val="F3F3F3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466328" y="1500859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67496" y="1491715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 dirty="0" err="1">
                <a:solidFill>
                  <a:srgbClr val="323232"/>
                </a:solidFill>
                <a:latin typeface="Malgun Gothic"/>
              </a:rPr>
              <a:t>유저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ID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검색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또는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그룹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선택으로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분석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대상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조회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8466328" y="2067787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67496" y="2058643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323232"/>
                </a:solidFill>
                <a:latin typeface="Malgun Gothic"/>
              </a:rPr>
              <a:t>향후 1~3개월 내 해지 위험도 예측 결과 표시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8466328" y="2634715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67496" y="2625571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323232"/>
                </a:solidFill>
                <a:latin typeface="Malgun Gothic"/>
              </a:rPr>
              <a:t>예측 결과에 따른 위험군(적정/주의/위험) 태그 제공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8466328" y="3201643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67496" y="3192499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323232"/>
                </a:solidFill>
                <a:latin typeface="Malgun Gothic"/>
              </a:rPr>
              <a:t>주요 이탈 원인을 항목별로 분석하여 표시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8466328" y="3768571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67496" y="3759427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323232"/>
                </a:solidFill>
                <a:latin typeface="Malgun Gothic"/>
              </a:rPr>
              <a:t>위험도에 반영된 핵심 변수별 기여도 시각화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8466328" y="4335499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67496" y="4326355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323232"/>
                </a:solidFill>
                <a:latin typeface="Malgun Gothic"/>
              </a:rPr>
              <a:t>분석 대상 유저의 이용 패턴 및 요약 정보 제공</a:t>
            </a:r>
            <a:endParaRPr lang="en-US" sz="830" dirty="0"/>
          </a:p>
        </p:txBody>
      </p:sp>
      <p:sp>
        <p:nvSpPr>
          <p:cNvPr id="34" name="Rectangle 33"/>
          <p:cNvSpPr/>
          <p:nvPr/>
        </p:nvSpPr>
        <p:spPr>
          <a:xfrm>
            <a:off x="320040" y="1720814"/>
            <a:ext cx="7818120" cy="3931920"/>
          </a:xfrm>
          <a:prstGeom prst="rect">
            <a:avLst/>
          </a:prstGeom>
          <a:solidFill>
            <a:srgbClr val="0A0A0A"/>
          </a:solidFill>
          <a:ln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1720814"/>
            <a:ext cx="1143000" cy="3931920"/>
          </a:xfrm>
          <a:prstGeom prst="rect">
            <a:avLst/>
          </a:prstGeom>
          <a:solidFill>
            <a:srgbClr val="19185A"/>
          </a:solidFill>
          <a:ln>
            <a:solidFill>
              <a:srgbClr val="191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1208" y="1976846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OTT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2573212"/>
            <a:ext cx="64008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00" b="0" dirty="0" err="1">
                <a:solidFill>
                  <a:srgbClr val="FFFFFF"/>
                </a:solidFill>
                <a:latin typeface="Malgun Gothic"/>
              </a:rPr>
              <a:t>메인화면</a:t>
            </a:r>
            <a:endParaRPr sz="800" b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84632" y="2955254"/>
            <a:ext cx="731520" cy="237744"/>
          </a:xfrm>
          <a:prstGeom prst="roundRect">
            <a:avLst/>
          </a:prstGeom>
          <a:solidFill>
            <a:srgbClr val="373791"/>
          </a:solidFill>
          <a:ln>
            <a:solidFill>
              <a:srgbClr val="37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" y="2957218"/>
            <a:ext cx="73152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Malgun Gothic"/>
              </a:rPr>
              <a:t>기능1 </a:t>
            </a:r>
            <a:r>
              <a:rPr sz="800" b="0" dirty="0" err="1">
                <a:solidFill>
                  <a:srgbClr val="FFFFFF"/>
                </a:solidFill>
                <a:latin typeface="Malgun Gothic"/>
              </a:rPr>
              <a:t>예측</a:t>
            </a:r>
            <a:endParaRPr sz="800" b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831" y="3279504"/>
            <a:ext cx="822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Malgun Gothic"/>
              </a:rPr>
              <a:t>기능2
</a:t>
            </a:r>
            <a:r>
              <a:rPr sz="800" b="0" dirty="0" err="1">
                <a:solidFill>
                  <a:srgbClr val="FFFFFF"/>
                </a:solidFill>
                <a:latin typeface="Malgun Gothic"/>
              </a:rPr>
              <a:t>시뮬레이션</a:t>
            </a:r>
            <a:endParaRPr sz="800" b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6072" y="3741638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리포트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4125686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설정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63040" y="1720814"/>
            <a:ext cx="6675120" cy="310896"/>
          </a:xfrm>
          <a:prstGeom prst="rect">
            <a:avLst/>
          </a:prstGeom>
          <a:solidFill>
            <a:schemeClr val="bg1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12280" y="1748246"/>
            <a:ext cx="1143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3C3C3C"/>
                </a:solidFill>
                <a:latin typeface="Malgun Gothic"/>
              </a:rPr>
              <a:t>주세창 | 로그아웃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2068286"/>
            <a:ext cx="27432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Malgun Gothic"/>
              </a:rPr>
              <a:t>기능1  |  유저 구독 해지 위험도 예측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27632" y="2251166"/>
            <a:ext cx="2148840" cy="3200400"/>
          </a:xfrm>
          <a:prstGeom prst="rect">
            <a:avLst/>
          </a:prstGeom>
          <a:solidFill>
            <a:srgbClr val="12121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941064" y="2251166"/>
            <a:ext cx="1828800" cy="3200400"/>
          </a:xfrm>
          <a:prstGeom prst="rect">
            <a:avLst/>
          </a:prstGeom>
          <a:solidFill>
            <a:srgbClr val="12121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34456" y="2251166"/>
            <a:ext cx="1828800" cy="3200400"/>
          </a:xfrm>
          <a:prstGeom prst="rect">
            <a:avLst/>
          </a:prstGeom>
          <a:solidFill>
            <a:srgbClr val="12121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500632" y="2124166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500632" y="2111466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232431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조회 조건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73936" y="2635214"/>
            <a:ext cx="10972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EBEBEB"/>
                </a:solidFill>
                <a:latin typeface="Malgun Gothic"/>
              </a:rPr>
              <a:t>유저 ID 검색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73936" y="2799806"/>
            <a:ext cx="1444752" cy="201168"/>
          </a:xfrm>
          <a:prstGeom prst="roundRect">
            <a:avLst/>
          </a:prstGeom>
          <a:solidFill>
            <a:srgbClr val="37373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847088" y="2796493"/>
            <a:ext cx="1335024" cy="2123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 dirty="0" err="1">
                <a:solidFill>
                  <a:srgbClr val="DCDCDC"/>
                </a:solidFill>
                <a:latin typeface="Malgun Gothic"/>
              </a:rPr>
              <a:t>유저</a:t>
            </a:r>
            <a:r>
              <a:rPr sz="780" b="0" dirty="0">
                <a:solidFill>
                  <a:srgbClr val="DCDCDC"/>
                </a:solidFill>
                <a:latin typeface="Malgun Gothic"/>
              </a:rPr>
              <a:t> ID </a:t>
            </a:r>
            <a:r>
              <a:rPr sz="780" b="0" dirty="0" err="1">
                <a:solidFill>
                  <a:srgbClr val="DCDCDC"/>
                </a:solidFill>
                <a:latin typeface="Malgun Gothic"/>
              </a:rPr>
              <a:t>또는</a:t>
            </a:r>
            <a:r>
              <a:rPr sz="780" b="0" dirty="0">
                <a:solidFill>
                  <a:srgbClr val="DCDCDC"/>
                </a:solidFill>
                <a:latin typeface="Malgun Gothic"/>
              </a:rPr>
              <a:t> </a:t>
            </a:r>
            <a:r>
              <a:rPr sz="780" b="0" dirty="0" err="1">
                <a:solidFill>
                  <a:srgbClr val="DCDCDC"/>
                </a:solidFill>
                <a:latin typeface="Malgun Gothic"/>
              </a:rPr>
              <a:t>이름</a:t>
            </a:r>
            <a:r>
              <a:rPr sz="780" b="0" dirty="0">
                <a:solidFill>
                  <a:srgbClr val="DCDCDC"/>
                </a:solidFill>
                <a:latin typeface="Malgun Gothic"/>
              </a:rPr>
              <a:t> </a:t>
            </a:r>
            <a:r>
              <a:rPr sz="780" b="0" dirty="0" err="1">
                <a:solidFill>
                  <a:srgbClr val="DCDCDC"/>
                </a:solidFill>
                <a:latin typeface="Malgun Gothic"/>
              </a:rPr>
              <a:t>검색</a:t>
            </a:r>
            <a:endParaRPr sz="780" b="0" dirty="0">
              <a:solidFill>
                <a:srgbClr val="DCDCDC"/>
              </a:solidFill>
              <a:latin typeface="Malgun Gothic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044952" y="2795234"/>
            <a:ext cx="137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2"/>
                </a:solidFill>
                <a:latin typeface="Malgun Gothic"/>
              </a:rPr>
              <a:t>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3936" y="3147278"/>
            <a:ext cx="10972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EBEBEB"/>
                </a:solidFill>
                <a:latin typeface="Malgun Gothic"/>
              </a:rPr>
              <a:t>사용자 그룹 선택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773936" y="3311870"/>
            <a:ext cx="1444752" cy="237744"/>
          </a:xfrm>
          <a:prstGeom prst="roundRect">
            <a:avLst/>
          </a:prstGeom>
          <a:solidFill>
            <a:srgbClr val="2C2C2C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847088" y="3321014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Malgun Gothic"/>
              </a:rPr>
              <a:t>전체 유저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1800" y="3321014"/>
            <a:ext cx="1097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Malgun Gothic"/>
              </a:rPr>
              <a:t>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73936" y="3677630"/>
            <a:ext cx="10972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EBEBEB"/>
                </a:solidFill>
                <a:latin typeface="Malgun Gothic"/>
              </a:rPr>
              <a:t>조회 기간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773936" y="3842222"/>
            <a:ext cx="1444752" cy="237744"/>
          </a:xfrm>
          <a:prstGeom prst="roundRect">
            <a:avLst/>
          </a:prstGeom>
          <a:solidFill>
            <a:srgbClr val="2C2C2C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847088" y="3851366"/>
            <a:ext cx="822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Malgun Gothic"/>
              </a:rPr>
              <a:t>최근 30일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71800" y="3851366"/>
            <a:ext cx="1097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Malgun Gothic"/>
              </a:rPr>
              <a:t>▾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73936" y="4244558"/>
            <a:ext cx="10972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EBEBEB"/>
                </a:solidFill>
                <a:latin typeface="Malgun Gothic"/>
              </a:rPr>
              <a:t>모델 반영 주요 변수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10512" y="4436582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D7D7D7"/>
                </a:solidFill>
                <a:latin typeface="Malgun Gothic"/>
              </a:rPr>
              <a:t>월 결제액, 최근 접속,
시청 시간 변화, 선호 장르,
접속 디바이스 수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773936" y="4948646"/>
            <a:ext cx="713232" cy="256032"/>
          </a:xfrm>
          <a:prstGeom prst="round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659636" y="4957790"/>
            <a:ext cx="941832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dirty="0" err="1">
                <a:solidFill>
                  <a:srgbClr val="FFFFFF"/>
                </a:solidFill>
                <a:latin typeface="Malgun Gothic"/>
              </a:rPr>
              <a:t>예측</a:t>
            </a:r>
            <a:r>
              <a:rPr sz="85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850" b="1" dirty="0" err="1">
                <a:solidFill>
                  <a:srgbClr val="FFFFFF"/>
                </a:solidFill>
                <a:latin typeface="Malgun Gothic"/>
              </a:rPr>
              <a:t>실행</a:t>
            </a:r>
            <a:endParaRPr sz="8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3814064" y="2124166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814064" y="2111466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69080" y="232431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예측 결과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05656" y="2695942"/>
            <a:ext cx="1600200" cy="363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 dirty="0" err="1">
                <a:solidFill>
                  <a:srgbClr val="EBEBEB"/>
                </a:solidFill>
                <a:latin typeface="Malgun Gothic"/>
              </a:rPr>
              <a:t>향후</a:t>
            </a:r>
            <a:r>
              <a:rPr sz="880" b="0" dirty="0">
                <a:solidFill>
                  <a:srgbClr val="EBEBEB"/>
                </a:solidFill>
                <a:latin typeface="Malgun Gothic"/>
              </a:rPr>
              <a:t> 1~3개월 내
</a:t>
            </a:r>
            <a:r>
              <a:rPr sz="880" b="0" dirty="0" err="1">
                <a:solidFill>
                  <a:srgbClr val="EBEBEB"/>
                </a:solidFill>
                <a:latin typeface="Malgun Gothic"/>
              </a:rPr>
              <a:t>해지</a:t>
            </a:r>
            <a:r>
              <a:rPr sz="880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80" b="0" dirty="0" err="1">
                <a:solidFill>
                  <a:srgbClr val="EBEBEB"/>
                </a:solidFill>
                <a:latin typeface="Malgun Gothic"/>
              </a:rPr>
              <a:t>위험도</a:t>
            </a:r>
            <a:endParaRPr sz="880" b="0" dirty="0">
              <a:solidFill>
                <a:srgbClr val="EBEBEB"/>
              </a:solidFill>
              <a:latin typeface="Malgun Gothic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114800" y="3037550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FF6C6C"/>
                </a:solidFill>
                <a:latin typeface="Malgun Gothic"/>
              </a:rPr>
              <a:t>78%</a:t>
            </a:r>
          </a:p>
        </p:txBody>
      </p:sp>
      <p:sp>
        <p:nvSpPr>
          <p:cNvPr id="74" name="Oval 73"/>
          <p:cNvSpPr/>
          <p:nvPr/>
        </p:nvSpPr>
        <p:spPr>
          <a:xfrm>
            <a:off x="3987800" y="3495040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995057" y="3494024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76562" y="3621024"/>
            <a:ext cx="841248" cy="219456"/>
          </a:xfrm>
          <a:prstGeom prst="roundRect">
            <a:avLst/>
          </a:prstGeom>
          <a:solidFill>
            <a:srgbClr val="781218"/>
          </a:solidFill>
          <a:ln>
            <a:solidFill>
              <a:srgbClr val="781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55522" y="3617078"/>
            <a:ext cx="479407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 err="1">
                <a:solidFill>
                  <a:srgbClr val="FFFFFF"/>
                </a:solidFill>
                <a:latin typeface="Malgun Gothic"/>
              </a:rPr>
              <a:t>위험</a:t>
            </a:r>
            <a:endParaRPr sz="9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3907536" y="3905722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894473" y="3918422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0" y="4034246"/>
            <a:ext cx="134591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 err="1">
                <a:solidFill>
                  <a:srgbClr val="FFFFFF"/>
                </a:solidFill>
                <a:latin typeface="Malgun Gothic"/>
              </a:rPr>
              <a:t>주요</a:t>
            </a:r>
            <a:r>
              <a:rPr sz="11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Malgun Gothic"/>
              </a:rPr>
              <a:t>이탈</a:t>
            </a:r>
            <a:r>
              <a:rPr sz="11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Malgun Gothic"/>
              </a:rPr>
              <a:t>원인</a:t>
            </a:r>
            <a:endParaRPr sz="11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104640" y="4338465"/>
            <a:ext cx="13716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 dirty="0">
                <a:solidFill>
                  <a:srgbClr val="EBEBEB"/>
                </a:solidFill>
                <a:latin typeface="Malgun Gothic"/>
              </a:rPr>
              <a:t>•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최근</a:t>
            </a:r>
            <a:r>
              <a:rPr sz="869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접속</a:t>
            </a:r>
            <a:r>
              <a:rPr sz="869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빈도</a:t>
            </a:r>
            <a:r>
              <a:rPr sz="869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감소</a:t>
            </a:r>
            <a:endParaRPr sz="869" b="0" dirty="0">
              <a:solidFill>
                <a:srgbClr val="EBEBEB"/>
              </a:solidFill>
              <a:latin typeface="Malgun Gothic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105656" y="4576789"/>
            <a:ext cx="137160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 dirty="0">
                <a:solidFill>
                  <a:srgbClr val="EBEBEB"/>
                </a:solidFill>
                <a:latin typeface="Malgun Gothic"/>
              </a:rPr>
              <a:t>• 월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시청</a:t>
            </a:r>
            <a:r>
              <a:rPr sz="869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시간</a:t>
            </a:r>
            <a:r>
              <a:rPr sz="869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급감</a:t>
            </a:r>
            <a:endParaRPr sz="869" b="0" dirty="0">
              <a:solidFill>
                <a:srgbClr val="EBEBEB"/>
              </a:solidFill>
              <a:latin typeface="Malgun Gothic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104640" y="4753573"/>
            <a:ext cx="1784096" cy="2248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69" b="0" dirty="0">
                <a:solidFill>
                  <a:srgbClr val="EBEBEB"/>
                </a:solidFill>
                <a:latin typeface="Malgun Gothic"/>
              </a:rPr>
              <a:t>•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요금제</a:t>
            </a:r>
            <a:r>
              <a:rPr sz="869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대비</a:t>
            </a:r>
            <a:r>
              <a:rPr sz="869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만족도</a:t>
            </a:r>
            <a:r>
              <a:rPr sz="869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69" b="0" dirty="0" err="1">
                <a:solidFill>
                  <a:srgbClr val="EBEBEB"/>
                </a:solidFill>
                <a:latin typeface="Malgun Gothic"/>
              </a:rPr>
              <a:t>저하</a:t>
            </a:r>
            <a:endParaRPr sz="869" b="0" dirty="0">
              <a:solidFill>
                <a:srgbClr val="EBEBEB"/>
              </a:solidFill>
              <a:latin typeface="Malgun Gothic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050792" y="4953944"/>
            <a:ext cx="124598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dirty="0" err="1">
                <a:solidFill>
                  <a:srgbClr val="EBEBEB"/>
                </a:solidFill>
                <a:latin typeface="Malgun Gothic"/>
              </a:rPr>
              <a:t>추천</a:t>
            </a:r>
            <a:r>
              <a:rPr sz="1000" b="1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EBEBEB"/>
                </a:solidFill>
                <a:latin typeface="Malgun Gothic"/>
              </a:rPr>
              <a:t>대응</a:t>
            </a:r>
            <a:r>
              <a:rPr sz="1000" b="1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EBEBEB"/>
                </a:solidFill>
                <a:latin typeface="Malgun Gothic"/>
              </a:rPr>
              <a:t>액션</a:t>
            </a:r>
            <a:endParaRPr sz="1000" b="1" dirty="0">
              <a:solidFill>
                <a:srgbClr val="EBEBEB"/>
              </a:solidFill>
              <a:latin typeface="Malgun Gothic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105656" y="5195534"/>
            <a:ext cx="1444752" cy="201168"/>
          </a:xfrm>
          <a:prstGeom prst="roundRect">
            <a:avLst/>
          </a:prstGeom>
          <a:solidFill>
            <a:srgbClr val="501414"/>
          </a:solidFill>
          <a:ln>
            <a:solidFill>
              <a:srgbClr val="64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133088" y="5189694"/>
            <a:ext cx="1444752" cy="2123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 dirty="0" err="1">
                <a:solidFill>
                  <a:srgbClr val="FFFFFF"/>
                </a:solidFill>
                <a:latin typeface="Malgun Gothic"/>
              </a:rPr>
              <a:t>광고형</a:t>
            </a:r>
            <a:r>
              <a:rPr sz="78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780" b="1" dirty="0" err="1">
                <a:solidFill>
                  <a:srgbClr val="FFFFFF"/>
                </a:solidFill>
                <a:latin typeface="Malgun Gothic"/>
              </a:rPr>
              <a:t>요금제</a:t>
            </a:r>
            <a:r>
              <a:rPr sz="78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780" b="1" dirty="0" err="1">
                <a:solidFill>
                  <a:srgbClr val="FFFFFF"/>
                </a:solidFill>
                <a:latin typeface="Malgun Gothic"/>
              </a:rPr>
              <a:t>전환</a:t>
            </a:r>
            <a:r>
              <a:rPr sz="78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780" b="1" dirty="0" err="1">
                <a:solidFill>
                  <a:srgbClr val="FFFFFF"/>
                </a:solidFill>
                <a:latin typeface="Malgun Gothic"/>
              </a:rPr>
              <a:t>제안</a:t>
            </a:r>
            <a:endParaRPr sz="78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7" name="Oval 86"/>
          <p:cNvSpPr/>
          <p:nvPr/>
        </p:nvSpPr>
        <p:spPr>
          <a:xfrm>
            <a:off x="5807456" y="2124166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807456" y="2111466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80760" y="2367657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FFFFFF"/>
                </a:solidFill>
                <a:latin typeface="Malgun Gothic"/>
              </a:rPr>
              <a:t>위험도</a:t>
            </a:r>
            <a:r>
              <a:rPr sz="12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Malgun Gothic"/>
              </a:rPr>
              <a:t>구성</a:t>
            </a:r>
            <a:r>
              <a:rPr sz="12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Malgun Gothic"/>
              </a:rPr>
              <a:t>지표</a:t>
            </a:r>
            <a:endParaRPr sz="12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089904" y="2699222"/>
            <a:ext cx="7315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 err="1">
                <a:solidFill>
                  <a:srgbClr val="EBEBEB"/>
                </a:solidFill>
                <a:latin typeface="Malgun Gothic"/>
              </a:rPr>
              <a:t>최근</a:t>
            </a:r>
            <a:r>
              <a:rPr sz="850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50" b="0" dirty="0" err="1">
                <a:solidFill>
                  <a:srgbClr val="EBEBEB"/>
                </a:solidFill>
                <a:latin typeface="Malgun Gothic"/>
              </a:rPr>
              <a:t>접속</a:t>
            </a:r>
            <a:endParaRPr sz="850" b="0" dirty="0">
              <a:solidFill>
                <a:srgbClr val="EBEBEB"/>
              </a:solidFill>
              <a:latin typeface="Malgun Gothic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6793992" y="2708366"/>
            <a:ext cx="777240" cy="91440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6793992" y="2708366"/>
            <a:ext cx="683971" cy="9144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080760" y="2989472"/>
            <a:ext cx="7315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EBEBEB"/>
                </a:solidFill>
                <a:latin typeface="Malgun Gothic"/>
              </a:rPr>
              <a:t>시청 시간 변화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84848" y="2998616"/>
            <a:ext cx="777240" cy="91440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784848" y="2998616"/>
            <a:ext cx="590702" cy="9144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089904" y="3279294"/>
            <a:ext cx="73152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EBEBEB"/>
                </a:solidFill>
                <a:latin typeface="Malgun Gothic"/>
              </a:rPr>
              <a:t>구독 플랜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793992" y="3288438"/>
            <a:ext cx="777240" cy="91440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793992" y="3288438"/>
            <a:ext cx="536295" cy="9144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080760" y="3447307"/>
            <a:ext cx="100584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 err="1">
                <a:solidFill>
                  <a:srgbClr val="EBEBEB"/>
                </a:solidFill>
                <a:latin typeface="Malgun Gothic"/>
              </a:rPr>
              <a:t>디바이스</a:t>
            </a:r>
            <a:r>
              <a:rPr sz="850" b="0" dirty="0">
                <a:solidFill>
                  <a:srgbClr val="EBEBEB"/>
                </a:solidFill>
                <a:latin typeface="Malgun Gothic"/>
              </a:rPr>
              <a:t> 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93992" y="3549614"/>
            <a:ext cx="777240" cy="91440"/>
          </a:xfrm>
          <a:prstGeom prst="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6793992" y="3549614"/>
            <a:ext cx="419709" cy="9144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5903049" y="3770104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893905" y="3768571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57372" y="3915006"/>
            <a:ext cx="1280746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 err="1">
                <a:solidFill>
                  <a:srgbClr val="FFFFFF"/>
                </a:solidFill>
                <a:latin typeface="Malgun Gothic"/>
              </a:rPr>
              <a:t>유저</a:t>
            </a:r>
            <a:r>
              <a:rPr sz="11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Malgun Gothic"/>
              </a:rPr>
              <a:t>요약</a:t>
            </a:r>
            <a:r>
              <a:rPr sz="11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Malgun Gothic"/>
              </a:rPr>
              <a:t>정보</a:t>
            </a:r>
            <a:endParaRPr sz="11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6024385" y="4180465"/>
            <a:ext cx="1617511" cy="1084063"/>
          </a:xfrm>
          <a:prstGeom prst="rect">
            <a:avLst/>
          </a:prstGeom>
          <a:solidFill>
            <a:srgbClr val="19191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097538" y="4235330"/>
            <a:ext cx="1447772" cy="213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EBEBEB"/>
                </a:solidFill>
                <a:latin typeface="Malgun Gothic"/>
              </a:rPr>
              <a:t>현재 구독 플랜 : 스탠다드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88394" y="4506566"/>
            <a:ext cx="1553502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 dirty="0" err="1">
                <a:solidFill>
                  <a:srgbClr val="EBEBEB"/>
                </a:solidFill>
                <a:latin typeface="Malgun Gothic"/>
              </a:rPr>
              <a:t>최근</a:t>
            </a:r>
            <a:r>
              <a:rPr sz="750" b="0" dirty="0">
                <a:solidFill>
                  <a:srgbClr val="EBEBEB"/>
                </a:solidFill>
                <a:latin typeface="Malgun Gothic"/>
              </a:rPr>
              <a:t> 30일 </a:t>
            </a:r>
            <a:r>
              <a:rPr sz="750" b="0" dirty="0" err="1">
                <a:solidFill>
                  <a:srgbClr val="EBEBEB"/>
                </a:solidFill>
                <a:latin typeface="Malgun Gothic"/>
              </a:rPr>
              <a:t>시청</a:t>
            </a:r>
            <a:r>
              <a:rPr sz="750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750" b="0" dirty="0" err="1">
                <a:solidFill>
                  <a:srgbClr val="EBEBEB"/>
                </a:solidFill>
                <a:latin typeface="Malgun Gothic"/>
              </a:rPr>
              <a:t>시간</a:t>
            </a:r>
            <a:r>
              <a:rPr sz="750" b="0" dirty="0">
                <a:solidFill>
                  <a:srgbClr val="EBEBEB"/>
                </a:solidFill>
                <a:latin typeface="Malgun Gothic"/>
              </a:rPr>
              <a:t> : 12.4시간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88394" y="4764865"/>
            <a:ext cx="1447772" cy="213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EBEBEB"/>
                </a:solidFill>
                <a:latin typeface="Malgun Gothic"/>
              </a:rPr>
              <a:t>최근 접속일 : 3일 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088394" y="4976166"/>
            <a:ext cx="1447772" cy="213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EBEBEB"/>
                </a:solidFill>
                <a:latin typeface="Malgun Gothic"/>
              </a:rPr>
              <a:t>선호 장르 : 스릴러 / 예능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32">
            <a:extLst>
              <a:ext uri="{FF2B5EF4-FFF2-40B4-BE49-F238E27FC236}">
                <a16:creationId xmlns:a16="http://schemas.microsoft.com/office/drawing/2014/main" id="{9DE6A096-D370-37F0-D9DC-6464E822785E}"/>
              </a:ext>
            </a:extLst>
          </p:cNvPr>
          <p:cNvSpPr/>
          <p:nvPr/>
        </p:nvSpPr>
        <p:spPr>
          <a:xfrm>
            <a:off x="68580" y="1204831"/>
            <a:ext cx="8138160" cy="4965192"/>
          </a:xfrm>
          <a:prstGeom prst="rect">
            <a:avLst/>
          </a:prstGeom>
          <a:solidFill>
            <a:srgbClr val="F0F0F0"/>
          </a:solidFill>
          <a:ln w="12700">
            <a:solidFill>
              <a:srgbClr val="8F8F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45720" y="109728"/>
            <a:ext cx="150876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1887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Title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04088" y="3200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기능2 화면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41548" y="113865"/>
            <a:ext cx="123444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31927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ID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904488" y="32004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</a:rPr>
              <a:t>sc2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09160" y="105809"/>
            <a:ext cx="109728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8231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67528" y="3200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주세창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05809"/>
            <a:ext cx="1143000" cy="566928"/>
          </a:xfrm>
          <a:prstGeom prst="rect">
            <a:avLst/>
          </a:prstGeom>
          <a:solidFill>
            <a:srgbClr val="EFEFEF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 10"/>
          <p:cNvSpPr/>
          <p:nvPr/>
        </p:nvSpPr>
        <p:spPr>
          <a:xfrm>
            <a:off x="6108192" y="32004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65392" y="320040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2026.03.18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" y="786384"/>
            <a:ext cx="8138160" cy="320040"/>
          </a:xfrm>
          <a:prstGeom prst="rect">
            <a:avLst/>
          </a:prstGeom>
          <a:solidFill>
            <a:srgbClr val="F7F7F7"/>
          </a:solidFill>
          <a:ln w="12700">
            <a:solidFill>
              <a:srgbClr val="B7B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8872" y="86868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Path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04672" y="868680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기능2 화면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385048" y="786384"/>
            <a:ext cx="3703320" cy="566928"/>
          </a:xfrm>
          <a:prstGeom prst="rect">
            <a:avLst/>
          </a:prstGeom>
          <a:solidFill>
            <a:srgbClr val="E5E5E5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573768" y="9326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85048" y="1353312"/>
            <a:ext cx="3703320" cy="4572000"/>
          </a:xfrm>
          <a:prstGeom prst="rect">
            <a:avLst/>
          </a:prstGeom>
          <a:solidFill>
            <a:srgbClr val="F3F3F3"/>
          </a:solidFill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503920" y="149961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05088" y="14904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323232"/>
                </a:solidFill>
                <a:latin typeface="Malgun Gothic"/>
              </a:rPr>
              <a:t>유저 ID 검색 후 혜택 시나리오를 선택하여 시뮬레이션 실행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8503920" y="206654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05088" y="20574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323232"/>
                </a:solidFill>
                <a:latin typeface="Malgun Gothic"/>
              </a:rPr>
              <a:t>특정 유저 이탈 시 예상 손실액을 실시간으로 계산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8503920" y="263347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05088" y="262432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 dirty="0" err="1">
                <a:solidFill>
                  <a:srgbClr val="323232"/>
                </a:solidFill>
                <a:latin typeface="Malgun Gothic"/>
              </a:rPr>
              <a:t>혜택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적용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시 </a:t>
            </a:r>
            <a:r>
              <a:rPr lang="ko-KR" altLang="en-US" sz="1100" dirty="0">
                <a:solidFill>
                  <a:srgbClr val="323232"/>
                </a:solidFill>
                <a:latin typeface="Malgun Gothic"/>
              </a:rPr>
              <a:t>해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지율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감소치를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비교하여</a:t>
            </a:r>
            <a:r>
              <a:rPr sz="1100" dirty="0">
                <a:solidFill>
                  <a:srgbClr val="323232"/>
                </a:solidFill>
                <a:latin typeface="Malgun Gothic"/>
              </a:rPr>
              <a:t> </a:t>
            </a:r>
            <a:r>
              <a:rPr sz="1100" dirty="0" err="1">
                <a:solidFill>
                  <a:srgbClr val="323232"/>
                </a:solidFill>
                <a:latin typeface="Malgun Gothic"/>
              </a:rPr>
              <a:t>표시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8503920" y="320040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05088" y="319125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323232"/>
                </a:solidFill>
                <a:latin typeface="Malgun Gothic"/>
              </a:rPr>
              <a:t>예상 잔존 가치를 수치 형태로 제공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8503920" y="376732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05088" y="37581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323232"/>
                </a:solidFill>
                <a:latin typeface="Malgun Gothic"/>
              </a:rPr>
              <a:t>광고형 전환, 할인 쿠폰 등 추천 혜택 시나리오 제안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8503920" y="433425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705088" y="43251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100">
                <a:solidFill>
                  <a:srgbClr val="323232"/>
                </a:solidFill>
                <a:latin typeface="Malgun Gothic"/>
              </a:rPr>
              <a:t>효과 비교와 우선 적용 대상을 함께 확인 가능</a:t>
            </a:r>
            <a:endParaRPr lang="en-US" sz="830" dirty="0"/>
          </a:p>
        </p:txBody>
      </p:sp>
      <p:sp>
        <p:nvSpPr>
          <p:cNvPr id="34" name="Rectangle 33"/>
          <p:cNvSpPr/>
          <p:nvPr/>
        </p:nvSpPr>
        <p:spPr>
          <a:xfrm>
            <a:off x="338328" y="1756664"/>
            <a:ext cx="7818120" cy="3931920"/>
          </a:xfrm>
          <a:prstGeom prst="rect">
            <a:avLst/>
          </a:prstGeom>
          <a:solidFill>
            <a:srgbClr val="0A0A0A"/>
          </a:solidFill>
          <a:ln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38328" y="1756664"/>
            <a:ext cx="1143000" cy="3931920"/>
          </a:xfrm>
          <a:prstGeom prst="rect">
            <a:avLst/>
          </a:prstGeom>
          <a:solidFill>
            <a:srgbClr val="19185A"/>
          </a:solidFill>
          <a:ln>
            <a:solidFill>
              <a:srgbClr val="191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9496" y="2012696"/>
            <a:ext cx="640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lgun Gothic"/>
              </a:rPr>
              <a:t>OTT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2609062"/>
            <a:ext cx="64008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800" dirty="0" err="1">
                <a:solidFill>
                  <a:srgbClr val="FFFFFF"/>
                </a:solidFill>
                <a:latin typeface="Malgun Gothic"/>
              </a:rPr>
              <a:t>메인화면</a:t>
            </a:r>
            <a:endParaRPr sz="800" b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6604" y="2971800"/>
            <a:ext cx="79552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Malgun Gothic"/>
              </a:rPr>
              <a:t>기능1 </a:t>
            </a:r>
            <a:r>
              <a:rPr sz="800" b="0" dirty="0" err="1">
                <a:solidFill>
                  <a:srgbClr val="FFFFFF"/>
                </a:solidFill>
                <a:latin typeface="Malgun Gothic"/>
              </a:rPr>
              <a:t>예측</a:t>
            </a:r>
            <a:endParaRPr sz="800" b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02920" y="3375152"/>
            <a:ext cx="731520" cy="237744"/>
          </a:xfrm>
          <a:prstGeom prst="roundRect">
            <a:avLst/>
          </a:prstGeom>
          <a:solidFill>
            <a:srgbClr val="373791"/>
          </a:solidFill>
          <a:ln>
            <a:solidFill>
              <a:srgbClr val="373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4340" y="3301887"/>
            <a:ext cx="90982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dirty="0">
                <a:solidFill>
                  <a:srgbClr val="FFFFFF"/>
                </a:solidFill>
                <a:latin typeface="Malgun Gothic"/>
              </a:rPr>
              <a:t>기능2
</a:t>
            </a:r>
            <a:r>
              <a:rPr sz="800" b="0" dirty="0" err="1">
                <a:solidFill>
                  <a:srgbClr val="FFFFFF"/>
                </a:solidFill>
                <a:latin typeface="Malgun Gothic"/>
              </a:rPr>
              <a:t>시뮬레이션</a:t>
            </a:r>
            <a:endParaRPr sz="800" b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4360" y="3777488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리포트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161536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algun Gothic"/>
              </a:rPr>
              <a:t>설정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81328" y="1756664"/>
            <a:ext cx="6675120" cy="310896"/>
          </a:xfrm>
          <a:prstGeom prst="rect">
            <a:avLst/>
          </a:prstGeom>
          <a:solidFill>
            <a:schemeClr val="bg1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6830568" y="1784096"/>
            <a:ext cx="11430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50" b="0">
                <a:solidFill>
                  <a:srgbClr val="3C3C3C"/>
                </a:solidFill>
                <a:latin typeface="Malgun Gothic"/>
              </a:rPr>
              <a:t>주세창 | 로그아웃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91056" y="2104136"/>
            <a:ext cx="27432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Malgun Gothic"/>
              </a:rPr>
              <a:t>기능2  |  마케팅 시뮬레이션 및 잔존 가치 예측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45920" y="2287016"/>
            <a:ext cx="2011680" cy="3200400"/>
          </a:xfrm>
          <a:prstGeom prst="rect">
            <a:avLst/>
          </a:prstGeom>
          <a:solidFill>
            <a:srgbClr val="12121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840480" y="2287016"/>
            <a:ext cx="1783080" cy="3200400"/>
          </a:xfrm>
          <a:prstGeom prst="rect">
            <a:avLst/>
          </a:prstGeom>
          <a:solidFill>
            <a:srgbClr val="12121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806440" y="2287016"/>
            <a:ext cx="1965960" cy="3200400"/>
          </a:xfrm>
          <a:prstGeom prst="rect">
            <a:avLst/>
          </a:prstGeom>
          <a:solidFill>
            <a:srgbClr val="12121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518920" y="2160016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518920" y="2147316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5648" y="2328158"/>
            <a:ext cx="13258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 err="1">
                <a:solidFill>
                  <a:srgbClr val="FFFFFF"/>
                </a:solidFill>
                <a:latin typeface="Malgun Gothic"/>
              </a:rPr>
              <a:t>시뮬레이션</a:t>
            </a:r>
            <a:r>
              <a:rPr sz="12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Malgun Gothic"/>
              </a:rPr>
              <a:t>조건</a:t>
            </a:r>
            <a:endParaRPr sz="120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792224" y="2671064"/>
            <a:ext cx="10972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EBEBEB"/>
                </a:solidFill>
                <a:latin typeface="Malgun Gothic"/>
              </a:rPr>
              <a:t>유저 ID 검색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92224" y="2835656"/>
            <a:ext cx="1417320" cy="201168"/>
          </a:xfrm>
          <a:prstGeom prst="roundRect">
            <a:avLst/>
          </a:prstGeom>
          <a:solidFill>
            <a:srgbClr val="37373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865376" y="2840228"/>
            <a:ext cx="1005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DCDCDC"/>
                </a:solidFill>
                <a:latin typeface="Malgun Gothic"/>
              </a:rPr>
              <a:t>대상 유저 검색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92224" y="3183128"/>
            <a:ext cx="10972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EBEBEB"/>
                </a:solidFill>
                <a:latin typeface="Malgun Gothic"/>
              </a:rPr>
              <a:t>혜택 시나리오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792224" y="3347720"/>
            <a:ext cx="1417320" cy="237744"/>
          </a:xfrm>
          <a:prstGeom prst="roundRect">
            <a:avLst/>
          </a:prstGeom>
          <a:solidFill>
            <a:srgbClr val="2C2C2C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828800" y="3368476"/>
            <a:ext cx="1106424" cy="2183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 dirty="0" err="1">
                <a:solidFill>
                  <a:srgbClr val="FFFFFF"/>
                </a:solidFill>
                <a:latin typeface="Malgun Gothic"/>
              </a:rPr>
              <a:t>광고형</a:t>
            </a:r>
            <a:r>
              <a:rPr sz="819" b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819" b="0" dirty="0" err="1">
                <a:solidFill>
                  <a:srgbClr val="FFFFFF"/>
                </a:solidFill>
                <a:latin typeface="Malgun Gothic"/>
              </a:rPr>
              <a:t>요금제</a:t>
            </a:r>
            <a:r>
              <a:rPr sz="819" b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819" b="0" dirty="0" err="1">
                <a:solidFill>
                  <a:srgbClr val="FFFFFF"/>
                </a:solidFill>
                <a:latin typeface="Malgun Gothic"/>
              </a:rPr>
              <a:t>전환</a:t>
            </a:r>
            <a:endParaRPr sz="819" b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971800" y="3356864"/>
            <a:ext cx="1097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dirty="0">
                <a:solidFill>
                  <a:srgbClr val="AAAAAA"/>
                </a:solidFill>
                <a:latin typeface="Malgun Gothic"/>
              </a:rPr>
              <a:t>▾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92224" y="3713480"/>
            <a:ext cx="10972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EBEBEB"/>
                </a:solidFill>
                <a:latin typeface="Malgun Gothic"/>
              </a:rPr>
              <a:t>조회 기간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792224" y="3878072"/>
            <a:ext cx="1417320" cy="237744"/>
          </a:xfrm>
          <a:prstGeom prst="roundRect">
            <a:avLst/>
          </a:prstGeom>
          <a:solidFill>
            <a:srgbClr val="2C2C2C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847088" y="3922196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 err="1">
                <a:solidFill>
                  <a:srgbClr val="FFFFFF"/>
                </a:solidFill>
                <a:latin typeface="Malgun Gothic"/>
              </a:rPr>
              <a:t>최근</a:t>
            </a:r>
            <a:r>
              <a:rPr sz="850" b="0" dirty="0">
                <a:solidFill>
                  <a:srgbClr val="FFFFFF"/>
                </a:solidFill>
                <a:latin typeface="Malgun Gothic"/>
              </a:rPr>
              <a:t> 30일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71800" y="3887216"/>
            <a:ext cx="10972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  <a:latin typeface="Malgun Gothic"/>
              </a:rPr>
              <a:t>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92224" y="4280408"/>
            <a:ext cx="137160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EBEBEB"/>
                </a:solidFill>
                <a:latin typeface="Malgun Gothic"/>
              </a:rPr>
              <a:t>모델 반영 주요 변수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4472432"/>
            <a:ext cx="16459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D7D7D7"/>
                </a:solidFill>
                <a:latin typeface="Malgun Gothic"/>
              </a:rPr>
              <a:t>프로모션 반응률, 요금제 하향 이력,
광고 시청 여부, 문의 빈도,
신규 콘텐츠 유무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792224" y="5107050"/>
            <a:ext cx="841248" cy="256032"/>
          </a:xfrm>
          <a:prstGeom prst="round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746504" y="5128959"/>
            <a:ext cx="905256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 dirty="0" err="1">
                <a:solidFill>
                  <a:srgbClr val="FFFFFF"/>
                </a:solidFill>
                <a:latin typeface="Malgun Gothic"/>
              </a:rPr>
              <a:t>시뮬레이션</a:t>
            </a:r>
            <a:endParaRPr sz="8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3713480" y="2160016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713480" y="2147316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50208" y="2360168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예상 효과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05072" y="2817368"/>
            <a:ext cx="1097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EBEBEB"/>
                </a:solidFill>
                <a:latin typeface="Malgun Gothic"/>
              </a:rPr>
              <a:t>예상 손실액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05072" y="2943598"/>
            <a:ext cx="136245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Malgun Gothic"/>
              </a:rPr>
              <a:t>₩420,000</a:t>
            </a:r>
          </a:p>
        </p:txBody>
      </p:sp>
      <p:sp>
        <p:nvSpPr>
          <p:cNvPr id="73" name="Oval 72"/>
          <p:cNvSpPr/>
          <p:nvPr/>
        </p:nvSpPr>
        <p:spPr>
          <a:xfrm>
            <a:off x="3713480" y="3541776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713480" y="3529076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05072" y="3546539"/>
            <a:ext cx="1257592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 err="1">
                <a:solidFill>
                  <a:srgbClr val="EBEBEB"/>
                </a:solidFill>
                <a:latin typeface="Malgun Gothic"/>
              </a:rPr>
              <a:t>혜택</a:t>
            </a:r>
            <a:r>
              <a:rPr sz="850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850" b="0" dirty="0" err="1">
                <a:solidFill>
                  <a:srgbClr val="EBEBEB"/>
                </a:solidFill>
                <a:latin typeface="Malgun Gothic"/>
              </a:rPr>
              <a:t>제공</a:t>
            </a:r>
            <a:r>
              <a:rPr sz="850" b="0" dirty="0">
                <a:solidFill>
                  <a:srgbClr val="EBEBEB"/>
                </a:solidFill>
                <a:latin typeface="Malgun Gothic"/>
              </a:rPr>
              <a:t> 시 </a:t>
            </a:r>
            <a:r>
              <a:rPr sz="850" b="0" dirty="0" err="1">
                <a:solidFill>
                  <a:srgbClr val="EBEBEB"/>
                </a:solidFill>
                <a:latin typeface="Malgun Gothic"/>
              </a:rPr>
              <a:t>감소율</a:t>
            </a:r>
            <a:endParaRPr sz="850" b="0" dirty="0">
              <a:solidFill>
                <a:srgbClr val="EBEBEB"/>
              </a:solidFill>
              <a:latin typeface="Malgun Gothic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005072" y="3868084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FF6C6C"/>
                </a:solidFill>
                <a:latin typeface="Malgun Gothic"/>
              </a:rPr>
              <a:t>-21%</a:t>
            </a:r>
          </a:p>
        </p:txBody>
      </p:sp>
      <p:sp>
        <p:nvSpPr>
          <p:cNvPr id="77" name="Oval 76"/>
          <p:cNvSpPr/>
          <p:nvPr/>
        </p:nvSpPr>
        <p:spPr>
          <a:xfrm>
            <a:off x="3713480" y="4291584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713480" y="4278884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05072" y="4316984"/>
            <a:ext cx="1097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EBEBEB"/>
                </a:solidFill>
                <a:latin typeface="Malgun Gothic"/>
              </a:rPr>
              <a:t>예상 잔존 가치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05071" y="4443214"/>
            <a:ext cx="153357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Malgun Gothic"/>
              </a:rPr>
              <a:t>₩1,180,000</a:t>
            </a:r>
          </a:p>
        </p:txBody>
      </p:sp>
      <p:sp>
        <p:nvSpPr>
          <p:cNvPr id="81" name="Oval 80"/>
          <p:cNvSpPr/>
          <p:nvPr/>
        </p:nvSpPr>
        <p:spPr>
          <a:xfrm>
            <a:off x="5679440" y="2160016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679440" y="2147316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16168" y="2360168"/>
            <a:ext cx="1371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추천 혜택 시나리오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71032" y="2780792"/>
            <a:ext cx="1417320" cy="475488"/>
          </a:xfrm>
          <a:prstGeom prst="rect">
            <a:avLst/>
          </a:prstGeom>
          <a:solidFill>
            <a:srgbClr val="1C1C1C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6062472" y="2824671"/>
            <a:ext cx="1225296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 dirty="0" err="1">
                <a:solidFill>
                  <a:srgbClr val="FFFFFF"/>
                </a:solidFill>
                <a:latin typeface="Malgun Gothic"/>
              </a:rPr>
              <a:t>광고형</a:t>
            </a:r>
            <a:r>
              <a:rPr sz="85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850" b="1" dirty="0" err="1">
                <a:solidFill>
                  <a:srgbClr val="FFFFFF"/>
                </a:solidFill>
                <a:latin typeface="Malgun Gothic"/>
              </a:rPr>
              <a:t>요금제</a:t>
            </a:r>
            <a:r>
              <a:rPr sz="85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850" b="1" dirty="0" err="1">
                <a:solidFill>
                  <a:srgbClr val="FFFFFF"/>
                </a:solidFill>
                <a:latin typeface="Malgun Gothic"/>
              </a:rPr>
              <a:t>전환</a:t>
            </a:r>
            <a:endParaRPr sz="850" b="1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076188" y="3025928"/>
            <a:ext cx="1325880" cy="2046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30" b="0" dirty="0" err="1">
                <a:solidFill>
                  <a:srgbClr val="EBEBEB"/>
                </a:solidFill>
                <a:latin typeface="Malgun Gothic"/>
              </a:rPr>
              <a:t>이탈</a:t>
            </a:r>
            <a:r>
              <a:rPr sz="730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730" b="0" dirty="0" err="1">
                <a:solidFill>
                  <a:srgbClr val="EBEBEB"/>
                </a:solidFill>
                <a:latin typeface="Malgun Gothic"/>
              </a:rPr>
              <a:t>방어</a:t>
            </a:r>
            <a:r>
              <a:rPr sz="730" b="0" dirty="0">
                <a:solidFill>
                  <a:srgbClr val="EBEBEB"/>
                </a:solidFill>
                <a:latin typeface="Malgun Gothic"/>
              </a:rPr>
              <a:t> + </a:t>
            </a:r>
            <a:r>
              <a:rPr sz="730" b="0" dirty="0" err="1">
                <a:solidFill>
                  <a:srgbClr val="EBEBEB"/>
                </a:solidFill>
                <a:latin typeface="Malgun Gothic"/>
              </a:rPr>
              <a:t>비용</a:t>
            </a:r>
            <a:r>
              <a:rPr sz="730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730" b="0" dirty="0" err="1">
                <a:solidFill>
                  <a:srgbClr val="EBEBEB"/>
                </a:solidFill>
                <a:latin typeface="Malgun Gothic"/>
              </a:rPr>
              <a:t>절감</a:t>
            </a:r>
            <a:endParaRPr sz="730" b="0" dirty="0">
              <a:solidFill>
                <a:srgbClr val="EBEBEB"/>
              </a:solidFill>
              <a:latin typeface="Malgun Gothic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971032" y="3457448"/>
            <a:ext cx="1417320" cy="475488"/>
          </a:xfrm>
          <a:prstGeom prst="rect">
            <a:avLst/>
          </a:prstGeom>
          <a:solidFill>
            <a:srgbClr val="1C1C1C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062472" y="3548888"/>
            <a:ext cx="1097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Malgun Gothic"/>
              </a:rPr>
              <a:t>1개월 할인 쿠폰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62472" y="3695192"/>
            <a:ext cx="109728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30" b="0">
                <a:solidFill>
                  <a:srgbClr val="EBEBEB"/>
                </a:solidFill>
                <a:latin typeface="Malgun Gothic"/>
              </a:rPr>
              <a:t>가격 민감 고객 대상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71032" y="4134104"/>
            <a:ext cx="1417320" cy="475488"/>
          </a:xfrm>
          <a:prstGeom prst="rect">
            <a:avLst/>
          </a:prstGeom>
          <a:solidFill>
            <a:srgbClr val="1C1C1C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62472" y="4225544"/>
            <a:ext cx="109728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Malgun Gothic"/>
              </a:rPr>
              <a:t>신규 콘텐츠 추천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62472" y="4371848"/>
            <a:ext cx="109728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30" b="0">
                <a:solidFill>
                  <a:srgbClr val="EBEBEB"/>
                </a:solidFill>
                <a:latin typeface="Malgun Gothic"/>
              </a:rPr>
              <a:t>관심도 회복 유도</a:t>
            </a:r>
          </a:p>
        </p:txBody>
      </p:sp>
      <p:sp>
        <p:nvSpPr>
          <p:cNvPr id="93" name="Oval 92"/>
          <p:cNvSpPr/>
          <p:nvPr/>
        </p:nvSpPr>
        <p:spPr>
          <a:xfrm>
            <a:off x="5733288" y="4693630"/>
            <a:ext cx="254000" cy="254000"/>
          </a:xfrm>
          <a:prstGeom prst="ellipse">
            <a:avLst/>
          </a:prstGeom>
          <a:solidFill>
            <a:srgbClr val="FF6C6C"/>
          </a:solidFill>
          <a:ln>
            <a:solidFill>
              <a:srgbClr val="FF6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733288" y="4680930"/>
            <a:ext cx="254000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16168" y="4902200"/>
            <a:ext cx="109728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우선 적용 대상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971032" y="5048504"/>
            <a:ext cx="1417320" cy="438912"/>
          </a:xfrm>
          <a:prstGeom prst="roundRect">
            <a:avLst/>
          </a:prstGeom>
          <a:solidFill>
            <a:srgbClr val="262626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57316" y="5071056"/>
            <a:ext cx="1746504" cy="2169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0" b="0" dirty="0" err="1">
                <a:solidFill>
                  <a:srgbClr val="FFFFFF"/>
                </a:solidFill>
                <a:latin typeface="Malgun Gothic"/>
              </a:rPr>
              <a:t>가격</a:t>
            </a:r>
            <a:r>
              <a:rPr sz="810" b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810" b="0" dirty="0" err="1">
                <a:solidFill>
                  <a:srgbClr val="FFFFFF"/>
                </a:solidFill>
                <a:latin typeface="Malgun Gothic"/>
              </a:rPr>
              <a:t>민감</a:t>
            </a:r>
            <a:r>
              <a:rPr sz="810" b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810" b="0" dirty="0" err="1">
                <a:solidFill>
                  <a:srgbClr val="FFFFFF"/>
                </a:solidFill>
                <a:latin typeface="Malgun Gothic"/>
              </a:rPr>
              <a:t>고위험군</a:t>
            </a:r>
            <a:r>
              <a:rPr sz="810" b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810" b="0" dirty="0" err="1">
                <a:solidFill>
                  <a:srgbClr val="FFFFFF"/>
                </a:solidFill>
                <a:latin typeface="Malgun Gothic"/>
              </a:rPr>
              <a:t>상위</a:t>
            </a:r>
            <a:r>
              <a:rPr sz="810" b="0" dirty="0">
                <a:solidFill>
                  <a:srgbClr val="FFFFFF"/>
                </a:solidFill>
                <a:latin typeface="Malgun Gothic"/>
              </a:rPr>
              <a:t> 20%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51438" y="5270589"/>
            <a:ext cx="1631551" cy="209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60" b="0" dirty="0" err="1">
                <a:solidFill>
                  <a:srgbClr val="EBEBEB"/>
                </a:solidFill>
                <a:latin typeface="Malgun Gothic"/>
              </a:rPr>
              <a:t>기대</a:t>
            </a:r>
            <a:r>
              <a:rPr sz="760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760" b="0" dirty="0" err="1">
                <a:solidFill>
                  <a:srgbClr val="EBEBEB"/>
                </a:solidFill>
                <a:latin typeface="Malgun Gothic"/>
              </a:rPr>
              <a:t>효과</a:t>
            </a:r>
            <a:r>
              <a:rPr sz="760" b="0" dirty="0">
                <a:solidFill>
                  <a:srgbClr val="EBEBEB"/>
                </a:solidFill>
                <a:latin typeface="Malgun Gothic"/>
              </a:rPr>
              <a:t>: </a:t>
            </a:r>
            <a:r>
              <a:rPr sz="760" b="0" dirty="0" err="1">
                <a:solidFill>
                  <a:srgbClr val="EBEBEB"/>
                </a:solidFill>
                <a:latin typeface="Malgun Gothic"/>
              </a:rPr>
              <a:t>이탈</a:t>
            </a:r>
            <a:r>
              <a:rPr sz="760" b="0" dirty="0">
                <a:solidFill>
                  <a:srgbClr val="EBEBEB"/>
                </a:solidFill>
                <a:latin typeface="Malgun Gothic"/>
              </a:rPr>
              <a:t> </a:t>
            </a:r>
            <a:r>
              <a:rPr sz="760" b="0" dirty="0" err="1">
                <a:solidFill>
                  <a:srgbClr val="EBEBEB"/>
                </a:solidFill>
                <a:latin typeface="Malgun Gothic"/>
              </a:rPr>
              <a:t>방어</a:t>
            </a:r>
            <a:r>
              <a:rPr sz="760" b="0" dirty="0">
                <a:solidFill>
                  <a:srgbClr val="EBEBEB"/>
                </a:solidFill>
                <a:latin typeface="Malgun Gothic"/>
              </a:rPr>
              <a:t> + ROI </a:t>
            </a:r>
            <a:r>
              <a:rPr sz="760" b="0" dirty="0" err="1">
                <a:solidFill>
                  <a:srgbClr val="EBEBEB"/>
                </a:solidFill>
                <a:latin typeface="Malgun Gothic"/>
              </a:rPr>
              <a:t>개선</a:t>
            </a:r>
            <a:endParaRPr sz="760" b="0" dirty="0">
              <a:solidFill>
                <a:srgbClr val="EBEBEB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617</Words>
  <Application>Microsoft Office PowerPoint</Application>
  <PresentationFormat>와이드스크린</PresentationFormat>
  <Paragraphs>194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OTT Screen Spec</dc:title>
  <dc:subject>OTT 화면설계서</dc:subject>
  <dc:creator>OpenAI</dc:creator>
  <cp:lastModifiedBy>주세창</cp:lastModifiedBy>
  <cp:revision>9</cp:revision>
  <dcterms:created xsi:type="dcterms:W3CDTF">2026-03-18T05:49:20Z</dcterms:created>
  <dcterms:modified xsi:type="dcterms:W3CDTF">2026-03-18T07:49:31Z</dcterms:modified>
</cp:coreProperties>
</file>