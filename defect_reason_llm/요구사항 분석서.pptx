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F6DC9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813816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  <a:latin typeface="맑은 고딕"/>
              </a:rPr>
              <a:t>산업 불량 이미지 설명형 라벨링</a:t>
            </a:r>
            <a:endParaRPr lang="en-US" sz="34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  <a:latin typeface="맑은 고딕"/>
              </a:rPr>
              <a:t>LLM/VLM 요구사항분석서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 b="0">
                <a:solidFill>
                  <a:srgbClr val="5C6678"/>
                </a:solidFill>
                <a:latin typeface="맑은 고딕"/>
              </a:rPr>
              <a:t>DefectReason-LLM/VLM: 결함 유형·위치·심각도·검수 우선순위·원인 설명 자동 구조화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4389120" cy="475488"/>
          </a:xfrm>
          <a:prstGeom prst="rect">
            <a:avLst/>
          </a:prstGeom>
          <a:solidFill>
            <a:srgbClr val="EAF3FF"/>
          </a:solidFill>
          <a:ln w="12700">
            <a:solidFill>
              <a:srgbClr val="D6E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53"/>
                </a:solidFill>
                <a:latin typeface="맑은 고딕"/>
              </a:rPr>
              <a:t>모델 방향: Llama 3.2 Base + QLoRA | Base 모델에 직접 Instruction 데이터로 SFT 진행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5669280" cy="960120"/>
          </a:xfrm>
          <a:prstGeom prst="roundRect">
            <a:avLst/>
          </a:prstGeom>
          <a:solidFill>
            <a:srgbClr val="E9F8F1"/>
          </a:solidFill>
          <a:ln w="12700">
            <a:solidFill>
              <a:srgbClr val="C5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675887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53"/>
                </a:solidFill>
                <a:latin typeface="맑은 고딕"/>
              </a:rPr>
              <a:t>1차: 텍스트 기반 LLM 파인튜닝 → 2차: 이미지 입력 VLM 확장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645920" cy="347472"/>
          </a:xfrm>
          <a:prstGeom prst="rect">
            <a:avLst/>
          </a:prstGeom>
          <a:solidFill>
            <a:srgbClr val="FFF4E8"/>
          </a:solidFill>
          <a:ln w="12700">
            <a:solidFill>
              <a:srgbClr val="F5DC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 b="1">
                <a:solidFill>
                  <a:srgbClr val="2F6DC9"/>
                </a:solidFill>
                <a:latin typeface="맑은 고딕"/>
              </a:rPr>
              <a:t>요구사항분석서</a:t>
            </a:r>
            <a:endParaRPr lang="en-US" sz="1300" dirty="0"/>
          </a:p>
        </p:txBody>
      </p:sp>
      <p:sp>
        <p:nvSpPr>
          <p:cNvPr id="9" name="Oval 8"/>
          <p:cNvSpPr/>
          <p:nvPr/>
        </p:nvSpPr>
        <p:spPr>
          <a:xfrm>
            <a:off x="10180015" y="320040"/>
            <a:ext cx="1463040" cy="146304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0095" y="1097280"/>
            <a:ext cx="1005840" cy="1005840"/>
          </a:xfrm>
          <a:prstGeom prst="ellipse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39935" y="1417320"/>
            <a:ext cx="822960" cy="822960"/>
          </a:xfrm>
          <a:prstGeom prst="ellipse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024128"/>
            <a:ext cx="109728" cy="4480560"/>
          </a:xfrm>
          <a:prstGeom prst="round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C6678"/>
                </a:solidFill>
                <a:latin typeface="맑은 고딕"/>
              </a:rPr>
              <a:t>산업 불량 검수 보조를 위한 설명 가능한 AI 요구사항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1. 프로젝트 개요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산업 제품의 불량 상황을 설명 가능한 라벨로 구조화하는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문제 정의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3145536" cy="38221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기존 불량 검사는 정상/불량 분류에 치우쳐 있어, 불량 원인·위치·심각도·조치 우선순위를 사람이 다시 해석해야 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463040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제안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764792"/>
            <a:ext cx="3145536" cy="38221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불량 상황 설명 또는 이미지를 입력받아 결함 유형, 위치, 심각도, 검수 우선순위, 근거를 JSON으로 출력한다.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32588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463040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확장 방향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1764792"/>
            <a:ext cx="3145536" cy="38221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초기에는 텍스트 LLM으로 판단 기준을 학습하고, 이후 VLM으로 이미지 직접 입력을 처리한다.</a:t>
            </a:r>
            <a:endParaRPr lang="en-US" sz="110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2. 주제 선정 배경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세포 라벨링처럼 실제 이미지 기반 전문 라벨링이 가능한 주제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solidFill>
            <a:srgbClr val="EAF3FF"/>
          </a:solidFill>
          <a:ln w="12700">
            <a:solidFill>
              <a:srgbClr val="E4E9F1"/>
            </a:solidFill>
          </a:ln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산업 현장에서는 결함 탐지뿐 아니라 “왜 불량인지” 설명 가능한 결과가 필요하다.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MVTec AD, VisA 등 공개 산업 이상 이미지 데이터셋을 활용할 수 있다.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초기 개발은 이미지 설명 텍스트로 LLM을 파인튜닝하여 빠르게 검증한다.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추후 동일 라벨 스키마를 유지한 채 VLM으로 확장 가능하다.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4173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8272" y="1554480"/>
            <a:ext cx="46085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153"/>
                </a:solidFill>
                <a:latin typeface="맑은 고딕"/>
              </a:rPr>
              <a:t>핵심 차별점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48272" y="1856232"/>
            <a:ext cx="4608576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5C6678"/>
                </a:solidFill>
                <a:latin typeface="맑은 고딕"/>
              </a:rPr>
              <a:t>단순 불량 분류가 아니라 결함 원인 설명 + 검수 우선순위 라벨링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6974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834640"/>
            <a:ext cx="46085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153"/>
                </a:solidFill>
                <a:latin typeface="맑은 고딕"/>
              </a:rPr>
              <a:t>학습 전략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48272" y="3136392"/>
            <a:ext cx="4608576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5C6678"/>
                </a:solidFill>
                <a:latin typeface="맑은 고딕"/>
              </a:rPr>
              <a:t>Llama 3.2 Base 모델에 QLoRA 적용, instruction 데이터는 직접 제작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3977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4114800"/>
            <a:ext cx="46085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153"/>
                </a:solidFill>
                <a:latin typeface="맑은 고딕"/>
              </a:rPr>
              <a:t>결과 형태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48272" y="4416552"/>
            <a:ext cx="4608576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5C6678"/>
                </a:solidFill>
                <a:latin typeface="맑은 고딕"/>
              </a:rPr>
              <a:t>웹 서비스에서 JSON 결과와 사람이 읽기 쉬운 설명 카드 제공</a:t>
            </a:r>
            <a:endParaRPr lang="en-US" sz="11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3. 목표 및 범위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1차 구현 범위와 2차 확장 범위를 명확히 분리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50657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1차 범위: LLM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5065776" cy="3913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입력: 불량 상황 텍스트 설명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출력: defect_type, location, severity, inspection_priority, reason JSON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학습: Llama 3.2 Base + QLoRA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데이터: 직접 설계한 instruction Q/A 데이터셋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63040"/>
            <a:ext cx="50657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2차 범위: VLM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9672" y="1764792"/>
            <a:ext cx="5065776" cy="3913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입력: 산업 제품 불량 이미지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출력: 1차와 동일한 JSON 스키마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데이터: 공개 산업 이상 이미지 데이터셋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목표: 이미지에서 결함 특징을 직접 해석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4. 모델 및 파인튜닝 방향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Instruct 모델을 그대로 쓰지 않고, instruction 데이터를 직접 설계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98480" cy="4206240"/>
          </a:xfrm>
          <a:prstGeom prst="rect">
            <a:avLst/>
          </a:prstGeom>
          <a:solidFill>
            <a:srgbClr val="EAF3FF"/>
          </a:solidFill>
          <a:ln w="12700">
            <a:solidFill>
              <a:srgbClr val="E4E9F1"/>
            </a:solidFill>
          </a:ln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 b="0">
                <a:solidFill>
                  <a:srgbClr val="5C6678"/>
                </a:solidFill>
                <a:latin typeface="맑은 고딕"/>
              </a:rPr>
              <a:t>기본 모델: Llama 3.2 Base 계열 사용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250" dirty="0" b="0">
                <a:solidFill>
                  <a:srgbClr val="5C6678"/>
                </a:solidFill>
                <a:latin typeface="맑은 고딕"/>
              </a:rPr>
              <a:t>파인튜닝 방식: QLoRA로 저비용 미세조정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250" dirty="0" b="0">
                <a:solidFill>
                  <a:srgbClr val="5C6678"/>
                </a:solidFill>
                <a:latin typeface="맑은 고딕"/>
              </a:rPr>
              <a:t>직접 Instruction 구성: 이미 지시튜닝된 Instruct 모델을 그대로 쓰지 않고, Base 모델에 직접 만든 instruction 데이터로 SFT 수행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250" dirty="0" b="0">
                <a:solidFill>
                  <a:srgbClr val="5C6678"/>
                </a:solidFill>
                <a:latin typeface="맑은 고딕"/>
              </a:rPr>
              <a:t>목표: 불량 라벨링 도메인에 맞는 JSON 출력 형식과 판단 기준 학습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250" dirty="0" b="0">
                <a:solidFill>
                  <a:srgbClr val="5C6678"/>
                </a:solidFill>
                <a:latin typeface="맑은 고딕"/>
              </a:rPr>
              <a:t>평가: JSON 형식 준수율, 라벨 정확도, 설명 일관성 중심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806440"/>
            <a:ext cx="10698480" cy="457200"/>
          </a:xfrm>
          <a:prstGeom prst="roundRect">
            <a:avLst/>
          </a:prstGeom>
          <a:solidFill>
            <a:srgbClr val="E9F8F1"/>
          </a:solidFill>
          <a:ln w="12700">
            <a:solidFill>
              <a:srgbClr val="C5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9253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  <a:latin typeface="맑은 고딕"/>
              </a:rPr>
              <a:t>정리: “Llama 3.2 Base + 직접 제작 Instruction Dataset + QLoRA/SFT” 구조로 진행</a:t>
            </a:r>
            <a:endParaRPr lang="en-US" sz="13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5. 사용자 요구사항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웹 기반 불량 라벨링 데모 서비스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972800" cy="4480560"/>
          </a:xfrm>
          <a:prstGeom prst="rect">
            <a:avLst/>
          </a:prstGeom>
          <a:solidFill>
            <a:srgbClr val="EAF3FF"/>
          </a:solidFill>
          <a:ln w="12700">
            <a:solidFill>
              <a:srgbClr val="E4E9F1"/>
            </a:solidFill>
          </a:ln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사용자는 불량 상황 설명 텍스트를 입력할 수 있어야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시스템은 결함 유형, 위치, 심각도, 검수 우선순위, 근거를 구조화된 JSON으로 출력해야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출력 JSON은 웹 화면에서 카드 형태로 보기 쉽게 표시되어야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추후 사용자는 불량 이미지를 업로드하고 동일한 결과를 받을 수 있어야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모델 답변은 진단/확정 표현이 아니라 “검수 보조” 표현을 사용해야 한다.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6. 기능 요구사항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핵심 기능 목록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10789920" cy="56692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35608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4356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불량 설명 입력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435608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사용자가 자연어로 제품 상태를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48840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결함 라벨링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2148840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결함 유형/위치/심각도 자동 분류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06624"/>
            <a:ext cx="10789920" cy="566928"/>
          </a:xfrm>
          <a:prstGeom prst="roundRect">
            <a:avLst/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62072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86207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JSON 출력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286207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정해진 스키마로 결과 반환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419856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75304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57530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설명 생성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3575304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검수자가 이해할 수 있는 근거 문장 생성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133088"/>
            <a:ext cx="10789920" cy="56692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88536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2885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우선순위 판단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4288536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normal/check/urgent 등 검수 단계 구분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846320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001768"/>
            <a:ext cx="822960" cy="18288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FR-06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500176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  <a:latin typeface="맑은 고딕"/>
              </a:rPr>
              <a:t>VLM 확장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5001768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 b="0">
                <a:solidFill>
                  <a:srgbClr val="5C6678"/>
                </a:solidFill>
                <a:latin typeface="맑은 고딕"/>
              </a:rPr>
              <a:t>이미지 입력 모듈 추가 가능한 구조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7. 비기능 요구사항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성능, 안정성, 설명 가능성 중심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71600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정확성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73352"/>
            <a:ext cx="32369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라벨 스키마 기준으로 결함 유형·심각도·우선순위가 일관되게 출력되어야 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371600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안정성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1673352"/>
            <a:ext cx="32369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JSON 파싱 오류를 줄이고, 예외 입력에도 기본 스키마를 유지해야 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12344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1371600"/>
            <a:ext cx="27797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확장성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77072" y="1673352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텍스트 LLM에서 VLM 입력으로 확장 가능한 API 구조를 유지한다.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94760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사용성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096512"/>
            <a:ext cx="32369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검수자가 결과를 바로 이해할 수 있도록 설명 카드를 제공한다.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794760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효율성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872" y="4096512"/>
            <a:ext cx="32369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QLoRA로 GPU 메모리 사용량을 줄이고 Colab 환경에서 실험 가능하게 한다.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365760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3794760"/>
            <a:ext cx="277977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안전성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77072" y="4096512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40" dirty="0" b="0">
                <a:solidFill>
                  <a:srgbClr val="5C6678"/>
                </a:solidFill>
                <a:latin typeface="맑은 고딕"/>
              </a:rPr>
              <a:t>결과는 최종 판정이 아니라 검수 보조 정보로 표시한다.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8. 데이터 요구사항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1차 텍스트 데이터셋과 2차 이미지 데이터셋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17320"/>
            <a:ext cx="48828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1차 Instruction 데이터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4882896" cy="3913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직접 제작한 불량 상황 Q/A JSONL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예: 스크래치, 균열, 오염, 찌그러짐, 누락, 색상 이상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목표 수량: 최소 300개, 권장 500~1000개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분할: train/valid/test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417320"/>
            <a:ext cx="48828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  <a:latin typeface="맑은 고딕"/>
              </a:rPr>
              <a:t>2차 이미지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28232" y="1719072"/>
            <a:ext cx="4882896" cy="3913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MVTec AD, VisA 등 공개 산업 이상 이미지 데이터셋 검토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이미지별 결함 유형/위치/설명 라벨 매핑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VLM 학습 또는 평가용으로 사용</a:t>
            </a:r>
            <a:endParaRPr lang="en-US" sz="1100" dirty="0"/>
          </a:p>
          <a:p>
            <a:pPr indent="0" marL="0">
              <a:buNone/>
            </a:pPr>
            <a:r>
              <a:rPr lang="en-US" sz="1200" dirty="0" b="0">
                <a:solidFill>
                  <a:srgbClr val="5C6678"/>
                </a:solidFill>
                <a:latin typeface="맑은 고딕"/>
              </a:rPr>
              <a:t>동일 JSON 스키마 유지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9. 출력 스키마 예시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모델 출력은 평가와 웹 표시를 위해 고정된 JSON 사용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10972800" cy="274320"/>
          </a:xfrm>
          <a:prstGeom prst="rect">
            <a:avLst/>
          </a:prstGeom>
          <a:solidFill>
            <a:srgbClr val="E9F8F1"/>
          </a:solidFill>
          <a:ln w="12700">
            <a:solidFill>
              <a:srgbClr val="C5E3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  <a:latin typeface="맑은 고딕"/>
              </a:rPr>
              <a:t>입력 예시: “캡슐 표면 중앙에 긴 균열이 있고 가장자리 일부가 깨져 있다.”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solidFill>
            <a:srgbClr val="F6F8FC"/>
          </a:solidFill>
          <a:ln w="12700">
            <a:solidFill>
              <a:srgbClr val="D6E6FF"/>
            </a:solidFill>
          </a:ln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"object_type": "capsule",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"defect_type": "crack",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"location": "center",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"high",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"inspection_priority": "urgent",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"제품 중앙에 균열과 파손이 확인되어 기능 불량 가능성이 높습니다."</a:t>
            </a:r>
            <a:endParaRPr lang="en-US" sz="1800" dirty="0"/>
          </a:p>
          <a:p>
            <a:pPr indent="0" marL="0">
              <a:buNone/>
            </a:pPr>
            <a:r>
              <a:rPr lang="en-US" sz="1200" dirty="0" b="0">
                <a:solidFill>
                  <a:srgbClr val="183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10. 시스템 구성도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텍스트 LLM에서 이미지 VLM으로 확장 가능한 구조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48840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사용자 입력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450592"/>
            <a:ext cx="1728216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불량 설명 텍스트</a:t>
            </a:r>
            <a:endParaRPr lang="en-US" sz="1100" dirty="0"/>
          </a:p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추후 이미지 업로드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33472" y="26974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DC9"/>
                </a:solidFill>
                <a:latin typeface="맑은 고딕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148840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Flask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2450592"/>
            <a:ext cx="1728216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입력 검증</a:t>
            </a:r>
            <a:endParaRPr lang="en-US" sz="1100" dirty="0"/>
          </a:p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프롬프트 구성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26974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DC9"/>
                </a:solidFill>
                <a:latin typeface="맑은 고딕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66360" y="201168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2148840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LLM/VLM 모델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2450592"/>
            <a:ext cx="1728216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Llama 3.2 Base+QLoRA</a:t>
            </a:r>
            <a:endParaRPr lang="en-US" sz="1100" dirty="0"/>
          </a:p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추후 VLM 어댑터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96912" y="26974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DC9"/>
                </a:solidFill>
                <a:latin typeface="맑은 고딕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98080" y="201168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2148840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결과 후처리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62672" y="2450592"/>
            <a:ext cx="1728216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JSON 파싱</a:t>
            </a:r>
            <a:endParaRPr lang="en-US" sz="1100" dirty="0"/>
          </a:p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오류 보정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28632" y="26974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DC9"/>
                </a:solidFill>
                <a:latin typeface="맑은 고딕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829800" y="201168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2148840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53"/>
                </a:solidFill>
                <a:latin typeface="맑은 고딕"/>
              </a:rPr>
              <a:t>웹 출력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94392" y="2450592"/>
            <a:ext cx="1728216" cy="1261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라벨 카드</a:t>
            </a:r>
            <a:endParaRPr lang="en-US" sz="1100" dirty="0"/>
          </a:p>
          <a:p>
            <a:pPr indent="0" marL="0">
              <a:buNone/>
            </a:pPr>
            <a:r>
              <a:rPr lang="en-US" sz="1080" dirty="0" b="0">
                <a:solidFill>
                  <a:srgbClr val="5C6678"/>
                </a:solidFill>
                <a:latin typeface="맑은 고딕"/>
              </a:rPr>
              <a:t>검수 우선순위 표시</a:t>
            </a:r>
            <a:endParaRPr 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11. 일정 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LLM 먼저 구현 후 VLM 확장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10789920" cy="62179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53896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1주차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53896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주제 확정, 요구사항분석서, 라벨 스키마 설계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03704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2주차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2037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Instruction 데이터셋 300~500개 제작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79776"/>
            <a:ext cx="10789920" cy="621792"/>
          </a:xfrm>
          <a:prstGeom prst="roundRect">
            <a:avLst/>
          </a:prstGeom>
          <a:solidFill>
            <a:srgbClr val="E9F8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53512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3주차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95351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Llama 3.2 Base + QLoRA 파인튜닝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03320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4주차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70332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Flask 웹 서비스 및 JSON 결과 UI 구현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79392"/>
            <a:ext cx="10789920" cy="62179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53128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5주차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4531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평가/오류 개선/발표자료 정리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202936"/>
            <a:ext cx="1097280" cy="2286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확장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5202936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60" dirty="0" b="0">
                <a:solidFill>
                  <a:srgbClr val="183153"/>
                </a:solidFill>
                <a:latin typeface="맑은 고딕"/>
              </a:rPr>
              <a:t>공개 이미지 데이터셋 기반 VLM 실험</a:t>
            </a:r>
            <a:endParaRPr lang="en-US" sz="13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  <a:latin typeface="맑은 고딕"/>
              </a:rPr>
              <a:t>12. 기대 효과 및 결론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 b="0">
                <a:solidFill>
                  <a:srgbClr val="2F6DC9"/>
                </a:solidFill>
                <a:latin typeface="맑은 고딕"/>
              </a:rPr>
              <a:t>설명 가능한 산업 불량 검수 보조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2F6D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789920" cy="2926080"/>
          </a:xfrm>
          <a:prstGeom prst="rect">
            <a:avLst/>
          </a:prstGeom>
          <a:solidFill>
            <a:srgbClr val="EAF3FF"/>
          </a:solidFill>
          <a:ln w="12700">
            <a:solidFill>
              <a:srgbClr val="E4E9F1"/>
            </a:solidFill>
          </a:ln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검수자가 불량 유형과 원인을 빠르게 파악할 수 있다.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JSON 기반 결과로 평가, 저장, 웹 연동이 쉽다.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직접 instruction 데이터를 설계해 base LLM을 도메인 특화 모델로 확장한다.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300" dirty="0" b="0">
                <a:solidFill>
                  <a:srgbClr val="5C6678"/>
                </a:solidFill>
                <a:latin typeface="맑은 고딕"/>
              </a:rPr>
              <a:t>향후 실제 불량 이미지 데이터셋을 활용해 VLM 기반 이미지 라벨링 모델로 확장할 수 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10515600" cy="822960"/>
          </a:xfrm>
          <a:prstGeom prst="roundRect">
            <a:avLst/>
          </a:prstGeom>
          <a:solidFill>
            <a:srgbClr val="2F6DC9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38928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/>
              </a:rPr>
              <a:t>최종 방향: DefectReason-LLM → DefectReason-VLM 단계적 확장</a:t>
            </a:r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F6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37215" y="256032"/>
            <a:ext cx="411480" cy="109728"/>
          </a:xfrm>
          <a:prstGeom prst="roundRect">
            <a:avLst/>
          </a:prstGeom>
          <a:solidFill>
            <a:srgbClr val="E9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40135" y="256032"/>
            <a:ext cx="256032" cy="109728"/>
          </a:xfrm>
          <a:prstGeom prst="roundRect">
            <a:avLst/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51615" y="64465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678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LLM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산업 불량 이미지 설명형 라벨링 LLM/VLM 요구사항분석서</dc:title>
  <dc:subject>Requirements Analysis</dc:subject>
  <dc:creator>ChatGPT</dc:creator>
  <cp:lastModifiedBy>ChatGPT</cp:lastModifiedBy>
  <cp:revision>1</cp:revision>
  <dcterms:created xsi:type="dcterms:W3CDTF">2026-06-05T02:25:56Z</dcterms:created>
  <dcterms:modified xsi:type="dcterms:W3CDTF">2026-06-05T02:25:56Z</dcterms:modified>
</cp:coreProperties>
</file>