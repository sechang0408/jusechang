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53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Deloitte Digital Media Monitor (2025): 39% overall SVOD churn in last 6 months; 70% frustrated by price increases; 54% -&gt; 66% AVOD household adoption. https://www.deloitte.com/us/en/insights/industry/technology/digital-media-trends-consumption-habits-survey/2025/digital-media-monitor-dashboard.html
- Antenna Q1'26 State of Subscriptions: Premium SVOD 2025 Year in Review: weighted average churn rate 4.6%. https://www.antenna.live/reports/q126-state-of-subscriptions-premium-svod-2025-year-in-review
- Reuters, May 15 2025: Netflix ad-supported tier at 94M users; 55% of sign-ups in available countries. https://www.reuters.com/technology/netflix-says-ad-supported-service-has-94-million-subscribers-2025-05-14/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 유저 이탈 방지 및 리텐션 최적화를 위한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614569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서비스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76656" y="2331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 로그·결제 패턴·광고형 요금제 선호도를 바탕으로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위험을 예측하고 개인화된 방어 전략을 추천하는 OTT 리텐션 AI 제안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" y="324612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2376" y="330098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Churn Prediction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48256" y="3246120"/>
            <a:ext cx="1664208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75688" y="3300984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Retention Optimization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85616" y="3246120"/>
            <a:ext cx="1353312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13048" y="330098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Ad-tier Simulation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37960" y="868680"/>
            <a:ext cx="4754880" cy="2176272"/>
          </a:xfrm>
          <a:prstGeom prst="roundRect">
            <a:avLst>
              <a:gd name="adj" fmla="val 336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903720" y="1170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1503753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넷플릭스·티빙 같은 구독형 OTT는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유치보다 기존 유저를 잃지 않는 것이 더 중요하다.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2295579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D0D5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해지 가능성이 높은 유저를 조기에 식별하고, 할인·광고형 요금제·콘텐츠 추천 등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D0D5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효과적인 방어 액션을 자동으로 제안하는 것이 핵심이다.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359652" y="361188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65392" y="3675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개발목표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65392" y="413308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유저별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해지 위험도 예측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709660" y="3584448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915400" y="3675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개발목표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15400" y="4171841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시뮬레이션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잔존 가치 예측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45720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한 줄 요약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50749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확률이 높은 유저를 실시간으로 예측하고,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전환·할인·쿠폰·추천 강화 등 가장 효율적인 방어 전략을 제안하여 매출 손실을 줄인다.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46920" y="64190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  |  주세창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4617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기획의도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7" y="822960"/>
            <a:ext cx="85857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방지는 OTT의 핵심 과제이며, 가격 민감도 대응이 곧 리텐션 전략이다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344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</a:t>
            </a:r>
            <a:r>
              <a:rPr lang="en-US" sz="1050" dirty="0" err="1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 err="1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이탈률</a:t>
            </a: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대응과 광고형/저가 요금제 전략의 중요성을 동시에 보여준다.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46920" y="64190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  |  주세창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457200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 정의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" y="2267712"/>
            <a:ext cx="82296" cy="822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2219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넷플릭스·티빙 같은 구독형 OTT 서비스의 최대 과제는 구독 해지를 </a:t>
            </a:r>
            <a:r>
              <a:rPr lang="en-US" sz="1200" dirty="0" err="1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막는</a:t>
            </a:r>
            <a:r>
              <a:rPr lang="en-US" sz="12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</a:t>
            </a:r>
          </a:p>
        </p:txBody>
      </p:sp>
      <p:sp>
        <p:nvSpPr>
          <p:cNvPr id="12" name="Shape 10"/>
          <p:cNvSpPr/>
          <p:nvPr/>
        </p:nvSpPr>
        <p:spPr>
          <a:xfrm>
            <a:off x="859536" y="2799370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76584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이탈은 단순 고객 1명의 손실이 아니라, 미래 매출·광고 수익·추천 생태계 품질 저하로 연결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" y="3304576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32826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유저별 이용 로그와 결제 패턴을 분석해 “누가 떠날지”를 먼저 예측해야 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" y="3848753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38221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민감도가 높은 위험군에게는 광고형 요금제·쿠폰·할인 등 차등 방어 전략이 필요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" y="4919472"/>
            <a:ext cx="4023360" cy="859536"/>
          </a:xfrm>
          <a:prstGeom prst="roundRect">
            <a:avLst>
              <a:gd name="adj" fmla="val 85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97280" y="5157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“구독 유지”는 더 이상 마케팅 문제가 아니라,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기반의 수익 방어 문제다.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40680" y="17373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05272" y="188366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05272" y="226771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6개월 내 SVOD 해지 경험 소비자 비중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71232" y="17373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35824" y="188366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35824" y="226771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인상에 대한 불만을 느끼는 소비자 비중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857232" y="188366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4.6%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57232" y="226771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Premium SVOD 가중 평균 월간 churn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40680" y="306324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69280" y="3310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AVOD/광고형 요금제 확산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06440" y="5349240"/>
            <a:ext cx="224028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126480" y="4334256"/>
            <a:ext cx="502920" cy="10149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089904" y="40233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98464" y="546811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05472" y="4105656"/>
            <a:ext cx="502920" cy="12435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159752" y="38039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77456" y="546811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2025.09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845552" y="4297680"/>
            <a:ext cx="329184" cy="237744"/>
          </a:xfrm>
          <a:prstGeom prst="chevron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845552" y="40233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+12pt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32520" y="306324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961120" y="3273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넷플릭스 광고형 성장 시사점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961120" y="36576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94M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9985248" y="3675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5월 기준 넷플릭스 광고형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활성 이용자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8961120" y="43525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55%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985248" y="4416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출시 국가에서의 신규 가입 비중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8979408" y="498348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가격 민감도가 높은 유저를 광고형 요금제로 유도하는 전략이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유치뿐 아니라 해지 방어 수단으로도 유효함을 시사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4617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기능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구독 해지 및 해지 위험도 예측 모델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Regression으로 이용 시간을 예측하고, Classification으로 이탈 위험 그룹을 분류한다.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46920" y="64190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  |  주세창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75564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19202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4672" y="19888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89280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121408"/>
            <a:ext cx="1545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 로그·결제 패턴·유저 프로필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2103120"/>
            <a:ext cx="384048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93008" y="175564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39312" y="19202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39312" y="19888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189280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121408"/>
            <a:ext cx="1545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최근/예상 이용 시간, 저활성 신호 예측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2103120"/>
            <a:ext cx="384048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327648" y="175564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73952" y="19202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73952" y="19888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189280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121408"/>
            <a:ext cx="1545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· 주의 · 위험 3그룹 분류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32520" y="2103120"/>
            <a:ext cx="384048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62288" y="1755648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4F3FF"/>
          </a:solidFill>
          <a:ln w="12700">
            <a:solidFill>
              <a:srgbClr val="F4F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308592" y="19202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308592" y="19888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0" y="189280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출력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84080" y="2121408"/>
            <a:ext cx="1591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점수 · 타깃 리스트 · 개입 우선순위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" y="3063240"/>
            <a:ext cx="5349240" cy="272491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96112" y="3310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입력 변수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6112" y="370332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23544" y="3758184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결제액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773936" y="370332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801368" y="3758184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빈도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51760" y="3703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679192" y="375818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1주 사용 여부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23360" y="370332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050792" y="3758184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시청 비중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96112" y="4096512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23544" y="4151376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장르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773936" y="409651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01368" y="4151376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오리지널 선호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61488" y="409651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88920" y="415137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시청 여부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794760" y="4096512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822192" y="415137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시청 정도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96112" y="44897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923544" y="454456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몰아보기 성향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901952" y="4489704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929384" y="4544568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디바이스 수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127248" y="4489704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3154680" y="454456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 소득/구성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25112" y="4489704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352544" y="4544568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 시간대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96112" y="4882896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923544" y="493776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572768" y="4882896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1600200" y="493776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96112" y="53583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독립변수를 활용해 “이용 시간 감소”를 먼저 예측하고, 그 결과를 바탕으로 해지 위험도를 분류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263640" y="3063240"/>
            <a:ext cx="2578608" cy="2724912"/>
          </a:xfrm>
          <a:prstGeom prst="roundRect">
            <a:avLst>
              <a:gd name="adj" fmla="val 2837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492240" y="3310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모델링 방식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92240" y="3675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이용 시간 예측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492240" y="3913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Regression 모델로 최근/예상 시청 시간을 계산하여 저활성 신호를 포착</a:t>
            </a:r>
            <a:endParaRPr lang="en-US" sz="1040" dirty="0"/>
          </a:p>
        </p:txBody>
      </p:sp>
      <p:sp>
        <p:nvSpPr>
          <p:cNvPr id="66" name="Text 64"/>
          <p:cNvSpPr/>
          <p:nvPr/>
        </p:nvSpPr>
        <p:spPr>
          <a:xfrm>
            <a:off x="6492240" y="4462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위험 그룹 분류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492240" y="47000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Classification 모델로 유저를 적정·주의·위험 3개 그룹으로 세분화</a:t>
            </a:r>
            <a:endParaRPr lang="en-US" sz="1040" dirty="0"/>
          </a:p>
        </p:txBody>
      </p:sp>
      <p:sp>
        <p:nvSpPr>
          <p:cNvPr id="68" name="Shape 66"/>
          <p:cNvSpPr/>
          <p:nvPr/>
        </p:nvSpPr>
        <p:spPr>
          <a:xfrm>
            <a:off x="9070848" y="3063240"/>
            <a:ext cx="2487168" cy="2724912"/>
          </a:xfrm>
          <a:prstGeom prst="roundRect">
            <a:avLst>
              <a:gd name="adj" fmla="val 2941"/>
            </a:avLst>
          </a:prstGeom>
          <a:solidFill>
            <a:srgbClr val="FFF6ED"/>
          </a:solidFill>
          <a:ln w="12700">
            <a:solidFill>
              <a:srgbClr val="FFF6E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9281160" y="3310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산출물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272016" y="367588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9299448" y="373075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0268712" y="367588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10296144" y="373075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위험군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272016" y="4059936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9299448" y="411480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우선순위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533888" y="405993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0561320" y="411480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리스트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281160" y="4526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“최근 7일 미사용”, “추천 시청 30% 감소” 같은 영향 요인을 설명 가능한 형태로 제시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66928" y="41148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4617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기능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방지 마케팅 시뮬레이션 및 잔존 가치 예측 모델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161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요금제 선호도와 해지 위험을 결합해 가장 수익성 높은 방어 액션을 추천한다.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46920" y="64190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  |  주세창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755648"/>
            <a:ext cx="945489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96112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로직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" y="2359152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42416" y="252374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42416" y="26791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62456" y="2523744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 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17904" y="2724912"/>
            <a:ext cx="539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해지 위험군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40864" y="2642616"/>
            <a:ext cx="182880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651760" y="2359152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98064" y="252374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798064" y="2682893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73552" y="2496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입력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73552" y="2724912"/>
            <a:ext cx="630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사용 여부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87952" y="2642616"/>
            <a:ext cx="182880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498848" y="2359152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45152" y="252374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45152" y="26837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496312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의향 점수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724912"/>
            <a:ext cx="630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1~5점 예측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642616"/>
            <a:ext cx="182880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345936" y="2359152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92240" y="252374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92240" y="26837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67728" y="2496312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추천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2724912"/>
            <a:ext cx="630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광고형·쿠폰·할인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82128" y="2642616"/>
            <a:ext cx="182880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193024" y="2359152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FF6ED"/>
          </a:solidFill>
          <a:ln w="12700">
            <a:solidFill>
              <a:srgbClr val="FFF6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339328" y="252374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339328" y="26837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14816" y="249631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손실/이익 계산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14816" y="2724912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잔존 가치 추정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" y="397764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96112" y="4224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목적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6112" y="4599432"/>
            <a:ext cx="82296" cy="822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042416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민감도가 높은 해지 위험군을 조기에 식별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6112" y="5038344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042416" y="4992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요금제·쿠폰·할인권 중 어떤 액션이 가장 효과적인지 비교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96112" y="5477256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42416" y="54315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유저 이탈 시 예상 손실액과 액션 적용 시 회피 가능한 손실을 동시에 계산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36592" y="397764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974336" y="4224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타깃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56048" y="45537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요금제 이용 의향 점수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970199" y="49560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1점(의향 낮음) ~ 5점(의향 높음)으로 예측하여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“가격 민감 세그먼트”를 타깃팅</a:t>
            </a:r>
            <a:endParaRPr lang="en-US" sz="1070" dirty="0"/>
          </a:p>
        </p:txBody>
      </p:sp>
      <p:sp>
        <p:nvSpPr>
          <p:cNvPr id="51" name="Shape 49"/>
          <p:cNvSpPr/>
          <p:nvPr/>
        </p:nvSpPr>
        <p:spPr>
          <a:xfrm>
            <a:off x="4974336" y="5413248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001768" y="546811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50992" y="5413248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678424" y="546811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할인권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92240" y="54132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F2F1"/>
          </a:solidFill>
          <a:ln w="12700">
            <a:solidFill>
              <a:srgbClr val="FF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6519672" y="546811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전환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138160" y="3977640"/>
            <a:ext cx="3410712" cy="1920240"/>
          </a:xfrm>
          <a:prstGeom prst="roundRect">
            <a:avLst>
              <a:gd name="adj" fmla="val 3810"/>
            </a:avLst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8375904" y="4224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잔존 가치 / 손실 계산 예시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375904" y="4553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손실액 = P(churn) × 월 ARPU × 잔여 개월 수</a:t>
            </a:r>
            <a:endParaRPr lang="en-US" sz="1220" dirty="0"/>
          </a:p>
        </p:txBody>
      </p:sp>
      <p:sp>
        <p:nvSpPr>
          <p:cNvPr id="60" name="Text 58"/>
          <p:cNvSpPr/>
          <p:nvPr/>
        </p:nvSpPr>
        <p:spPr>
          <a:xfrm>
            <a:off x="8375904" y="4892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이익 = (해지 확률 감소분 × ARPU × 잔여 개월 수) - 혜택 비용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8375904" y="528523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“이 유저가 떠나면 얼마 손해인지”, “광고형으로 전환하면 얼마를 지킬 수 있는지”를 실시간으로 제시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출처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54864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46441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 err="1">
                <a:solidFill>
                  <a:srgbClr val="6E6E6E"/>
                </a:solidFill>
              </a:rPr>
              <a:t>기획의도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페이지의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시장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근거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수치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참고용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출처입니다</a:t>
            </a:r>
            <a:r>
              <a:rPr sz="1050" dirty="0">
                <a:solidFill>
                  <a:srgbClr val="6E6E6E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11111"/>
                </a:solidFill>
              </a:rPr>
              <a:t>1. Deloitte, 2025 Digital Media Trends (2025.03.25)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050" dirty="0">
                <a:solidFill>
                  <a:srgbClr val="6E6E6E"/>
                </a:solidFill>
              </a:rPr>
              <a:t> - </a:t>
            </a:r>
            <a:r>
              <a:rPr sz="1050" dirty="0" err="1">
                <a:solidFill>
                  <a:srgbClr val="6E6E6E"/>
                </a:solidFill>
              </a:rPr>
              <a:t>최근</a:t>
            </a:r>
            <a:r>
              <a:rPr sz="1050" dirty="0">
                <a:solidFill>
                  <a:srgbClr val="6E6E6E"/>
                </a:solidFill>
              </a:rPr>
              <a:t> 6개월 내 </a:t>
            </a:r>
            <a:r>
              <a:rPr sz="1050" dirty="0" err="1">
                <a:solidFill>
                  <a:srgbClr val="6E6E6E"/>
                </a:solidFill>
              </a:rPr>
              <a:t>유료</a:t>
            </a:r>
            <a:r>
              <a:rPr sz="1050" dirty="0">
                <a:solidFill>
                  <a:srgbClr val="6E6E6E"/>
                </a:solidFill>
              </a:rPr>
              <a:t> SVOD </a:t>
            </a:r>
            <a:r>
              <a:rPr sz="1050" dirty="0" err="1">
                <a:solidFill>
                  <a:srgbClr val="6E6E6E"/>
                </a:solidFill>
              </a:rPr>
              <a:t>해지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경험</a:t>
            </a:r>
            <a:r>
              <a:rPr sz="1050" dirty="0">
                <a:solidFill>
                  <a:srgbClr val="6E6E6E"/>
                </a:solidFill>
              </a:rPr>
              <a:t> 39% </a:t>
            </a:r>
            <a:r>
              <a:rPr sz="1050" dirty="0" err="1">
                <a:solidFill>
                  <a:srgbClr val="6E6E6E"/>
                </a:solidFill>
              </a:rPr>
              <a:t>관련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조사</a:t>
            </a:r>
            <a:endParaRPr sz="1050" dirty="0">
              <a:solidFill>
                <a:srgbClr val="6E6E6E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11111"/>
                </a:solidFill>
              </a:rPr>
              <a:t>2. Deloitte Press Release, A Competition for Consumer Attention (2025.03.25)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050" dirty="0">
                <a:solidFill>
                  <a:srgbClr val="6E6E6E"/>
                </a:solidFill>
              </a:rPr>
              <a:t> - </a:t>
            </a:r>
            <a:r>
              <a:rPr sz="1050" dirty="0" err="1">
                <a:solidFill>
                  <a:srgbClr val="6E6E6E"/>
                </a:solidFill>
              </a:rPr>
              <a:t>이용자</a:t>
            </a:r>
            <a:r>
              <a:rPr sz="1050" dirty="0">
                <a:solidFill>
                  <a:srgbClr val="6E6E6E"/>
                </a:solidFill>
              </a:rPr>
              <a:t> 47%가 </a:t>
            </a:r>
            <a:r>
              <a:rPr sz="1050" dirty="0" err="1">
                <a:solidFill>
                  <a:srgbClr val="6E6E6E"/>
                </a:solidFill>
              </a:rPr>
              <a:t>스트리밍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서비스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비용이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과도하다고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인식</a:t>
            </a:r>
            <a:r>
              <a:rPr sz="1050" dirty="0">
                <a:solidFill>
                  <a:srgbClr val="6E6E6E"/>
                </a:solidFill>
              </a:rPr>
              <a:t>, 41%가 </a:t>
            </a:r>
            <a:r>
              <a:rPr sz="1050" dirty="0" err="1">
                <a:solidFill>
                  <a:srgbClr val="6E6E6E"/>
                </a:solidFill>
              </a:rPr>
              <a:t>가격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대비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가치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부족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응답</a:t>
            </a:r>
            <a:endParaRPr sz="1050" dirty="0">
              <a:solidFill>
                <a:srgbClr val="6E6E6E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11111"/>
                </a:solidFill>
              </a:rPr>
              <a:t>3. Deloitte Insights, Changing TV-watching mindset (2025.10.26)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050" dirty="0">
                <a:solidFill>
                  <a:srgbClr val="6E6E6E"/>
                </a:solidFill>
              </a:rPr>
              <a:t> - SVOD </a:t>
            </a:r>
            <a:r>
              <a:rPr sz="1050" dirty="0" err="1">
                <a:solidFill>
                  <a:srgbClr val="6E6E6E"/>
                </a:solidFill>
              </a:rPr>
              <a:t>이용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가구</a:t>
            </a:r>
            <a:r>
              <a:rPr sz="1050" dirty="0">
                <a:solidFill>
                  <a:srgbClr val="6E6E6E"/>
                </a:solidFill>
              </a:rPr>
              <a:t> 중 </a:t>
            </a:r>
            <a:r>
              <a:rPr sz="1050" dirty="0" err="1">
                <a:solidFill>
                  <a:srgbClr val="6E6E6E"/>
                </a:solidFill>
              </a:rPr>
              <a:t>최소</a:t>
            </a:r>
            <a:r>
              <a:rPr sz="1050" dirty="0">
                <a:solidFill>
                  <a:srgbClr val="6E6E6E"/>
                </a:solidFill>
              </a:rPr>
              <a:t> 1개 AVOD </a:t>
            </a:r>
            <a:r>
              <a:rPr sz="1050" dirty="0" err="1">
                <a:solidFill>
                  <a:srgbClr val="6E6E6E"/>
                </a:solidFill>
              </a:rPr>
              <a:t>서비스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동시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이용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비중</a:t>
            </a:r>
            <a:r>
              <a:rPr sz="1050" dirty="0">
                <a:solidFill>
                  <a:srgbClr val="6E6E6E"/>
                </a:solidFill>
              </a:rPr>
              <a:t> 66%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11111"/>
                </a:solidFill>
              </a:rPr>
              <a:t>4. Antenna, Q1'26 State of Subscriptions: Premium SVOD 2025 Year in Review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050" dirty="0">
                <a:solidFill>
                  <a:srgbClr val="6E6E6E"/>
                </a:solidFill>
              </a:rPr>
              <a:t> - 2025년 Premium SVOD </a:t>
            </a:r>
            <a:r>
              <a:rPr sz="1050" dirty="0" err="1">
                <a:solidFill>
                  <a:srgbClr val="6E6E6E"/>
                </a:solidFill>
              </a:rPr>
              <a:t>가중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평균</a:t>
            </a:r>
            <a:r>
              <a:rPr sz="1050" dirty="0">
                <a:solidFill>
                  <a:srgbClr val="6E6E6E"/>
                </a:solidFill>
              </a:rPr>
              <a:t> churn rate 4.6%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11111"/>
                </a:solidFill>
              </a:rPr>
              <a:t>5. Reuters, Netflix says ad-supported service has 94 million subscribers (2025.05.14)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050" dirty="0">
                <a:solidFill>
                  <a:srgbClr val="6E6E6E"/>
                </a:solidFill>
              </a:rPr>
              <a:t> - </a:t>
            </a:r>
            <a:r>
              <a:rPr sz="1050" dirty="0" err="1">
                <a:solidFill>
                  <a:srgbClr val="6E6E6E"/>
                </a:solidFill>
              </a:rPr>
              <a:t>넷플릭스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광고형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요금제</a:t>
            </a:r>
            <a:r>
              <a:rPr sz="1050" dirty="0">
                <a:solidFill>
                  <a:srgbClr val="6E6E6E"/>
                </a:solidFill>
              </a:rPr>
              <a:t> MAU 9,400만 명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11111"/>
                </a:solidFill>
              </a:rPr>
              <a:t>6. Netflix, Netflix Upfront 2025: The Center of Attention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050" dirty="0">
                <a:solidFill>
                  <a:srgbClr val="6E6E6E"/>
                </a:solidFill>
              </a:rPr>
              <a:t> - </a:t>
            </a:r>
            <a:r>
              <a:rPr sz="1050" dirty="0" err="1">
                <a:solidFill>
                  <a:srgbClr val="6E6E6E"/>
                </a:solidFill>
              </a:rPr>
              <a:t>광고형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제공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국가에서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신규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가입의</a:t>
            </a:r>
            <a:r>
              <a:rPr sz="1050" dirty="0">
                <a:solidFill>
                  <a:srgbClr val="6E6E6E"/>
                </a:solidFill>
              </a:rPr>
              <a:t> 55%가 </a:t>
            </a:r>
            <a:r>
              <a:rPr sz="1050" dirty="0" err="1">
                <a:solidFill>
                  <a:srgbClr val="6E6E6E"/>
                </a:solidFill>
              </a:rPr>
              <a:t>광고형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요금제</a:t>
            </a:r>
            <a:r>
              <a:rPr sz="1050" dirty="0">
                <a:solidFill>
                  <a:srgbClr val="6E6E6E"/>
                </a:solidFill>
              </a:rPr>
              <a:t> </a:t>
            </a:r>
            <a:r>
              <a:rPr sz="1050" dirty="0" err="1">
                <a:solidFill>
                  <a:srgbClr val="6E6E6E"/>
                </a:solidFill>
              </a:rPr>
              <a:t>선택</a:t>
            </a:r>
            <a:endParaRPr sz="1050" dirty="0">
              <a:solidFill>
                <a:srgbClr val="6E6E6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1008</Words>
  <Application>Microsoft Office PowerPoint</Application>
  <PresentationFormat>와이드스크린</PresentationFormat>
  <Paragraphs>150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 유저 이탈 방지 및 리텐션 최적화를 위한 생성형 AI 서비스</dc:title>
  <dc:subject>OTT 유저 이탈 방지 및 리텐션 최적화를 위한 생성형 AI 서비스</dc:subject>
  <dc:creator>OpenAI</dc:creator>
  <cp:lastModifiedBy>주세창</cp:lastModifiedBy>
  <cp:revision>5</cp:revision>
  <dcterms:created xsi:type="dcterms:W3CDTF">2026-03-18T01:44:44Z</dcterms:created>
  <dcterms:modified xsi:type="dcterms:W3CDTF">2026-03-18T02:50:44Z</dcterms:modified>
</cp:coreProperties>
</file>