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base slide from uploaded presentation: OTT_AI_Service_초안2.pptx (slide 1 render).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Reuters screenshot provided by user based on: 'Netflix-Warner Bros deal could offer viewers relief from subscription fatigue' (Jan 22, 2026).
  URL: https://www.reuters.com/business/finance/netflix-warner-bros-deal-could-offer-viewers-relief-subscription-fatigue-2026-01-21/
- Reuters screenshot provided by user based on: 'Netflix slightly beats revenue estimates, shares slide amid bidding war for Warner Bros' (Jan 21, 2026).
  URL: https://www.reuters.com/business/media-telecom/netflix-beats-revenue-estimates-subscribers-reach-325-million-2026-01-20/
- Reuters screenshot provided by user based on: 'Disney's new CEO Josh D'Amaro steps up for a wild ride' (Mar 18, 2026).
  URL: https://www.reuters.com/sustainability/boards-policy-regulation/disneys-new-ceo-josh-damaro-steps-up-wild-ride-2026-03-18/
- Slide interpretation text authored for the user based on the above screenshots and prior user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structure based on the user's uploaded proposal deck and user instructions about focusing on Function 1 user benefits.
- No external visual assets used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structure based on the user's uploaded proposal deck and user instructions to emphasize Function 1 from the user/operator perspective.
- Terms ARPU and LTV included because the user explicitly discussed them in the chat; these are general business metrics used conceptually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Same Reuters URLs listed on slide.
- User-provided screenshots and uploaded deck used as layout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TT_AI_Service_초안2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27"/>
            <a:ext cx="12191695" cy="6853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6322D"/>
          </a:solidFill>
          <a:ln w="12700">
            <a:solidFill>
              <a:srgbClr val="D632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기획의도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707070"/>
                </a:solidFill>
                <a:latin typeface="맑은 고딕"/>
                <a:ea typeface="맑은 고딕"/>
                <a:cs typeface="맑은 고딕"/>
              </a:rPr>
              <a:t>뉴스에서 확인되는 핵심 흐름은 구독 피로, 수익 구조 다변화, 그리고 시청자 관심 유지 경쟁이다.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337560" cy="47548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a05affde-0e17-4fed-962a-fb5fa6cee3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69" y="1389888"/>
            <a:ext cx="2507862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Subscription fatigue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7512" y="4736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피로 심화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5029200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구독과 비용 부담이 커지면서 신규 유치보다 기존 구독자 유지가 더 중요한 과제로 부상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69080" y="1234440"/>
            <a:ext cx="3337560" cy="47548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/mnt/data/3ea55ce1-40ef-434e-b19f-b8bc60dba3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444" y="1389888"/>
            <a:ext cx="2572833" cy="31272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33672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Ad-supported growth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233672" y="4736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광고·수익 구조 강화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233672" y="5029200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사업은 단순 가입자 수보다 광고형 포함 수익 최적화와 매출 안정성이 함께 중요해지는 흐름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35240" y="1234440"/>
            <a:ext cx="3337560" cy="47548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/mnt/data/aae75e86-50d8-4452-872d-a25fa3c0ae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006" y="1389888"/>
            <a:ext cx="2644029" cy="31272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99832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competition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799832" y="4736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유지 경쟁 확대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99832" y="5029200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OTT는 다른 플랫폼과도 시청 시간과 관심을 두고 경쟁하며 이용 감소 신호를 조기 탐지할 필요가 커짐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22960" y="6080760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101523"/>
          </a:solidFill>
          <a:ln w="12700">
            <a:solidFill>
              <a:srgbClr val="10152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51560" y="6208776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OTT 시장은 “가입자 수 확보”보다 “이탈 징후를 조기에 파악하고, 유지 전략을 빠르게 제시하는 역량”이 중요해지고 있다.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6322D"/>
          </a:solidFill>
          <a:ln w="12700">
            <a:solidFill>
              <a:srgbClr val="D632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: 사용자에게 어떤 기능을 제공하는가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707070"/>
                </a:solidFill>
                <a:latin typeface="맑은 고딕"/>
                <a:ea typeface="맑은 고딕"/>
                <a:cs typeface="맑은 고딕"/>
              </a:rPr>
              <a:t>운영자나 마케터가 “누가 이탈할 가능성이 높은지, 왜 위험한지, 무엇을 먼저 해야 하는지”를 빠르게 파악하도록 돕는 분석 기능이다.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148840" cy="2880360"/>
          </a:xfrm>
          <a:prstGeom prst="roundRect">
            <a:avLst>
              <a:gd name="adj" fmla="val 2128"/>
            </a:avLst>
          </a:prstGeom>
          <a:solidFill>
            <a:srgbClr val="F7F2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90472"/>
            <a:ext cx="384048" cy="384048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276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조회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ID 또는 그룹 단위 검색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개별 유저 검색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22960" y="30815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위험군/요금제별 필터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조회 기간 선택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566160" y="1325880"/>
            <a:ext cx="2148840" cy="2880360"/>
          </a:xfrm>
          <a:prstGeom prst="roundRect">
            <a:avLst>
              <a:gd name="adj" fmla="val 2128"/>
            </a:avLst>
          </a:prstGeom>
          <a:solidFill>
            <a:srgbClr val="EEF5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1490472"/>
            <a:ext cx="384048" cy="384048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6276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730752" y="1984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예측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30752" y="22402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1~3개월 내 이탈 가능성 확인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27706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위험도(%) 산출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749040" y="30815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적정/주의/위험 분류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749040" y="33924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실행 즉시 결과 확인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492240" y="1325880"/>
            <a:ext cx="2148840" cy="2880360"/>
          </a:xfrm>
          <a:prstGeom prst="roundRect">
            <a:avLst>
              <a:gd name="adj" fmla="val 2128"/>
            </a:avLst>
          </a:prstGeom>
          <a:solidFill>
            <a:srgbClr val="FFF4EE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1490472"/>
            <a:ext cx="384048" cy="384048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6276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656832" y="1984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56832" y="22402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이탈에 영향을 준 요인 설명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7706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최근 접속 감소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675120" y="30815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시청 시간 변화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6675120" y="33924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구독 플랜·가격 부담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9418320" y="1325880"/>
            <a:ext cx="2148840" cy="288036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1490472"/>
            <a:ext cx="384048" cy="384048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2912" y="16276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9582912" y="1984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제안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582912" y="22402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액션 우선순위 추천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27706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할인 혜택 검토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9601200" y="30815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광고형 전환 제안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9601200" y="33924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신규 콘텐츠 알림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640080" y="4526280"/>
            <a:ext cx="109728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0429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 기능을 통해 사용자가 얻는 가치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3429000" y="4656582"/>
            <a:ext cx="7753906" cy="973836"/>
          </a:xfrm>
          <a:prstGeom prst="rect">
            <a:avLst/>
          </a:prstGeom>
          <a:noFill/>
          <a:ln/>
        </p:spPr>
        <p:txBody>
          <a:bodyPr wrap="square" lIns="254" tIns="254" rIns="254" bIns="254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• 고위험 유저를 빠르게 식별해 </a:t>
            </a:r>
            <a:r>
              <a:rPr lang="en-US" sz="1300" b="1">
                <a:solidFill>
                  <a:srgbClr val="d6322d"/>
                </a:solidFill>
                <a:latin typeface="맑은 고딕"/>
                <a:ea typeface="맑은 고딕"/>
                <a:cs typeface="맑은 고딕"/>
              </a:rPr>
              <a:t>개입 우선순위</a:t>
            </a: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를 정할 수 있음</a:t>
            </a:r>
            <a:endParaRPr lang="en-US" sz="130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30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• 이탈 원인을 함께 제시해 </a:t>
            </a:r>
            <a:r>
              <a:rPr lang="en-US" sz="1300" b="1">
                <a:solidFill>
                  <a:srgbClr val="d6322d"/>
                </a:solidFill>
                <a:latin typeface="맑은 고딕"/>
                <a:ea typeface="맑은 고딕"/>
                <a:cs typeface="맑은 고딕"/>
              </a:rPr>
              <a:t>설명 가능한 예측</a:t>
            </a: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으로 활용 가능</a:t>
            </a:r>
            <a:endParaRPr lang="en-US" sz="130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30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• 결과를 바탕으로 할인/전환/콘텐츠 추천 등 </a:t>
            </a:r>
            <a:r>
              <a:rPr lang="en-US" sz="1300" b="1">
                <a:solidFill>
                  <a:srgbClr val="d6322d"/>
                </a:solidFill>
                <a:latin typeface="맑은 고딕"/>
                <a:ea typeface="맑은 고딕"/>
                <a:cs typeface="맑은 고딕"/>
              </a:rPr>
              <a:t>실행 가능한 대응</a:t>
            </a:r>
            <a:r>
              <a:rPr lang="en-US" sz="13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까지 바로 연결 가능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6322D"/>
          </a:solidFill>
          <a:ln w="12700">
            <a:solidFill>
              <a:srgbClr val="D632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: 사용 흐름과 최종 산출물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입력변수를 사용자가 하나씩 직접 넣기보다, 저장된 시청 로그·결제 패턴을 기반으로 자동 분석하고 결과를 직관적으로 제공하는 방식으로 설계한다.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221992"/>
            <a:ext cx="0" cy="475488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13232" y="1783080"/>
            <a:ext cx="438912" cy="438912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385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325880" y="1801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선택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39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ID 검색 또는 특정 그룹 선택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14400" y="3163824"/>
            <a:ext cx="0" cy="475488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13232" y="2724912"/>
            <a:ext cx="438912" cy="438912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803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325880" y="27432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실행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9809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로그/결제 데이터를 기반으로 위험도 산출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4105656"/>
            <a:ext cx="0" cy="475488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13232" y="3666744"/>
            <a:ext cx="438912" cy="438912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80390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325880" y="3685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922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%, 위험군, 주요 이탈 원인 즉시 표시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3232" y="4608576"/>
            <a:ext cx="438912" cy="438912"/>
          </a:xfrm>
          <a:prstGeom prst="ellipse">
            <a:avLst/>
          </a:prstGeom>
          <a:solidFill>
            <a:srgbClr val="D6322D"/>
          </a:solidFill>
          <a:ln w="12700">
            <a:solidFill>
              <a:srgbClr val="D63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7640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1325880" y="46268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판단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864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먼저 개입 대상인지 우선순위 결정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023360" y="1325880"/>
            <a:ext cx="356616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5727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3400" y="2002536"/>
            <a:ext cx="2651760" cy="1005840"/>
          </a:xfrm>
          <a:prstGeom prst="rect">
            <a:avLst/>
          </a:prstGeom>
          <a:noFill/>
          <a:ln/>
        </p:spPr>
        <p:txBody>
          <a:bodyPr wrap="square" lIns="254" tIns="254" rIns="254" bIns="254" anchor="ctr"/>
          <a:lstStyle/>
          <a:p>
            <a:pPr marL="0" indent="0">
              <a:buNone/>
              <a:defRPr/>
            </a:pPr>
            <a:r>
              <a:rPr lang="en-US" sz="113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• 해지 위험도(%)</a:t>
            </a: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13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• 위험군 분류(적정 / 주의 / 위험)</a:t>
            </a: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13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• 주요 이탈 원인 Top 3</a:t>
            </a: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13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13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• 개입 우선 대상 리스트</a:t>
            </a:r>
            <a:endParaRPr lang="en-US" sz="1130"/>
          </a:p>
        </p:txBody>
      </p:sp>
      <p:sp>
        <p:nvSpPr>
          <p:cNvPr id="29" name="Shape 27"/>
          <p:cNvSpPr/>
          <p:nvPr/>
        </p:nvSpPr>
        <p:spPr>
          <a:xfrm>
            <a:off x="7818120" y="1325880"/>
            <a:ext cx="3703320" cy="1920240"/>
          </a:xfrm>
          <a:prstGeom prst="roundRect">
            <a:avLst>
              <a:gd name="adj" fmla="val 2381"/>
            </a:avLst>
          </a:prstGeom>
          <a:solidFill>
            <a:srgbClr val="FDECEC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5727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예시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92440" y="1993392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anchor="ctr"/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유저 A  |  위험도 78%  |  위험군 : 위험</a:t>
            </a:r>
            <a:endParaRPr lang="en-US" sz="112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12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12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원인 : 최근 접속 감소 / 시청 시간 감소 / 가격 부담</a:t>
            </a:r>
            <a:endParaRPr lang="en-US" sz="112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120">
              <a:solidFill>
                <a:srgbClr val="4a4a4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12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추천 : 광고형 전환 제안 + 할인 혜택 검토</a:t>
            </a:r>
            <a:endParaRPr lang="en-US" sz="1120"/>
          </a:p>
        </p:txBody>
      </p:sp>
      <p:sp>
        <p:nvSpPr>
          <p:cNvPr id="32" name="Shape 30"/>
          <p:cNvSpPr/>
          <p:nvPr/>
        </p:nvSpPr>
        <p:spPr>
          <a:xfrm>
            <a:off x="4023360" y="3611880"/>
            <a:ext cx="7498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기능이 중요한 이유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43400" y="4224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  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486400" y="4224528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누가 먼저 위험한지 빠르게 파악하여 CRM·마케팅 개입 타이밍을 앞당길 수 있음</a:t>
            </a:r>
            <a:endParaRPr lang="en-US" sz="1080"/>
          </a:p>
        </p:txBody>
      </p:sp>
      <p:sp>
        <p:nvSpPr>
          <p:cNvPr id="36" name="Text 34"/>
          <p:cNvSpPr/>
          <p:nvPr/>
        </p:nvSpPr>
        <p:spPr>
          <a:xfrm>
            <a:off x="4343400" y="460857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관점  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486400" y="4608576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결과만 보여주는 것이 아니라 원인을 함께 제시해 모델 해석성과 활용도를 높임</a:t>
            </a:r>
            <a:endParaRPr lang="en-US" sz="1080"/>
          </a:p>
        </p:txBody>
      </p:sp>
      <p:sp>
        <p:nvSpPr>
          <p:cNvPr id="38" name="Text 36"/>
          <p:cNvSpPr/>
          <p:nvPr/>
        </p:nvSpPr>
        <p:spPr>
          <a:xfrm>
            <a:off x="4343400" y="49926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 b="1">
                <a:solidFill>
                  <a:srgbClr val="d6322d"/>
                </a:solidFill>
                <a:latin typeface="맑은 고딕"/>
                <a:ea typeface="맑은 고딕"/>
                <a:cs typeface="맑은 고딕"/>
              </a:rPr>
              <a:t>비즈니스 관점  </a:t>
            </a:r>
            <a:endParaRPr lang="en-US" sz="1080"/>
          </a:p>
        </p:txBody>
      </p:sp>
      <p:sp>
        <p:nvSpPr>
          <p:cNvPr id="39" name="Text 37"/>
          <p:cNvSpPr/>
          <p:nvPr/>
        </p:nvSpPr>
        <p:spPr>
          <a:xfrm>
            <a:off x="5486400" y="5001768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해지 방어를 통해 월 ARPU와 장기 LTV를 지키는 실질적 의사결정에 활용 가능</a:t>
            </a:r>
            <a:endParaRPr lang="en-US" sz="108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6322D"/>
          </a:solidFill>
          <a:ln w="12700">
            <a:solidFill>
              <a:srgbClr val="D632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기획의도 뉴스 스크랩과 기능 설명 작성에 참고한 자료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72800" cy="4983480"/>
          </a:xfrm>
          <a:prstGeom prst="roundRect">
            <a:avLst>
              <a:gd name="adj" fmla="val 55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241280" cy="4023360"/>
          </a:xfrm>
          <a:prstGeom prst="rect">
            <a:avLst/>
          </a:prstGeom>
          <a:noFill/>
          <a:ln/>
        </p:spPr>
        <p:txBody>
          <a:bodyPr wrap="square" lIns="381" tIns="381" rIns="381" bIns="381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1. Reuters, “Netflix-Warner Bros deal could offer viewers relief from subscription fatigue” (2026.01.22)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 https://www.reuters.com/business/finance/netflix-warner-bros-deal-could-offer-viewers-relief-subscription-fatigue-2026-01-21/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2. Reuters, “Netflix slightly beats revenue estimates, shares slide amid bidding war for Warner Bros” (2026.01.21)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 https://www.reuters.com/business/media-telecom/netflix-beats-revenue-estimates-subscribers-reach-325-million-2026-01-20/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3. Reuters, “Disney's new CEO Josh D'Amaro steps up for a wild ride” (2026.03.18)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 https://www.reuters.com/sustainability/boards-policy-regulation/disneys-new-ceo-josh-damaro-steps-up-wild-ride-2026-03-18/</a:t>
            </a: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20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buNone/>
              <a:defRPr/>
            </a:pP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OpenAI</ep:Company>
  <ep:Words>446</ep:Words>
  <ep:PresentationFormat>On-screen Show (16:9)</ep:PresentationFormat>
  <ep:Paragraphs>92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2026-03-22T14:48:31.000</dcterms:created>
  <dc:creator>OpenAI</dc:creator>
  <cp:lastModifiedBy>jusec</cp:lastModifiedBy>
  <dcterms:modified xsi:type="dcterms:W3CDTF">2026-03-22T14:55:48.924</dcterms:modified>
  <cp:revision>6</cp:revision>
  <dc:subject>OTT churn proposal revised</dc:subject>
  <dc:title>OTT 유저 이탈 방지 및 리텐션 최적화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